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0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Lst>
  <p:sldSz cx="9144000" cy="5143500" type="screen16x9"/>
  <p:notesSz cx="6858000" cy="9144000"/>
  <p:embeddedFontLst>
    <p:embeddedFont>
      <p:font typeface="Lato" charset="0"/>
      <p:regular r:id="rId108"/>
      <p:bold r:id="rId109"/>
      <p:italic r:id="rId110"/>
      <p:boldItalic r:id="rId111"/>
    </p:embeddedFont>
    <p:embeddedFont>
      <p:font typeface="Helvetica Neue" charset="0"/>
      <p:regular r:id="rId112"/>
      <p:bold r:id="rId113"/>
      <p:italic r:id="rId114"/>
      <p:boldItalic r:id="rId115"/>
    </p:embeddedFont>
    <p:embeddedFont>
      <p:font typeface="Anton" charset="0"/>
      <p:regular r:id="rId116"/>
    </p:embeddedFont>
    <p:embeddedFont>
      <p:font typeface="Didact Gothic" charset="0"/>
      <p:regular r:id="rId117"/>
    </p:embeddedFont>
    <p:embeddedFont>
      <p:font typeface="Consolas" pitchFamily="49" charset="0"/>
      <p:regular r:id="rId118"/>
      <p:bold r:id="rId119"/>
      <p:italic r:id="rId120"/>
      <p:boldItalic r:id="rId121"/>
    </p:embeddedFont>
    <p:embeddedFont>
      <p:font typeface="Helvetica Neue Light" charset="0"/>
      <p:regular r:id="rId122"/>
      <p:bold r:id="rId123"/>
      <p:italic r:id="rId124"/>
      <p:boldItalic r:id="rId1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B16850B3-2374-45B4-9FE3-4A422C0ACE20}">
  <a:tblStyle styleId="{B16850B3-2374-45B4-9FE3-4A422C0ACE2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CF4F18A-EF1C-43F8-B6D9-6A3DD1FAA965}" styleName="Table_1">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5DF0AC2-A3B4-41DC-B7AA-F0F7B89356A6}" styleName="Table_2">
    <a:wholeTbl>
      <a:tcTxStyle b="off" i="off">
        <a:font>
          <a:latin typeface="Arial"/>
          <a:ea typeface="Arial"/>
          <a:cs typeface="Arial"/>
        </a:font>
        <a:srgbClr val="000000"/>
      </a:tcTxStyle>
      <a:tcStyle>
        <a:tcBdr>
          <a:left>
            <a:ln w="9525" cap="flat" cmpd="sng">
              <a:solidFill>
                <a:srgbClr val="FFFFFF"/>
              </a:solidFill>
              <a:prstDash val="solid"/>
              <a:round/>
              <a:headEnd type="none" w="sm" len="sm"/>
              <a:tailEnd type="none" w="sm" len="sm"/>
            </a:ln>
          </a:left>
          <a:right>
            <a:ln w="9525" cap="flat" cmpd="sng">
              <a:solidFill>
                <a:srgbClr val="FFFFFF"/>
              </a:solidFill>
              <a:prstDash val="solid"/>
              <a:round/>
              <a:headEnd type="none" w="sm" len="sm"/>
              <a:tailEnd type="none" w="sm" len="sm"/>
            </a:ln>
          </a:right>
          <a:top>
            <a:ln w="9525" cap="flat" cmpd="sng">
              <a:solidFill>
                <a:srgbClr val="FFFFFF"/>
              </a:solidFill>
              <a:prstDash val="solid"/>
              <a:round/>
              <a:headEnd type="none" w="sm" len="sm"/>
              <a:tailEnd type="none" w="sm" len="sm"/>
            </a:ln>
          </a:top>
          <a:bottom>
            <a:ln w="9525" cap="flat" cmpd="sng">
              <a:solidFill>
                <a:srgbClr val="FFFFFF"/>
              </a:solidFill>
              <a:prstDash val="solid"/>
              <a:round/>
              <a:headEnd type="none" w="sm" len="sm"/>
              <a:tailEnd type="none" w="sm" len="sm"/>
            </a:ln>
          </a:bottom>
          <a:insideH>
            <a:ln w="9525" cap="flat" cmpd="sng">
              <a:solidFill>
                <a:srgbClr val="FFFFFF"/>
              </a:solidFill>
              <a:prstDash val="solid"/>
              <a:round/>
              <a:headEnd type="none" w="sm" len="sm"/>
              <a:tailEnd type="none" w="sm" len="sm"/>
            </a:ln>
          </a:insideH>
          <a:insideV>
            <a:ln w="9525" cap="flat" cmpd="sng">
              <a:solidFill>
                <a:srgbClr val="FFFFFF"/>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2" d="100"/>
          <a:sy n="102" d="100"/>
        </p:scale>
        <p:origin x="-456" y="-1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10.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5.fntdata"/><Relationship Id="rId16" Type="http://schemas.openxmlformats.org/officeDocument/2006/relationships/slide" Target="slides/slide14.xml"/><Relationship Id="rId107" Type="http://schemas.openxmlformats.org/officeDocument/2006/relationships/notesMaster" Target="notesMasters/notes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16.fntdata"/><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font" Target="fonts/font6.fntdata"/><Relationship Id="rId118" Type="http://schemas.openxmlformats.org/officeDocument/2006/relationships/font" Target="fonts/font11.fntdata"/><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1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font" Target="fonts/font1.fntdata"/><Relationship Id="rId116" Type="http://schemas.openxmlformats.org/officeDocument/2006/relationships/font" Target="fonts/font9.fntdata"/><Relationship Id="rId124" Type="http://schemas.openxmlformats.org/officeDocument/2006/relationships/font" Target="fonts/font17.fntdata"/><Relationship Id="rId12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font" Target="fonts/font7.fntdata"/><Relationship Id="rId119" Type="http://schemas.openxmlformats.org/officeDocument/2006/relationships/font" Target="fonts/font12.fntdata"/><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2.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13.fntdata"/><Relationship Id="rId125" Type="http://schemas.openxmlformats.org/officeDocument/2006/relationships/font" Target="fonts/font18.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3.fntdata"/><Relationship Id="rId115" Type="http://schemas.openxmlformats.org/officeDocument/2006/relationships/font" Target="fonts/font8.fntdata"/><Relationship Id="rId61" Type="http://schemas.openxmlformats.org/officeDocument/2006/relationships/slide" Target="slides/slide59.xml"/><Relationship Id="rId82"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2011804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Colocar todas las clases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cf77ad3a8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cf77ad3a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Profe: Acordate de compartir esta presentación al equipo de tu camada luego de la reunión, por si quieren tener a mano los primeros links de referencia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a:solidFill>
                  <a:schemeClr val="dk1"/>
                </a:solidFill>
              </a:rPr>
              <a:t>Obligatoria siempre.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Obligatoria siempre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Obligatoria siempre. Es lo que queremos alcanzar una vez finalizada la clase. Recordá que se enuncian en principio con el verbo delante (por ejemplo: “Comprender…”, “Analizar…”, “conocer…”, 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Se puede usar para comenzar o finalizar la clase, según sea más conveniente. La información de este slide es de relleno.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b="1"/>
              <a:t>Recurso: Mapa de conceptos</a:t>
            </a:r>
            <a:endParaRPr b="1"/>
          </a:p>
          <a:p>
            <a:pPr marL="0" lvl="0" indent="0" algn="l" rtl="0">
              <a:lnSpc>
                <a:spcPct val="100000"/>
              </a:lnSpc>
              <a:spcBef>
                <a:spcPts val="0"/>
              </a:spcBef>
              <a:spcAft>
                <a:spcPts val="0"/>
              </a:spcAft>
              <a:buSzPts val="1100"/>
              <a:buNone/>
            </a:pPr>
            <a:r>
              <a:rPr lang="en-GB"/>
              <a:t>Muestra rápidamente los contenidos de la clase y cómo se relacionan. Ayuda a los estudiantes a evitar “perderse” durante la clase, al avanzar en un sentido lineal una diapositiva tras otra. El ejemplo pertenece a la primera clase del curso UX/UI.</a:t>
            </a:r>
            <a:endParaRPr/>
          </a:p>
          <a:p>
            <a:pPr marL="0" lvl="0" indent="0" algn="l" rtl="0">
              <a:lnSpc>
                <a:spcPct val="100000"/>
              </a:lnSpc>
              <a:spcBef>
                <a:spcPts val="0"/>
              </a:spcBef>
              <a:spcAft>
                <a:spcPts val="0"/>
              </a:spcAft>
              <a:buSzPts val="1100"/>
              <a:buNone/>
            </a:pPr>
            <a:r>
              <a:rPr lang="en-GB" b="1"/>
              <a:t>Sugerencia</a:t>
            </a:r>
            <a:r>
              <a:rPr lang="en-GB"/>
              <a:t>: </a:t>
            </a:r>
            <a:br>
              <a:rPr lang="en-GB"/>
            </a:br>
            <a:r>
              <a:rPr lang="en-GB"/>
              <a:t>-También se pueden mostrar con un menor énfasis o colores apagados, aquellos contenidos de clases anteriores y que se vinculen con la actual. </a:t>
            </a:r>
            <a:endParaRPr/>
          </a:p>
          <a:p>
            <a:pPr marL="0" lvl="0" indent="0" algn="l" rtl="0">
              <a:lnSpc>
                <a:spcPct val="100000"/>
              </a:lnSpc>
              <a:spcBef>
                <a:spcPts val="0"/>
              </a:spcBef>
              <a:spcAft>
                <a:spcPts val="0"/>
              </a:spcAft>
              <a:buSzPts val="1100"/>
              <a:buNone/>
            </a:pPr>
            <a:r>
              <a:rPr lang="en-GB"/>
              <a:t>-Resaltar con color los temas que se abordan en la clase.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b="1"/>
              <a:t>Recurso: Cronograma del curso</a:t>
            </a:r>
            <a:r>
              <a:rPr lang="en-GB"/>
              <a:t/>
            </a:r>
            <a:br>
              <a:rPr lang="en-GB"/>
            </a:br>
            <a:r>
              <a:rPr lang="en-GB"/>
              <a:t>- Se muestra al</a:t>
            </a:r>
            <a:r>
              <a:rPr lang="en-GB" b="1"/>
              <a:t> inicio</a:t>
            </a:r>
            <a:r>
              <a:rPr lang="en-GB"/>
              <a:t> de cada clase </a:t>
            </a:r>
            <a:endParaRPr/>
          </a:p>
          <a:p>
            <a:pPr marL="0" lvl="0" indent="0" algn="l" rtl="0">
              <a:lnSpc>
                <a:spcPct val="100000"/>
              </a:lnSpc>
              <a:spcBef>
                <a:spcPts val="0"/>
              </a:spcBef>
              <a:spcAft>
                <a:spcPts val="0"/>
              </a:spcAft>
              <a:buSzPts val="1100"/>
              <a:buNone/>
            </a:pPr>
            <a:r>
              <a:rPr lang="en-GB"/>
              <a:t>- Tiene un aspecto similar a un </a:t>
            </a:r>
            <a:r>
              <a:rPr lang="en-GB" b="1"/>
              <a:t>calendario.</a:t>
            </a:r>
            <a:r>
              <a:rPr lang="en-GB"/>
              <a:t/>
            </a:r>
            <a:br>
              <a:rPr lang="en-GB"/>
            </a:br>
            <a:r>
              <a:rPr lang="en-GB"/>
              <a:t>- Resume rápidamente: título de la clase, número y contenidos que abarca</a:t>
            </a:r>
            <a:endParaRPr/>
          </a:p>
          <a:p>
            <a:pPr marL="0" lvl="0" indent="0" algn="l" rtl="0">
              <a:lnSpc>
                <a:spcPct val="100000"/>
              </a:lnSpc>
              <a:spcBef>
                <a:spcPts val="0"/>
              </a:spcBef>
              <a:spcAft>
                <a:spcPts val="0"/>
              </a:spcAft>
              <a:buSzPts val="1100"/>
              <a:buNone/>
            </a:pPr>
            <a:r>
              <a:rPr lang="en-GB"/>
              <a:t>- Guía rápida tanto para docentes, como para estudiantes.</a:t>
            </a:r>
            <a:br>
              <a:rPr lang="en-GB"/>
            </a:br>
            <a:r>
              <a:rPr lang="en-GB"/>
              <a:t>- Para mayor ubicación en el curso, también muestra en un tamaño más pequeño lo sucedido la clase anterior y la siguiente.</a:t>
            </a:r>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-Ubicar en el interior de cada clase aquellas cuestiones destacadas con las cuales se encontrará el alumno y con su respectivo nombre:</a:t>
            </a:r>
            <a:r>
              <a:rPr lang="en-GB" b="1">
                <a:solidFill>
                  <a:schemeClr val="dk1"/>
                </a:solidFill>
              </a:rPr>
              <a:t> desafíos, entregables de proyecto, actividades colaborativas o  ejemplos en vivo.</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Entrevistas Modalidad online</a:t>
            </a: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Duración estimada: </a:t>
            </a:r>
            <a:r>
              <a:rPr lang="en-GB" sz="1400">
                <a:solidFill>
                  <a:schemeClr val="dk1"/>
                </a:solidFill>
                <a:latin typeface="Helvetica Neue"/>
                <a:ea typeface="Helvetica Neue"/>
                <a:cs typeface="Helvetica Neue"/>
                <a:sym typeface="Helvetica Neue"/>
              </a:rPr>
              <a:t>15 MINUTOS PARA CREAR EL CUESTIONARIO Y 1 HORA PARA REALIZAR LAS ENTREVISTAS</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Espacio: </a:t>
            </a:r>
            <a:r>
              <a:rPr lang="en-GB" sz="1400">
                <a:solidFill>
                  <a:schemeClr val="dk1"/>
                </a:solidFill>
                <a:latin typeface="Helvetica Neue"/>
                <a:ea typeface="Helvetica Neue"/>
                <a:cs typeface="Helvetica Neue"/>
                <a:sym typeface="Helvetica Neue"/>
              </a:rPr>
              <a:t>Breakout Rooms</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Consigna: </a:t>
            </a:r>
            <a:r>
              <a:rPr lang="en-GB" sz="1400">
                <a:solidFill>
                  <a:schemeClr val="dk1"/>
                </a:solidFill>
                <a:latin typeface="Helvetica Neue"/>
                <a:ea typeface="Helvetica Neue"/>
                <a:cs typeface="Helvetica Neue"/>
                <a:sym typeface="Helvetica Neue"/>
              </a:rPr>
              <a:t>Cada estudiantes irá a la sala con su tutor y tendrán 5 minutos para realizar la entrevista. Respetar el tiempo para qué todos puedan participar. La idea es practicar la dinámica. Al final de la dinámica hacer un cierre de aciertos y problemas generales qué haya observado. Respetar los tiempos para que todos puedan participar.</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NOTA: </a:t>
            </a:r>
            <a:r>
              <a:rPr lang="en-GB" sz="1400">
                <a:solidFill>
                  <a:schemeClr val="dk1"/>
                </a:solidFill>
                <a:latin typeface="Helvetica Neue"/>
                <a:ea typeface="Helvetica Neue"/>
                <a:cs typeface="Helvetica Neue"/>
                <a:sym typeface="Helvetica Neue"/>
              </a:rPr>
              <a:t>El tutor guiará la actividad e intervendrá de ser necesario durante la entrevista. Pueden usar el “Documento Guía” que se encuentra en la carpeta de la clase para guiar la entrevista.</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¿Cómo llevar adelante la actividad?</a:t>
            </a: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1: </a:t>
            </a:r>
            <a:r>
              <a:rPr lang="en-GB" sz="1400">
                <a:solidFill>
                  <a:schemeClr val="dk1"/>
                </a:solidFill>
                <a:latin typeface="Helvetica Neue"/>
                <a:ea typeface="Helvetica Neue"/>
                <a:cs typeface="Helvetica Neue"/>
                <a:sym typeface="Helvetica Neue"/>
              </a:rPr>
              <a:t>Dar la consiga y pactar el tiempo que durará la actividad.</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2: </a:t>
            </a:r>
            <a:r>
              <a:rPr lang="en-GB" sz="1400">
                <a:solidFill>
                  <a:schemeClr val="dk1"/>
                </a:solidFill>
                <a:latin typeface="Helvetica Neue"/>
                <a:ea typeface="Helvetica Neue"/>
                <a:cs typeface="Helvetica Neue"/>
                <a:sym typeface="Helvetica Neue"/>
              </a:rPr>
              <a:t>Cada alumno tendrá un total de 15 minutos para pensar las preguntas a realizar. Tener presente generar preguntas que inviten a empatizar con los usuarios y así obtener respuesta de valor. Más preguntas abiertas y menos preguntas cerradas. En este punto se puede ayudar de la guía entregada.</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3:</a:t>
            </a:r>
            <a:r>
              <a:rPr lang="en-GB" sz="1400">
                <a:solidFill>
                  <a:schemeClr val="dk1"/>
                </a:solidFill>
                <a:latin typeface="Helvetica Neue"/>
                <a:ea typeface="Helvetica Neue"/>
                <a:cs typeface="Helvetica Neue"/>
                <a:sym typeface="Helvetica Neue"/>
              </a:rPr>
              <a:t> Ir a los breakouts room. En este punto, para una mejor organización, solicitar a los alumnos que se coloquen en el nombre la inicial de su tutor (ej: si el nombre del tutor es Lucas deberá colocarse (L). En caso de repetirse nombres usar la siguiente letra también.</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3: </a:t>
            </a:r>
            <a:r>
              <a:rPr lang="en-GB" sz="1400">
                <a:solidFill>
                  <a:schemeClr val="dk1"/>
                </a:solidFill>
                <a:latin typeface="Helvetica Neue"/>
                <a:ea typeface="Helvetica Neue"/>
                <a:cs typeface="Helvetica Neue"/>
                <a:sym typeface="Helvetica Neue"/>
              </a:rPr>
              <a:t>Cada grupo, guiado por el tutor, comenzará la actividad. Cada estudiante tendrá entre 4 y 5 minutos para ser moderador o usuario. El moderador preguntará sin condicionar ni comprometer al usuario, obteniendo respuestas a las preguntas solicitadas. El docente/tutor será el encargado de corregir si el entrevistador/moderador está condicionando o no sirven (dentro del contexto) las preguntas realizadas. En ese tiempo los demás deben tomar nota de aquellos aspectos que se pueden mejorar del entrevistador o del cuestionario en función de las buenas prácticas vistas en clase.</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4: </a:t>
            </a:r>
            <a:r>
              <a:rPr lang="en-GB" sz="1400">
                <a:solidFill>
                  <a:schemeClr val="dk1"/>
                </a:solidFill>
                <a:latin typeface="Helvetica Neue"/>
                <a:ea typeface="Helvetica Neue"/>
                <a:cs typeface="Helvetica Neue"/>
                <a:sym typeface="Helvetica Neue"/>
              </a:rPr>
              <a:t>Al final de la dinámica hacer un cierre de aciertos y problemas generales qué haya observado. </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5: </a:t>
            </a:r>
            <a:r>
              <a:rPr lang="en-GB" sz="1400">
                <a:solidFill>
                  <a:schemeClr val="dk1"/>
                </a:solidFill>
                <a:latin typeface="Helvetica Neue"/>
                <a:ea typeface="Helvetica Neue"/>
                <a:cs typeface="Helvetica Neue"/>
                <a:sym typeface="Helvetica Neue"/>
              </a:rPr>
              <a:t>Finalizada esta primera parte se volverá al Zoom General.</a:t>
            </a:r>
            <a:endParaRPr sz="1400">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Clr>
                <a:schemeClr val="dk1"/>
              </a:buClr>
              <a:buSzPts val="1100"/>
              <a:buFont typeface="Arial"/>
              <a:buNone/>
            </a:pPr>
            <a:r>
              <a:rPr lang="en-GB" sz="1400" b="1">
                <a:solidFill>
                  <a:schemeClr val="dk1"/>
                </a:solidFill>
                <a:latin typeface="Helvetica Neue"/>
                <a:ea typeface="Helvetica Neue"/>
                <a:cs typeface="Helvetica Neue"/>
                <a:sym typeface="Helvetica Neue"/>
              </a:rPr>
              <a:t>Paso 6: </a:t>
            </a:r>
            <a:r>
              <a:rPr lang="en-GB" sz="1400">
                <a:solidFill>
                  <a:schemeClr val="dk1"/>
                </a:solidFill>
                <a:latin typeface="Helvetica Neue"/>
                <a:ea typeface="Helvetica Neue"/>
                <a:cs typeface="Helvetica Neue"/>
                <a:sym typeface="Helvetica Neue"/>
              </a:rPr>
              <a:t>El docente hará una cierre de la actividad. </a:t>
            </a:r>
            <a:endParaRPr sz="1400" b="1">
              <a:solidFill>
                <a:schemeClr val="dk1"/>
              </a:solidFill>
              <a:latin typeface="Helvetica Neue"/>
              <a:ea typeface="Helvetica Neue"/>
              <a:cs typeface="Helvetica Neue"/>
              <a:sym typeface="Helvetica Neue"/>
            </a:endParaRPr>
          </a:p>
          <a:p>
            <a:pPr marL="0" lvl="0" indent="0" algn="l" rtl="0">
              <a:lnSpc>
                <a:spcPct val="100000"/>
              </a:lnSpc>
              <a:spcBef>
                <a:spcPts val="0"/>
              </a:spcBef>
              <a:spcAft>
                <a:spcPts val="0"/>
              </a:spcAft>
              <a:buSzPts val="1100"/>
              <a:buNone/>
            </a:pPr>
            <a:endParaRPr sz="1400" b="1">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módulos más importantes de la clase, donde se introducen conceptos que se ven en varios slides. No hay que usarla para todos los módulos.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slides de sólo texto. Si no alcanza, no sobrecargar, usar otra con el mismo título para indicar que continúa el mismo módulo.</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latin typeface="Didact Gothic"/>
                <a:ea typeface="Didact Gothic"/>
                <a:cs typeface="Didact Gothic"/>
                <a:sym typeface="Didact Gothic"/>
              </a:rPr>
              <a:t>Grid CSS surge de la necesidad, y toma las ventajas de ese sistema, sumandole muchas mejoras y características que permiten crear muy rápido cuadrículas sencillas y potentes.</a:t>
            </a:r>
            <a:endParaRPr sz="1200">
              <a:solidFill>
                <a:schemeClr val="dk1"/>
              </a:solidFill>
              <a:latin typeface="Didact Gothic"/>
              <a:ea typeface="Didact Gothic"/>
              <a:cs typeface="Didact Gothic"/>
              <a:sym typeface="Didact Gothic"/>
            </a:endParaRPr>
          </a:p>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latin typeface="Didact Gothic"/>
                <a:ea typeface="Didact Gothic"/>
                <a:cs typeface="Didact Gothic"/>
                <a:sym typeface="Didact Gothic"/>
              </a:rPr>
              <a:t>Grid CSS surge de la necesidad, y toma las ventajas de ese sistema, sumandole muchas mejoras y características que permiten crear muy rápido cuadrículas sencillas y potentes.</a:t>
            </a:r>
            <a:endParaRPr sz="1200">
              <a:solidFill>
                <a:schemeClr val="dk1"/>
              </a:solidFill>
              <a:latin typeface="Didact Gothic"/>
              <a:ea typeface="Didact Gothic"/>
              <a:cs typeface="Didact Gothic"/>
              <a:sym typeface="Didact Gothic"/>
            </a:endParaRPr>
          </a:p>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latin typeface="Didact Gothic"/>
              <a:ea typeface="Didact Gothic"/>
              <a:cs typeface="Didact Gothic"/>
              <a:sym typeface="Didact Gothic"/>
            </a:endParaRPr>
          </a:p>
          <a:p>
            <a:pPr marL="0" lvl="0" indent="0" algn="just" rtl="0">
              <a:lnSpc>
                <a:spcPct val="115000"/>
              </a:lnSpc>
              <a:spcBef>
                <a:spcPts val="0"/>
              </a:spcBef>
              <a:spcAft>
                <a:spcPts val="0"/>
              </a:spcAft>
              <a:buClr>
                <a:schemeClr val="dk1"/>
              </a:buClr>
              <a:buSzPts val="1100"/>
              <a:buFont typeface="Arial"/>
              <a:buNone/>
            </a:pPr>
            <a:endParaRPr sz="1200">
              <a:solidFill>
                <a:schemeClr val="dk1"/>
              </a:solidFill>
              <a:latin typeface="Didact Gothic"/>
              <a:ea typeface="Didact Gothic"/>
              <a:cs typeface="Didact Gothic"/>
              <a:sym typeface="Didact Gothic"/>
            </a:endParaRPr>
          </a:p>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 name="Google Shape;35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GB" sz="1200">
                <a:solidFill>
                  <a:schemeClr val="dk1"/>
                </a:solidFill>
                <a:latin typeface="Didact Gothic"/>
                <a:ea typeface="Didact Gothic"/>
                <a:cs typeface="Didact Gothic"/>
                <a:sym typeface="Didact Gothic"/>
              </a:rPr>
              <a:t>Hemos utilizado el pixel como unidades de las celdas de la cuadrícula, sin embargo, también </a:t>
            </a:r>
            <a:r>
              <a:rPr lang="en-GB" sz="1200" b="1">
                <a:solidFill>
                  <a:schemeClr val="dk1"/>
                </a:solidFill>
                <a:latin typeface="Didact Gothic"/>
                <a:ea typeface="Didact Gothic"/>
                <a:cs typeface="Didact Gothic"/>
                <a:sym typeface="Didact Gothic"/>
              </a:rPr>
              <a:t>podemos utilizar otras unidades y combinarlas,</a:t>
            </a:r>
            <a:r>
              <a:rPr lang="en-GB" sz="1200">
                <a:solidFill>
                  <a:schemeClr val="dk1"/>
                </a:solidFill>
                <a:latin typeface="Didact Gothic"/>
                <a:ea typeface="Didact Gothic"/>
                <a:cs typeface="Didact Gothic"/>
                <a:sym typeface="Didact Gothic"/>
              </a:rPr>
              <a:t> como porcentajes, la palabra clave auto (que obtiene el tamaño restante) o la unidad especial fr (fraction), que simboliza una fracción de espacio restante en el grid. </a:t>
            </a:r>
            <a:endParaRPr>
              <a:solidFill>
                <a:schemeClr val="dk1"/>
              </a:solidFill>
              <a:latin typeface="Didact Gothic"/>
              <a:ea typeface="Didact Gothic"/>
              <a:cs typeface="Didact Gothic"/>
              <a:sym typeface="Didact Gothic"/>
            </a:endParaRPr>
          </a:p>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5" name="Google Shape;415;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 name="Google Shape;424;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2" name="Google Shape;442;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9" name="Google Shape;449;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2" name="Google Shape;50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0" name="Google Shape;510;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8" name="Google Shape;518;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cf77ad3a8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cf77ad3a8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solidFill>
                  <a:schemeClr val="dk1"/>
                </a:solidFill>
              </a:rPr>
              <a:t>Profe: Acordate de compartir esta presentación al equipo de tu camada luego de la reunión, por si quieren tener a mano los primeros links de referencia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0" name="Google Shape;540;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highlight>
                  <a:srgbClr val="FFFFFF"/>
                </a:highlight>
                <a:latin typeface="Didact Gothic"/>
                <a:ea typeface="Didact Gothic"/>
                <a:cs typeface="Didact Gothic"/>
                <a:sym typeface="Didact Gothic"/>
              </a:rPr>
              <a:t>Estas slides se pasan </a:t>
            </a:r>
            <a:r>
              <a:rPr lang="en-GB" sz="1200" b="1">
                <a:solidFill>
                  <a:schemeClr val="dk1"/>
                </a:solidFill>
                <a:highlight>
                  <a:srgbClr val="FFFFFF"/>
                </a:highlight>
                <a:latin typeface="Didact Gothic"/>
                <a:ea typeface="Didact Gothic"/>
                <a:cs typeface="Didact Gothic"/>
                <a:sym typeface="Didact Gothic"/>
              </a:rPr>
              <a:t>rápidamente </a:t>
            </a:r>
            <a:r>
              <a:rPr lang="en-GB" sz="1200">
                <a:solidFill>
                  <a:schemeClr val="dk1"/>
                </a:solidFill>
                <a:highlight>
                  <a:srgbClr val="FFFFFF"/>
                </a:highlight>
                <a:latin typeface="Didact Gothic"/>
                <a:ea typeface="Didact Gothic"/>
                <a:cs typeface="Didact Gothic"/>
                <a:sym typeface="Didact Gothic"/>
              </a:rPr>
              <a:t>simplemente para graficar las opciones.</a:t>
            </a: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9" name="Google Shape;549;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7" name="Google Shape;56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highlight>
                  <a:schemeClr val="lt1"/>
                </a:highlight>
                <a:latin typeface="Didact Gothic"/>
                <a:ea typeface="Didact Gothic"/>
                <a:cs typeface="Didact Gothic"/>
                <a:sym typeface="Didact Gothic"/>
              </a:rPr>
              <a:t>Estas slides se pasan </a:t>
            </a:r>
            <a:r>
              <a:rPr lang="en-GB" sz="1200" b="1">
                <a:solidFill>
                  <a:schemeClr val="dk1"/>
                </a:solidFill>
                <a:highlight>
                  <a:schemeClr val="lt1"/>
                </a:highlight>
                <a:latin typeface="Didact Gothic"/>
                <a:ea typeface="Didact Gothic"/>
                <a:cs typeface="Didact Gothic"/>
                <a:sym typeface="Didact Gothic"/>
              </a:rPr>
              <a:t>rápidamente </a:t>
            </a:r>
            <a:r>
              <a:rPr lang="en-GB" sz="1200">
                <a:solidFill>
                  <a:schemeClr val="dk1"/>
                </a:solidFill>
                <a:highlight>
                  <a:schemeClr val="lt1"/>
                </a:highlight>
                <a:latin typeface="Didact Gothic"/>
                <a:ea typeface="Didact Gothic"/>
                <a:cs typeface="Didact Gothic"/>
                <a:sym typeface="Didact Gothic"/>
              </a:rPr>
              <a:t>simplemente para graficar las opciones.</a:t>
            </a: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5" name="Google Shape;585;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3" name="Google Shape;603;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2" name="Google Shape;612;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0" name="Google Shape;620;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highlight>
                  <a:schemeClr val="lt1"/>
                </a:highlight>
                <a:latin typeface="Didact Gothic"/>
                <a:ea typeface="Didact Gothic"/>
                <a:cs typeface="Didact Gothic"/>
                <a:sym typeface="Didact Gothic"/>
              </a:rPr>
              <a:t>Estas slides se pasan </a:t>
            </a:r>
            <a:r>
              <a:rPr lang="en-GB" sz="1200" b="1">
                <a:solidFill>
                  <a:schemeClr val="dk1"/>
                </a:solidFill>
                <a:highlight>
                  <a:schemeClr val="lt1"/>
                </a:highlight>
                <a:latin typeface="Didact Gothic"/>
                <a:ea typeface="Didact Gothic"/>
                <a:cs typeface="Didact Gothic"/>
                <a:sym typeface="Didact Gothic"/>
              </a:rPr>
              <a:t>rápidamente </a:t>
            </a:r>
            <a:r>
              <a:rPr lang="en-GB" sz="1200">
                <a:solidFill>
                  <a:schemeClr val="dk1"/>
                </a:solidFill>
                <a:highlight>
                  <a:schemeClr val="lt1"/>
                </a:highlight>
                <a:latin typeface="Didact Gothic"/>
                <a:ea typeface="Didact Gothic"/>
                <a:cs typeface="Didact Gothic"/>
                <a:sym typeface="Didact Gothic"/>
              </a:rPr>
              <a:t>simplemente para graficar las opciones.</a:t>
            </a: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9" name="Google Shape;629;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8" name="Google Shape;638;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7" name="Google Shape;647;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6" name="Google Shape;656;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5" name="Google Shape;665;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4" name="Google Shape;674;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2" name="Google Shape;692;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0" name="Google Shape;710;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9" name="Google Shape;719;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8" name="Google Shape;728;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7" name="Google Shape;737;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6" name="Google Shape;746;p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3" name="Google Shape;753;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1" name="Google Shape;761;p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r>
              <a:rPr lang="en-GB" sz="1200">
                <a:solidFill>
                  <a:schemeClr val="dk1"/>
                </a:solidFill>
                <a:highlight>
                  <a:schemeClr val="lt1"/>
                </a:highlight>
                <a:latin typeface="Didact Gothic"/>
                <a:ea typeface="Didact Gothic"/>
                <a:cs typeface="Didact Gothic"/>
                <a:sym typeface="Didact Gothic"/>
              </a:rPr>
              <a:t>Estas slides se pasan </a:t>
            </a:r>
            <a:r>
              <a:rPr lang="en-GB" sz="1200" b="1">
                <a:solidFill>
                  <a:schemeClr val="dk1"/>
                </a:solidFill>
                <a:highlight>
                  <a:schemeClr val="lt1"/>
                </a:highlight>
                <a:latin typeface="Didact Gothic"/>
                <a:ea typeface="Didact Gothic"/>
                <a:cs typeface="Didact Gothic"/>
                <a:sym typeface="Didact Gothic"/>
              </a:rPr>
              <a:t>rápidamente </a:t>
            </a:r>
            <a:r>
              <a:rPr lang="en-GB" sz="1200">
                <a:solidFill>
                  <a:schemeClr val="dk1"/>
                </a:solidFill>
                <a:highlight>
                  <a:schemeClr val="lt1"/>
                </a:highlight>
                <a:latin typeface="Didact Gothic"/>
                <a:ea typeface="Didact Gothic"/>
                <a:cs typeface="Didact Gothic"/>
                <a:sym typeface="Didact Gothic"/>
              </a:rPr>
              <a:t>simplemente para graficar las opciones.</a:t>
            </a: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0" name="Google Shape;770;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9" name="Google Shape;779;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8" name="Google Shape;788;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7" name="Google Shape;797;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GB" sz="1200">
                <a:solidFill>
                  <a:schemeClr val="dk1"/>
                </a:solidFill>
                <a:highlight>
                  <a:schemeClr val="lt1"/>
                </a:highlight>
                <a:latin typeface="Didact Gothic"/>
                <a:ea typeface="Didact Gothic"/>
                <a:cs typeface="Didact Gothic"/>
                <a:sym typeface="Didact Gothic"/>
              </a:rPr>
              <a:t>Estas slides se pasan </a:t>
            </a:r>
            <a:r>
              <a:rPr lang="en-GB" sz="1200" b="1">
                <a:solidFill>
                  <a:schemeClr val="dk1"/>
                </a:solidFill>
                <a:highlight>
                  <a:schemeClr val="lt1"/>
                </a:highlight>
                <a:latin typeface="Didact Gothic"/>
                <a:ea typeface="Didact Gothic"/>
                <a:cs typeface="Didact Gothic"/>
                <a:sym typeface="Didact Gothic"/>
              </a:rPr>
              <a:t>rápidamente </a:t>
            </a:r>
            <a:r>
              <a:rPr lang="en-GB" sz="1200">
                <a:solidFill>
                  <a:schemeClr val="dk1"/>
                </a:solidFill>
                <a:highlight>
                  <a:schemeClr val="lt1"/>
                </a:highlight>
                <a:latin typeface="Didact Gothic"/>
                <a:ea typeface="Didact Gothic"/>
                <a:cs typeface="Didact Gothic"/>
                <a:sym typeface="Didact Gothic"/>
              </a:rPr>
              <a:t>simplemente para graficar las opciones.</a:t>
            </a:r>
            <a:endParaRPr sz="1200">
              <a:solidFill>
                <a:schemeClr val="dk1"/>
              </a:solidFill>
              <a:highlight>
                <a:schemeClr val="lt1"/>
              </a:highlight>
              <a:latin typeface="Didact Gothic"/>
              <a:ea typeface="Didact Gothic"/>
              <a:cs typeface="Didact Gothic"/>
              <a:sym typeface="Didact Gothic"/>
            </a:endParaRPr>
          </a:p>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6" name="Google Shape;806;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5" name="Google Shape;815;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4" name="Google Shape;824;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sz="1200">
              <a:solidFill>
                <a:schemeClr val="dk1"/>
              </a:solidFill>
              <a:highlight>
                <a:srgbClr val="FFFFFF"/>
              </a:highlight>
              <a:latin typeface="Didact Gothic"/>
              <a:ea typeface="Didact Gothic"/>
              <a:cs typeface="Didact Gothic"/>
              <a:sym typeface="Didact Gothic"/>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3" name="Google Shape;833;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los subtemas de un módulo.</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0" name="Google Shape;840;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a:solidFill>
                  <a:schemeClr val="dk1"/>
                </a:solidFill>
              </a:rPr>
              <a:t>Usar para los módulos más importantes de la clase, donde se introducen conceptos que se ven en varios slides. No hay que usarla para todos los módulos.</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5" name="Google Shape;845;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4" name="Google Shape;854;p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1" name="Google Shape;861;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8" name="Google Shape;868;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5" name="Google Shape;875;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3" name="Google Shape;883;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100"/>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0" name="Google Shape;890;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7" name="Google Shape;897;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slides de texto con gráfico de etapas/pasos.</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1" name="Google Shape;921;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0" name="Google Shape;930;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9" name="Google Shape;939;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6" name="Google Shape;946;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p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3" name="Google Shape;953;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1" name="Google Shape;96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rgbClr val="24292E"/>
              </a:solidFill>
              <a:latin typeface="Didact Gothic"/>
              <a:ea typeface="Didact Gothic"/>
              <a:cs typeface="Didact Gothic"/>
              <a:sym typeface="Didact Gothic"/>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p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9" name="Google Shape;969;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solidFill>
                  <a:schemeClr val="dk1"/>
                </a:solidFill>
              </a:rPr>
              <a:t>Usar para desafíos entregables. Editar el número con el número de desafío correspondiente..</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sz="1200">
                <a:solidFill>
                  <a:schemeClr val="dk1"/>
                </a:solidFill>
                <a:highlight>
                  <a:schemeClr val="lt1"/>
                </a:highlight>
                <a:latin typeface="Helvetica Neue Light"/>
                <a:ea typeface="Helvetica Neue Light"/>
                <a:cs typeface="Helvetica Neue Light"/>
                <a:sym typeface="Helvetica Neue Light"/>
              </a:rPr>
              <a:t>Desarrollo de un desafío entregable </a:t>
            </a:r>
            <a:endParaRPr sz="1200">
              <a:solidFill>
                <a:schemeClr val="dk1"/>
              </a:solidFill>
              <a:highlight>
                <a:schemeClr val="lt1"/>
              </a:highlight>
              <a:latin typeface="Helvetica Neue Light"/>
              <a:ea typeface="Helvetica Neue Light"/>
              <a:cs typeface="Helvetica Neue Light"/>
              <a:sym typeface="Helvetica Neue Light"/>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4" name="Google Shape;984;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a:solidFill>
                  <a:schemeClr val="dk1"/>
                </a:solidFill>
              </a:rPr>
              <a:t>Obligatoria. Se sugiere ubicar al finalizar la explicación de algún tema, para abrir formalmente el espacio de preguntas y ordenar la interacción.</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a:solidFill>
                  <a:schemeClr val="dk1"/>
                </a:solidFill>
              </a:rPr>
              <a:t>Obligatoria siempre. En caso de cerrar con el “mapa de conceptos” se puede dejar solo “muchas gracias”. Completar el resumen con palabras claves de lo visto.</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6" name="Google Shape;996;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GB">
                <a:solidFill>
                  <a:schemeClr val="dk1"/>
                </a:solidFill>
              </a:rPr>
              <a:t>Obligatoria siempre.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56" name="Google Shape;56;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sp>
        <p:nvSpPr>
          <p:cNvPr id="59" name="Google Shape;59;p1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60" name="Google Shape;60;p1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plataforma.coderhouse.com/video-tutoriale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document/d/1TzNqSPEMEn200i5q6Gxe4TDG2Gk_OV0-9IWbSIJmPE4/edit?usp=sharin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hyperlink" Target="https://codepen.io/santiagoav-the-bashful/pen/WNbwXYy"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2.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hyperlink" Target="https://codepen.io/santiagoav-the-bashful/pen/YzPqOBL"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7.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8.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7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8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3.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6.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8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6.xml"/><Relationship Id="rId1" Type="http://schemas.openxmlformats.org/officeDocument/2006/relationships/slideLayout" Target="../slideLayouts/slideLayout12.xml"/><Relationship Id="rId4" Type="http://schemas.openxmlformats.org/officeDocument/2006/relationships/image" Target="../media/image66.gif"/></Relationships>
</file>

<file path=ppt/slides/_rels/slide9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9.xml"/><Relationship Id="rId1" Type="http://schemas.openxmlformats.org/officeDocument/2006/relationships/slideLayout" Target="../slideLayouts/slideLayout12.xml"/><Relationship Id="rId5" Type="http://schemas.openxmlformats.org/officeDocument/2006/relationships/image" Target="../media/image68.png"/><Relationship Id="rId4" Type="http://schemas.openxmlformats.org/officeDocument/2006/relationships/image" Target="../media/image67.jpg"/></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EF89D2"/>
            </a:gs>
            <a:gs pos="100000">
              <a:srgbClr val="E0FF00"/>
            </a:gs>
          </a:gsLst>
          <a:lin ang="10800025" scaled="0"/>
        </a:gradFill>
        <a:effectLst/>
      </p:bgPr>
    </p:bg>
    <p:spTree>
      <p:nvGrpSpPr>
        <p:cNvPr id="1" name="Shape 98"/>
        <p:cNvGrpSpPr/>
        <p:nvPr/>
      </p:nvGrpSpPr>
      <p:grpSpPr>
        <a:xfrm>
          <a:off x="0" y="0"/>
          <a:ext cx="0" cy="0"/>
          <a:chOff x="0" y="0"/>
          <a:chExt cx="0" cy="0"/>
        </a:xfrm>
      </p:grpSpPr>
      <p:sp>
        <p:nvSpPr>
          <p:cNvPr id="99" name="Google Shape;99;p25"/>
          <p:cNvSpPr txBox="1"/>
          <p:nvPr/>
        </p:nvSpPr>
        <p:spPr>
          <a:xfrm>
            <a:off x="1398000" y="2077200"/>
            <a:ext cx="63480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121212"/>
                </a:solidFill>
                <a:latin typeface="Anton"/>
                <a:ea typeface="Anton"/>
                <a:cs typeface="Anton"/>
                <a:sym typeface="Anton"/>
              </a:rPr>
              <a:t>RECUERDA PONER A GRABAR LA CLASE</a:t>
            </a:r>
            <a:endParaRPr sz="3600" b="0" i="1" u="none" strike="noStrike" cap="none">
              <a:solidFill>
                <a:srgbClr val="121212"/>
              </a:solidFill>
              <a:latin typeface="Anton"/>
              <a:ea typeface="Anton"/>
              <a:cs typeface="Anton"/>
              <a:sym typeface="Anton"/>
            </a:endParaRPr>
          </a:p>
        </p:txBody>
      </p:sp>
      <p:pic>
        <p:nvPicPr>
          <p:cNvPr id="100" name="Google Shape;100;p25"/>
          <p:cNvPicPr preferRelativeResize="0"/>
          <p:nvPr/>
        </p:nvPicPr>
        <p:blipFill rotWithShape="1">
          <a:blip r:embed="rId3">
            <a:alphaModFix/>
          </a:blip>
          <a:srcRect/>
          <a:stretch/>
        </p:blipFill>
        <p:spPr>
          <a:xfrm>
            <a:off x="4125950" y="3210488"/>
            <a:ext cx="892100" cy="743425"/>
          </a:xfrm>
          <a:prstGeom prst="rect">
            <a:avLst/>
          </a:prstGeom>
          <a:noFill/>
          <a:ln>
            <a:noFill/>
          </a:ln>
        </p:spPr>
      </p:pic>
      <p:pic>
        <p:nvPicPr>
          <p:cNvPr id="101" name="Google Shape;101;p25"/>
          <p:cNvPicPr preferRelativeResize="0"/>
          <p:nvPr/>
        </p:nvPicPr>
        <p:blipFill rotWithShape="1">
          <a:blip r:embed="rId4">
            <a:alphaModFix/>
          </a:blip>
          <a:srcRect/>
          <a:stretch/>
        </p:blipFill>
        <p:spPr>
          <a:xfrm>
            <a:off x="7567925" y="4659625"/>
            <a:ext cx="1186526" cy="330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5"/>
        <p:cNvGrpSpPr/>
        <p:nvPr/>
      </p:nvGrpSpPr>
      <p:grpSpPr>
        <a:xfrm>
          <a:off x="0" y="0"/>
          <a:ext cx="0" cy="0"/>
          <a:chOff x="0" y="0"/>
          <a:chExt cx="0" cy="0"/>
        </a:xfrm>
      </p:grpSpPr>
      <p:sp>
        <p:nvSpPr>
          <p:cNvPr id="106" name="Google Shape;106;p26"/>
          <p:cNvSpPr txBox="1"/>
          <p:nvPr/>
        </p:nvSpPr>
        <p:spPr>
          <a:xfrm>
            <a:off x="1112550" y="2007150"/>
            <a:ext cx="6918900" cy="112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5500" i="1">
                <a:solidFill>
                  <a:srgbClr val="E0FF00"/>
                </a:solidFill>
                <a:latin typeface="Anton"/>
                <a:ea typeface="Anton"/>
                <a:cs typeface="Anton"/>
                <a:sym typeface="Anton"/>
              </a:rPr>
              <a:t>EN MINUTOS COMENZAMOS</a:t>
            </a: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t>
            </a:r>
            <a:br>
              <a:rPr lang="en-GB" sz="3600" i="1">
                <a:solidFill>
                  <a:srgbClr val="E0FF00"/>
                </a:solidFill>
                <a:latin typeface="Anton"/>
                <a:ea typeface="Anton"/>
                <a:cs typeface="Anton"/>
                <a:sym typeface="Anton"/>
              </a:rPr>
            </a:br>
            <a:endParaRPr sz="3600" i="1">
              <a:solidFill>
                <a:srgbClr val="E0FF00"/>
              </a:solidFill>
              <a:latin typeface="Anton"/>
              <a:ea typeface="Anton"/>
              <a:cs typeface="Anton"/>
              <a:sym typeface="Anton"/>
            </a:endParaRPr>
          </a:p>
        </p:txBody>
      </p:sp>
      <p:pic>
        <p:nvPicPr>
          <p:cNvPr id="107" name="Google Shape;107;p26"/>
          <p:cNvPicPr preferRelativeResize="0"/>
          <p:nvPr/>
        </p:nvPicPr>
        <p:blipFill rotWithShape="1">
          <a:blip r:embed="rId4">
            <a:alphaModFix/>
          </a:blip>
          <a:srcRect/>
          <a:stretch/>
        </p:blipFill>
        <p:spPr>
          <a:xfrm>
            <a:off x="4125950" y="3210488"/>
            <a:ext cx="892100" cy="743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
        <p:nvSpPr>
          <p:cNvPr id="112" name="Google Shape;112;p27"/>
          <p:cNvSpPr txBox="1"/>
          <p:nvPr/>
        </p:nvSpPr>
        <p:spPr>
          <a:xfrm>
            <a:off x="1453850" y="1843275"/>
            <a:ext cx="5902200" cy="1129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n-GB" sz="4000" b="0" i="1" u="none" strike="noStrike" cap="none">
                <a:solidFill>
                  <a:srgbClr val="E0FF00"/>
                </a:solidFill>
                <a:latin typeface="Anton"/>
                <a:ea typeface="Anton"/>
                <a:cs typeface="Anton"/>
                <a:sym typeface="Anton"/>
              </a:rPr>
              <a:t>¿DUDAS DEL ON-BOARDING?</a:t>
            </a:r>
            <a:endParaRPr sz="4000" b="0" i="1" u="none" strike="noStrike" cap="none">
              <a:solidFill>
                <a:srgbClr val="E0FF00"/>
              </a:solidFill>
              <a:latin typeface="Anton"/>
              <a:ea typeface="Anton"/>
              <a:cs typeface="Anton"/>
              <a:sym typeface="Anton"/>
            </a:endParaRPr>
          </a:p>
        </p:txBody>
      </p:sp>
      <p:sp>
        <p:nvSpPr>
          <p:cNvPr id="113" name="Google Shape;113;p27"/>
          <p:cNvSpPr/>
          <p:nvPr/>
        </p:nvSpPr>
        <p:spPr>
          <a:xfrm>
            <a:off x="3436038" y="2829200"/>
            <a:ext cx="2271900" cy="567900"/>
          </a:xfrm>
          <a:prstGeom prst="roundRect">
            <a:avLst>
              <a:gd name="adj" fmla="val 16667"/>
            </a:avLst>
          </a:prstGeom>
          <a:noFill/>
          <a:ln w="28575" cap="flat" cmpd="sng">
            <a:solidFill>
              <a:srgbClr val="3CEFAB"/>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sng" strike="noStrike" cap="none">
                <a:solidFill>
                  <a:schemeClr val="hlink"/>
                </a:solidFill>
                <a:latin typeface="Anton"/>
                <a:ea typeface="Anton"/>
                <a:cs typeface="Anton"/>
                <a:sym typeface="Anton"/>
                <a:hlinkClick r:id="rId4"/>
              </a:rPr>
              <a:t>MIRALO AQUI</a:t>
            </a:r>
            <a:endParaRPr sz="1800" b="0" i="0" u="none" strike="noStrike" cap="none">
              <a:solidFill>
                <a:srgbClr val="FFFFFF"/>
              </a:solidFill>
              <a:latin typeface="Anton"/>
              <a:ea typeface="Anton"/>
              <a:cs typeface="Anton"/>
              <a:sym typeface="Anton"/>
            </a:endParaRPr>
          </a:p>
        </p:txBody>
      </p:sp>
      <p:pic>
        <p:nvPicPr>
          <p:cNvPr id="114" name="Google Shape;114;p27" descr="Tiger Face on Apple iOS 12.2"/>
          <p:cNvPicPr preferRelativeResize="0"/>
          <p:nvPr/>
        </p:nvPicPr>
        <p:blipFill rotWithShape="1">
          <a:blip r:embed="rId5">
            <a:alphaModFix/>
          </a:blip>
          <a:srcRect/>
          <a:stretch/>
        </p:blipFill>
        <p:spPr>
          <a:xfrm>
            <a:off x="4215950" y="1281238"/>
            <a:ext cx="712075" cy="712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28"/>
          <p:cNvSpPr txBox="1"/>
          <p:nvPr/>
        </p:nvSpPr>
        <p:spPr>
          <a:xfrm>
            <a:off x="2022750" y="2009038"/>
            <a:ext cx="5035500" cy="633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121212"/>
                </a:solidFill>
                <a:latin typeface="Anton"/>
                <a:ea typeface="Anton"/>
                <a:cs typeface="Anton"/>
                <a:sym typeface="Anton"/>
              </a:rPr>
              <a:t>GRIDS</a:t>
            </a:r>
            <a:endParaRPr sz="3600" b="0" i="1" u="none" strike="noStrike" cap="none">
              <a:solidFill>
                <a:srgbClr val="121212"/>
              </a:solidFill>
              <a:latin typeface="Anton"/>
              <a:ea typeface="Anton"/>
              <a:cs typeface="Anton"/>
              <a:sym typeface="Anton"/>
            </a:endParaRPr>
          </a:p>
        </p:txBody>
      </p:sp>
      <p:sp>
        <p:nvSpPr>
          <p:cNvPr id="120" name="Google Shape;120;p28"/>
          <p:cNvSpPr txBox="1"/>
          <p:nvPr/>
        </p:nvSpPr>
        <p:spPr>
          <a:xfrm>
            <a:off x="2022750" y="1633175"/>
            <a:ext cx="4679400" cy="475800"/>
          </a:xfrm>
          <a:prstGeom prst="rect">
            <a:avLst/>
          </a:prstGeom>
          <a:noFill/>
          <a:ln>
            <a:noFill/>
          </a:ln>
        </p:spPr>
        <p:txBody>
          <a:bodyPr spcFirstLastPara="1" wrap="square" lIns="91425" tIns="91425" rIns="91425" bIns="91425" anchor="ctr" anchorCtr="0">
            <a:noAutofit/>
          </a:bodyPr>
          <a:lstStyle/>
          <a:p>
            <a:pPr marL="0" marR="0" lvl="0" indent="0" algn="ctr" rtl="0">
              <a:lnSpc>
                <a:spcPct val="150000"/>
              </a:lnSpc>
              <a:spcBef>
                <a:spcPts val="0"/>
              </a:spcBef>
              <a:spcAft>
                <a:spcPts val="0"/>
              </a:spcAft>
              <a:buClr>
                <a:srgbClr val="000000"/>
              </a:buClr>
              <a:buSzPts val="2000"/>
              <a:buFont typeface="Arial"/>
              <a:buNone/>
            </a:pPr>
            <a:r>
              <a:rPr lang="en-GB" sz="2000" b="1" i="0" u="none" strike="noStrike" cap="none">
                <a:solidFill>
                  <a:srgbClr val="121212"/>
                </a:solidFill>
                <a:latin typeface="Helvetica Neue"/>
                <a:ea typeface="Helvetica Neue"/>
                <a:cs typeface="Helvetica Neue"/>
                <a:sym typeface="Helvetica Neue"/>
              </a:rPr>
              <a:t>     Clase 07. </a:t>
            </a:r>
            <a:r>
              <a:rPr lang="en-GB" sz="2000" b="0" i="0" u="none" strike="noStrike" cap="none">
                <a:solidFill>
                  <a:srgbClr val="121212"/>
                </a:solidFill>
                <a:latin typeface="Helvetica Neue Light"/>
                <a:ea typeface="Helvetica Neue Light"/>
                <a:cs typeface="Helvetica Neue Light"/>
                <a:sym typeface="Helvetica Neue Light"/>
              </a:rPr>
              <a:t> DESARROLLO WEB</a:t>
            </a:r>
            <a:endParaRPr sz="1400" b="0" i="0" u="none" strike="noStrike" cap="none">
              <a:solidFill>
                <a:srgbClr val="121212"/>
              </a:solidFill>
              <a:latin typeface="Helvetica Neue Light"/>
              <a:ea typeface="Helvetica Neue Light"/>
              <a:cs typeface="Helvetica Neue Light"/>
              <a:sym typeface="Helvetica Neue Light"/>
            </a:endParaRPr>
          </a:p>
        </p:txBody>
      </p:sp>
      <p:sp>
        <p:nvSpPr>
          <p:cNvPr id="121" name="Google Shape;121;p28"/>
          <p:cNvSpPr txBox="1"/>
          <p:nvPr/>
        </p:nvSpPr>
        <p:spPr>
          <a:xfrm>
            <a:off x="707225" y="4382850"/>
            <a:ext cx="1731000" cy="475800"/>
          </a:xfrm>
          <a:prstGeom prst="rect">
            <a:avLst/>
          </a:prstGeom>
          <a:noFill/>
          <a:ln>
            <a:noFill/>
          </a:ln>
        </p:spPr>
        <p:txBody>
          <a:bodyPr spcFirstLastPara="1" wrap="square" lIns="91425" tIns="91425" rIns="91425" bIns="91425" anchor="ctr" anchorCtr="0">
            <a:noAutofit/>
          </a:bodyPr>
          <a:lstStyle/>
          <a:p>
            <a:pPr marL="0" marR="0" lvl="0" indent="0" algn="ctr" rtl="0">
              <a:lnSpc>
                <a:spcPct val="150000"/>
              </a:lnSpc>
              <a:spcBef>
                <a:spcPts val="0"/>
              </a:spcBef>
              <a:spcAft>
                <a:spcPts val="0"/>
              </a:spcAft>
              <a:buClr>
                <a:srgbClr val="000000"/>
              </a:buClr>
              <a:buSzPts val="1800"/>
              <a:buFont typeface="Arial"/>
              <a:buNone/>
            </a:pPr>
            <a:endParaRPr sz="1800" b="1" i="0" u="none" strike="noStrike" cap="non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CEFAB"/>
        </a:solidFill>
        <a:effectLst/>
      </p:bgPr>
    </p:bg>
    <p:spTree>
      <p:nvGrpSpPr>
        <p:cNvPr id="1" name="Shape 125"/>
        <p:cNvGrpSpPr/>
        <p:nvPr/>
      </p:nvGrpSpPr>
      <p:grpSpPr>
        <a:xfrm>
          <a:off x="0" y="0"/>
          <a:ext cx="0" cy="0"/>
          <a:chOff x="0" y="0"/>
          <a:chExt cx="0" cy="0"/>
        </a:xfrm>
      </p:grpSpPr>
      <p:sp>
        <p:nvSpPr>
          <p:cNvPr id="126" name="Google Shape;126;p29"/>
          <p:cNvSpPr txBox="1"/>
          <p:nvPr/>
        </p:nvSpPr>
        <p:spPr>
          <a:xfrm>
            <a:off x="3979775" y="1134750"/>
            <a:ext cx="4624800" cy="28740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15000"/>
              </a:lnSpc>
              <a:spcBef>
                <a:spcPts val="1000"/>
              </a:spcBef>
              <a:spcAft>
                <a:spcPts val="0"/>
              </a:spcAft>
              <a:buClr>
                <a:srgbClr val="000000"/>
              </a:buClr>
              <a:buSzPts val="1800"/>
              <a:buFont typeface="Arial"/>
              <a:buChar char="●"/>
            </a:pPr>
            <a:r>
              <a:rPr lang="en-GB" sz="1800" b="0" i="0" u="none" strike="noStrike" cap="none">
                <a:solidFill>
                  <a:srgbClr val="000000"/>
                </a:solidFill>
                <a:latin typeface="Helvetica Neue Light"/>
                <a:ea typeface="Helvetica Neue Light"/>
                <a:cs typeface="Helvetica Neue Light"/>
                <a:sym typeface="Helvetica Neue Light"/>
              </a:rPr>
              <a:t>Conocer las Grids.</a:t>
            </a:r>
            <a:endParaRPr sz="1800" b="0" i="0" u="none" strike="noStrike" cap="none">
              <a:solidFill>
                <a:srgbClr val="000000"/>
              </a:solidFill>
              <a:latin typeface="Helvetica Neue Light"/>
              <a:ea typeface="Helvetica Neue Light"/>
              <a:cs typeface="Helvetica Neue Light"/>
              <a:sym typeface="Helvetica Neue Light"/>
            </a:endParaRPr>
          </a:p>
          <a:p>
            <a:pPr marL="457200" marR="0" lvl="0" indent="-342900" algn="l" rtl="0">
              <a:lnSpc>
                <a:spcPct val="115000"/>
              </a:lnSpc>
              <a:spcBef>
                <a:spcPts val="1000"/>
              </a:spcBef>
              <a:spcAft>
                <a:spcPts val="0"/>
              </a:spcAft>
              <a:buClr>
                <a:srgbClr val="000000"/>
              </a:buClr>
              <a:buSzPts val="1800"/>
              <a:buFont typeface="Arial"/>
              <a:buChar char="●"/>
            </a:pPr>
            <a:r>
              <a:rPr lang="en-GB" sz="1800" b="0" i="0" u="none" strike="noStrike" cap="none">
                <a:solidFill>
                  <a:srgbClr val="000000"/>
                </a:solidFill>
                <a:latin typeface="Helvetica Neue Light"/>
                <a:ea typeface="Helvetica Neue Light"/>
                <a:cs typeface="Helvetica Neue Light"/>
                <a:sym typeface="Helvetica Neue Light"/>
              </a:rPr>
              <a:t>Aplicar las nuevas formas de modelar con Grids.</a:t>
            </a:r>
            <a:endParaRPr sz="1800" b="0" i="0" u="none" strike="noStrike" cap="none">
              <a:solidFill>
                <a:srgbClr val="000000"/>
              </a:solidFill>
              <a:latin typeface="Helvetica Neue Light"/>
              <a:ea typeface="Helvetica Neue Light"/>
              <a:cs typeface="Helvetica Neue Light"/>
              <a:sym typeface="Helvetica Neue Light"/>
            </a:endParaRPr>
          </a:p>
        </p:txBody>
      </p:sp>
      <p:pic>
        <p:nvPicPr>
          <p:cNvPr id="127" name="Google Shape;127;p2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128" name="Google Shape;128;p29"/>
          <p:cNvSpPr txBox="1"/>
          <p:nvPr/>
        </p:nvSpPr>
        <p:spPr>
          <a:xfrm>
            <a:off x="373850" y="2656900"/>
            <a:ext cx="3632700" cy="98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3000"/>
              <a:buFont typeface="Arial"/>
              <a:buNone/>
            </a:pPr>
            <a:r>
              <a:rPr lang="en-GB" sz="3000" b="0" i="1" u="none" strike="noStrike" cap="none">
                <a:solidFill>
                  <a:srgbClr val="000000"/>
                </a:solidFill>
                <a:latin typeface="Anton"/>
                <a:ea typeface="Anton"/>
                <a:cs typeface="Anton"/>
                <a:sym typeface="Anton"/>
              </a:rPr>
              <a:t>OBJETIVOS DE LA CLASE</a:t>
            </a:r>
            <a:endParaRPr sz="3000" b="0" i="1" u="none" strike="noStrike" cap="none">
              <a:solidFill>
                <a:srgbClr val="000000"/>
              </a:solidFill>
              <a:latin typeface="Anton"/>
              <a:ea typeface="Anton"/>
              <a:cs typeface="Anton"/>
              <a:sym typeface="Anton"/>
            </a:endParaRPr>
          </a:p>
        </p:txBody>
      </p:sp>
      <p:pic>
        <p:nvPicPr>
          <p:cNvPr id="129" name="Google Shape;129;p29"/>
          <p:cNvPicPr preferRelativeResize="0"/>
          <p:nvPr/>
        </p:nvPicPr>
        <p:blipFill rotWithShape="1">
          <a:blip r:embed="rId4">
            <a:alphaModFix/>
          </a:blip>
          <a:srcRect/>
          <a:stretch/>
        </p:blipFill>
        <p:spPr>
          <a:xfrm>
            <a:off x="1611688" y="1439550"/>
            <a:ext cx="1186525" cy="118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0"/>
          <p:cNvSpPr txBox="1"/>
          <p:nvPr/>
        </p:nvSpPr>
        <p:spPr>
          <a:xfrm>
            <a:off x="483500" y="1390175"/>
            <a:ext cx="3924900" cy="3600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2000"/>
              <a:buFont typeface="Arial"/>
              <a:buNone/>
            </a:pPr>
            <a:r>
              <a:rPr lang="en-GB" sz="1300" b="1" i="0" u="none" strike="noStrike" cap="none">
                <a:solidFill>
                  <a:schemeClr val="dk1"/>
                </a:solidFill>
                <a:latin typeface="Helvetica Neue"/>
                <a:ea typeface="Helvetica Neue"/>
                <a:cs typeface="Helvetica Neue"/>
                <a:sym typeface="Helvetica Neue"/>
              </a:rPr>
              <a:t>Flexbox: </a:t>
            </a:r>
            <a:r>
              <a:rPr lang="en-GB" sz="1300" b="0" i="0" u="none" strike="noStrike" cap="none">
                <a:solidFill>
                  <a:schemeClr val="dk1"/>
                </a:solidFill>
                <a:latin typeface="Helvetica Neue Light"/>
                <a:ea typeface="Helvetica Neue Light"/>
                <a:cs typeface="Helvetica Neue Light"/>
                <a:sym typeface="Helvetica Neue Light"/>
              </a:rPr>
              <a:t>es un modo de diseño que nos permite crear estructuras para sitios web de una forma más fácil. No se trata de una propiedad de CSS, sino de un conjunto de ellas. Se basa sobre un contenedor (padre) para ordenar a sus ítems (hijos).</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Row (flex-direction):</a:t>
            </a:r>
            <a:r>
              <a:rPr lang="en-GB" sz="1300" b="0" i="0" u="none" strike="noStrike" cap="none">
                <a:solidFill>
                  <a:schemeClr val="dk1"/>
                </a:solidFill>
                <a:latin typeface="Helvetica Neue Light"/>
                <a:ea typeface="Helvetica Neue Light"/>
                <a:cs typeface="Helvetica Neue Light"/>
                <a:sym typeface="Helvetica Neue Light"/>
              </a:rPr>
              <a:t> esta propiedad nos va a permitir especificar si queremos que los flex items se dispongan en filas o columnas.</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Row-reverse (flex-direction):</a:t>
            </a:r>
            <a:r>
              <a:rPr lang="en-GB" sz="1300" b="0" i="0" u="none" strike="noStrike" cap="none">
                <a:solidFill>
                  <a:schemeClr val="dk1"/>
                </a:solidFill>
                <a:latin typeface="Helvetica Neue Light"/>
                <a:ea typeface="Helvetica Neue Light"/>
                <a:cs typeface="Helvetica Neue Light"/>
                <a:sym typeface="Helvetica Neue Light"/>
              </a:rPr>
              <a:t> con el valor row-reverse (fila inversa) los flex items se apilan en una fila de derecha a izquierda.</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Column (flex-direction):</a:t>
            </a:r>
            <a:r>
              <a:rPr lang="en-GB" sz="1300" b="0" i="0" u="none" strike="noStrike" cap="none">
                <a:solidFill>
                  <a:schemeClr val="dk1"/>
                </a:solidFill>
                <a:latin typeface="Helvetica Neue Light"/>
                <a:ea typeface="Helvetica Neue Light"/>
                <a:cs typeface="Helvetica Neue Light"/>
                <a:sym typeface="Helvetica Neue Light"/>
              </a:rPr>
              <a:t> con este valor, los flex items se apilan en una columna de arriba hacia abajo.</a:t>
            </a:r>
            <a:endParaRPr sz="1300" b="0" i="0" u="none" strike="noStrike" cap="none">
              <a:solidFill>
                <a:schemeClr val="dk1"/>
              </a:solidFill>
              <a:latin typeface="Helvetica Neue Light"/>
              <a:ea typeface="Helvetica Neue Light"/>
              <a:cs typeface="Helvetica Neue Light"/>
              <a:sym typeface="Helvetica Neue Light"/>
            </a:endParaRPr>
          </a:p>
        </p:txBody>
      </p:sp>
      <p:sp>
        <p:nvSpPr>
          <p:cNvPr id="135" name="Google Shape;135;p30"/>
          <p:cNvSpPr txBox="1"/>
          <p:nvPr/>
        </p:nvSpPr>
        <p:spPr>
          <a:xfrm>
            <a:off x="196487" y="129075"/>
            <a:ext cx="8423100" cy="98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500"/>
              <a:buFont typeface="Arial"/>
              <a:buNone/>
            </a:pPr>
            <a:r>
              <a:rPr lang="en-GB" sz="4500" b="0" i="1" u="none" strike="noStrike" cap="none">
                <a:solidFill>
                  <a:srgbClr val="000000"/>
                </a:solidFill>
                <a:latin typeface="Anton"/>
                <a:ea typeface="Anton"/>
                <a:cs typeface="Anton"/>
                <a:sym typeface="Anton"/>
              </a:rPr>
              <a:t>GLOSARIO:</a:t>
            </a:r>
            <a:endParaRPr sz="4500" b="0" i="1" u="none" strike="noStrike" cap="none">
              <a:solidFill>
                <a:srgbClr val="000000"/>
              </a:solidFill>
              <a:latin typeface="Anton"/>
              <a:ea typeface="Anton"/>
              <a:cs typeface="Anton"/>
              <a:sym typeface="Anton"/>
            </a:endParaRPr>
          </a:p>
          <a:p>
            <a:pPr marL="0" marR="0" lvl="0" indent="0" algn="l" rtl="0">
              <a:lnSpc>
                <a:spcPct val="100000"/>
              </a:lnSpc>
              <a:spcBef>
                <a:spcPts val="0"/>
              </a:spcBef>
              <a:spcAft>
                <a:spcPts val="0"/>
              </a:spcAft>
              <a:buClr>
                <a:srgbClr val="000000"/>
              </a:buClr>
              <a:buSzPts val="4500"/>
              <a:buFont typeface="Arial"/>
              <a:buNone/>
            </a:pPr>
            <a:r>
              <a:rPr lang="en-GB" sz="2000" b="0" i="1" u="none" strike="noStrike" cap="none">
                <a:solidFill>
                  <a:srgbClr val="000000"/>
                </a:solidFill>
                <a:latin typeface="Anton"/>
                <a:ea typeface="Anton"/>
                <a:cs typeface="Anton"/>
                <a:sym typeface="Anton"/>
              </a:rPr>
              <a:t>Clase 6</a:t>
            </a:r>
            <a:endParaRPr sz="2000" b="0" i="1" u="none" strike="noStrike" cap="none">
              <a:solidFill>
                <a:srgbClr val="000000"/>
              </a:solidFill>
              <a:latin typeface="Anton"/>
              <a:ea typeface="Anton"/>
              <a:cs typeface="Anton"/>
              <a:sym typeface="Anton"/>
            </a:endParaRPr>
          </a:p>
        </p:txBody>
      </p:sp>
      <p:pic>
        <p:nvPicPr>
          <p:cNvPr id="136" name="Google Shape;136;p3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137" name="Google Shape;137;p30"/>
          <p:cNvSpPr txBox="1"/>
          <p:nvPr/>
        </p:nvSpPr>
        <p:spPr>
          <a:xfrm>
            <a:off x="4750700" y="1390175"/>
            <a:ext cx="3924900" cy="36000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Column-reverse:</a:t>
            </a:r>
            <a:r>
              <a:rPr lang="en-GB" sz="1300" b="0" i="0" u="none" strike="noStrike" cap="none">
                <a:solidFill>
                  <a:schemeClr val="dk1"/>
                </a:solidFill>
                <a:latin typeface="Helvetica Neue Light"/>
                <a:ea typeface="Helvetica Neue Light"/>
                <a:cs typeface="Helvetica Neue Light"/>
                <a:sym typeface="Helvetica Neue Light"/>
              </a:rPr>
              <a:t> con este valor, los flex items se apilan en una columna de abajo hacia arriba.</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Flex-wrap:</a:t>
            </a:r>
            <a:r>
              <a:rPr lang="en-GB" sz="1300" b="0" i="0" u="none" strike="noStrike" cap="none">
                <a:solidFill>
                  <a:schemeClr val="dk1"/>
                </a:solidFill>
                <a:latin typeface="Helvetica Neue Light"/>
                <a:ea typeface="Helvetica Neue Light"/>
                <a:cs typeface="Helvetica Neue Light"/>
                <a:sym typeface="Helvetica Neue Light"/>
              </a:rPr>
              <a:t> permite especificar si queremos que los ítems puedan saltar a una nueva línea, cuando el contenedor flexible se quede sin espacio.</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Wrap (flex-wrap):</a:t>
            </a:r>
            <a:r>
              <a:rPr lang="en-GB" sz="1300" b="0" i="0" u="none" strike="noStrike" cap="none">
                <a:solidFill>
                  <a:schemeClr val="dk1"/>
                </a:solidFill>
                <a:latin typeface="Helvetica Neue Light"/>
                <a:ea typeface="Helvetica Neue Light"/>
                <a:cs typeface="Helvetica Neue Light"/>
                <a:sym typeface="Helvetica Neue Light"/>
              </a:rPr>
              <a:t> los flex items (hijos) pueden romper la línea del eje horizontal, si les es necesario para conservar las características de sus dimensiones. Esto es de izquierda a derecha, y de arriba a abajo.</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Wrap-reverse (flex-wrap):</a:t>
            </a:r>
            <a:r>
              <a:rPr lang="en-GB" sz="1300" b="0" i="0" u="none" strike="noStrike" cap="none">
                <a:solidFill>
                  <a:schemeClr val="dk1"/>
                </a:solidFill>
                <a:latin typeface="Helvetica Neue Light"/>
                <a:ea typeface="Helvetica Neue Light"/>
                <a:cs typeface="Helvetica Neue Light"/>
                <a:sym typeface="Helvetica Neue Light"/>
              </a:rPr>
              <a:t> esta vez el orden es de izquierda a derecha, y de abajo a arriba.</a:t>
            </a: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1"/>
          <p:cNvSpPr txBox="1"/>
          <p:nvPr/>
        </p:nvSpPr>
        <p:spPr>
          <a:xfrm>
            <a:off x="483500" y="1190291"/>
            <a:ext cx="3924900" cy="36000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Flex-flow: </a:t>
            </a:r>
            <a:r>
              <a:rPr lang="en-GB" sz="1300" b="0" i="0" u="none" strike="noStrike" cap="none" dirty="0" err="1">
                <a:solidFill>
                  <a:schemeClr val="dk1"/>
                </a:solidFill>
                <a:latin typeface="Helvetica Neue Light"/>
                <a:ea typeface="Helvetica Neue Light"/>
                <a:cs typeface="Helvetica Neue Light"/>
                <a:sym typeface="Helvetica Neue Light"/>
              </a:rPr>
              <a:t>Es</a:t>
            </a:r>
            <a:r>
              <a:rPr lang="en-GB" sz="1300" b="0" i="0" u="none" strike="noStrike" cap="none" dirty="0">
                <a:solidFill>
                  <a:schemeClr val="dk1"/>
                </a:solidFill>
                <a:latin typeface="Helvetica Neue Light"/>
                <a:ea typeface="Helvetica Neue Light"/>
                <a:cs typeface="Helvetica Neue Light"/>
                <a:sym typeface="Helvetica Neue Light"/>
              </a:rPr>
              <a:t> la forma </a:t>
            </a:r>
            <a:r>
              <a:rPr lang="en-GB" sz="1300" b="0" i="0" u="none" strike="noStrike" cap="none" dirty="0" err="1">
                <a:solidFill>
                  <a:schemeClr val="dk1"/>
                </a:solidFill>
                <a:latin typeface="Helvetica Neue Light"/>
                <a:ea typeface="Helvetica Neue Light"/>
                <a:cs typeface="Helvetica Neue Light"/>
                <a:sym typeface="Helvetica Neue Light"/>
              </a:rPr>
              <a:t>abreviada</a:t>
            </a:r>
            <a:r>
              <a:rPr lang="en-GB" sz="1300" b="0" i="0" u="none" strike="noStrike" cap="none" dirty="0">
                <a:solidFill>
                  <a:schemeClr val="dk1"/>
                </a:solidFill>
                <a:latin typeface="Helvetica Neue Light"/>
                <a:ea typeface="Helvetica Neue Light"/>
                <a:cs typeface="Helvetica Neue Light"/>
                <a:sym typeface="Helvetica Neue Light"/>
              </a:rPr>
              <a:t> (shorthand) o </a:t>
            </a:r>
            <a:r>
              <a:rPr lang="en-GB" sz="1300" b="0" i="0" u="none" strike="noStrike" cap="none" dirty="0" err="1">
                <a:solidFill>
                  <a:schemeClr val="dk1"/>
                </a:solidFill>
                <a:latin typeface="Helvetica Neue Light"/>
                <a:ea typeface="Helvetica Neue Light"/>
                <a:cs typeface="Helvetica Neue Light"/>
                <a:sym typeface="Helvetica Neue Light"/>
              </a:rPr>
              <a:t>rápida</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para</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las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propiedades</a:t>
            </a:r>
            <a:r>
              <a:rPr lang="en-GB" sz="1300" b="0" i="0" u="none" strike="noStrike" cap="none" dirty="0">
                <a:solidFill>
                  <a:schemeClr val="dk1"/>
                </a:solidFill>
                <a:latin typeface="Helvetica Neue Light"/>
                <a:ea typeface="Helvetica Neue Light"/>
                <a:cs typeface="Helvetica Neue Light"/>
                <a:sym typeface="Helvetica Neue Light"/>
              </a:rPr>
              <a:t>: flex-direction y flex-wrap. Se pone </a:t>
            </a:r>
            <a:r>
              <a:rPr lang="en-GB" sz="1300" b="0" i="0" u="none" strike="noStrike" cap="none" dirty="0" err="1">
                <a:solidFill>
                  <a:schemeClr val="dk1"/>
                </a:solidFill>
                <a:latin typeface="Helvetica Neue Light"/>
                <a:ea typeface="Helvetica Neue Light"/>
                <a:cs typeface="Helvetica Neue Light"/>
                <a:sym typeface="Helvetica Neue Light"/>
              </a:rPr>
              <a:t>primero</a:t>
            </a:r>
            <a:r>
              <a:rPr lang="en-GB" sz="1300" b="0" i="0" u="none" strike="noStrike" cap="none" dirty="0">
                <a:solidFill>
                  <a:schemeClr val="dk1"/>
                </a:solidFill>
                <a:latin typeface="Helvetica Neue Light"/>
                <a:ea typeface="Helvetica Neue Light"/>
                <a:cs typeface="Helvetica Neue Light"/>
                <a:sym typeface="Helvetica Neue Light"/>
              </a:rPr>
              <a:t> la </a:t>
            </a:r>
            <a:r>
              <a:rPr lang="en-GB" sz="1300" b="0" i="0" u="none" strike="noStrike" cap="none" dirty="0" err="1">
                <a:solidFill>
                  <a:schemeClr val="dk1"/>
                </a:solidFill>
                <a:latin typeface="Helvetica Neue Light"/>
                <a:ea typeface="Helvetica Neue Light"/>
                <a:cs typeface="Helvetica Neue Light"/>
                <a:sym typeface="Helvetica Neue Light"/>
              </a:rPr>
              <a:t>propiedad</a:t>
            </a:r>
            <a:r>
              <a:rPr lang="en-GB" sz="1300" b="0" i="0" u="none" strike="noStrike" cap="none" dirty="0">
                <a:solidFill>
                  <a:schemeClr val="dk1"/>
                </a:solidFill>
                <a:latin typeface="Helvetica Neue Light"/>
                <a:ea typeface="Helvetica Neue Light"/>
                <a:cs typeface="Helvetica Neue Light"/>
                <a:sym typeface="Helvetica Neue Light"/>
              </a:rPr>
              <a:t> de flex-direction, y </a:t>
            </a:r>
            <a:r>
              <a:rPr lang="en-GB" sz="1300" b="0" i="0" u="none" strike="noStrike" cap="none" dirty="0" err="1">
                <a:solidFill>
                  <a:schemeClr val="dk1"/>
                </a:solidFill>
                <a:latin typeface="Helvetica Neue Light"/>
                <a:ea typeface="Helvetica Neue Light"/>
                <a:cs typeface="Helvetica Neue Light"/>
                <a:sym typeface="Helvetica Neue Light"/>
              </a:rPr>
              <a:t>luego</a:t>
            </a:r>
            <a:r>
              <a:rPr lang="en-GB" sz="1300" b="0" i="0" u="none" strike="noStrike" cap="none" dirty="0">
                <a:solidFill>
                  <a:schemeClr val="dk1"/>
                </a:solidFill>
                <a:latin typeface="Helvetica Neue Light"/>
                <a:ea typeface="Helvetica Neue Light"/>
                <a:cs typeface="Helvetica Neue Light"/>
                <a:sym typeface="Helvetica Neue Light"/>
              </a:rPr>
              <a:t> la de flex-wrap.</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Justify-content: </a:t>
            </a:r>
            <a:r>
              <a:rPr lang="en-GB" sz="1300" b="0" i="0" u="none" strike="noStrike" cap="none" dirty="0" err="1">
                <a:solidFill>
                  <a:schemeClr val="dk1"/>
                </a:solidFill>
                <a:latin typeface="Helvetica Neue Light"/>
                <a:ea typeface="Helvetica Neue Light"/>
                <a:cs typeface="Helvetica Neue Light"/>
                <a:sym typeface="Helvetica Neue Light"/>
              </a:rPr>
              <a:t>nos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va</a:t>
            </a:r>
            <a:r>
              <a:rPr lang="en-GB" sz="1300" b="0" i="0" u="none" strike="noStrike" cap="none" dirty="0">
                <a:solidFill>
                  <a:schemeClr val="dk1"/>
                </a:solidFill>
                <a:latin typeface="Helvetica Neue Light"/>
                <a:ea typeface="Helvetica Neue Light"/>
                <a:cs typeface="Helvetica Neue Light"/>
                <a:sym typeface="Helvetica Neue Light"/>
              </a:rPr>
              <a:t> a </a:t>
            </a:r>
            <a:r>
              <a:rPr lang="en-GB" sz="1300" b="0" i="0" u="none" strike="noStrike" cap="none" dirty="0" err="1">
                <a:solidFill>
                  <a:schemeClr val="dk1"/>
                </a:solidFill>
                <a:latin typeface="Helvetica Neue Light"/>
                <a:ea typeface="Helvetica Neue Light"/>
                <a:cs typeface="Helvetica Neue Light"/>
                <a:sym typeface="Helvetica Neue Light"/>
              </a:rPr>
              <a:t>permitir</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alinear</a:t>
            </a:r>
            <a:r>
              <a:rPr lang="en-GB" sz="1300" b="0" i="0" u="none" strike="noStrike" cap="none" dirty="0">
                <a:solidFill>
                  <a:schemeClr val="dk1"/>
                </a:solidFill>
                <a:latin typeface="Helvetica Neue Light"/>
                <a:ea typeface="Helvetica Neue Light"/>
                <a:cs typeface="Helvetica Neue Light"/>
                <a:sym typeface="Helvetica Neue Light"/>
              </a:rPr>
              <a:t> los </a:t>
            </a:r>
            <a:r>
              <a:rPr lang="en-GB" sz="1300" b="0" i="0" u="none" strike="noStrike" cap="none" dirty="0" err="1">
                <a:solidFill>
                  <a:schemeClr val="dk1"/>
                </a:solidFill>
                <a:latin typeface="Helvetica Neue Light"/>
                <a:ea typeface="Helvetica Neue Light"/>
                <a:cs typeface="Helvetica Neue Light"/>
                <a:sym typeface="Helvetica Neue Light"/>
              </a:rPr>
              <a:t>elementos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Esto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puede</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ser</a:t>
            </a:r>
            <a:r>
              <a:rPr lang="en-GB" sz="1300" b="0" i="0" u="none" strike="noStrike" cap="none" dirty="0">
                <a:solidFill>
                  <a:schemeClr val="dk1"/>
                </a:solidFill>
                <a:latin typeface="Helvetica Neue Light"/>
                <a:ea typeface="Helvetica Neue Light"/>
                <a:cs typeface="Helvetica Neue Light"/>
                <a:sym typeface="Helvetica Neue Light"/>
              </a:rPr>
              <a:t> de forma vertical u horizontal, </a:t>
            </a:r>
            <a:r>
              <a:rPr lang="en-GB" sz="1300" b="0" i="0" u="none" strike="noStrike" cap="none" dirty="0" err="1">
                <a:solidFill>
                  <a:schemeClr val="dk1"/>
                </a:solidFill>
                <a:latin typeface="Helvetica Neue Light"/>
                <a:ea typeface="Helvetica Neue Light"/>
                <a:cs typeface="Helvetica Neue Light"/>
                <a:sym typeface="Helvetica Neue Light"/>
              </a:rPr>
              <a:t>según</a:t>
            </a:r>
            <a:r>
              <a:rPr lang="en-GB" sz="1300" b="0" i="0" u="none" strike="noStrike" cap="none" dirty="0">
                <a:solidFill>
                  <a:schemeClr val="dk1"/>
                </a:solidFill>
                <a:latin typeface="Helvetica Neue Light"/>
                <a:ea typeface="Helvetica Neue Light"/>
                <a:cs typeface="Helvetica Neue Light"/>
                <a:sym typeface="Helvetica Neue Light"/>
              </a:rPr>
              <a:t> lo </a:t>
            </a:r>
            <a:r>
              <a:rPr lang="en-GB" sz="1300" b="0" i="0" u="none" strike="noStrike" cap="none" dirty="0" err="1">
                <a:solidFill>
                  <a:schemeClr val="dk1"/>
                </a:solidFill>
                <a:latin typeface="Helvetica Neue Light"/>
                <a:ea typeface="Helvetica Neue Light"/>
                <a:cs typeface="Helvetica Neue Light"/>
                <a:sym typeface="Helvetica Neue Light"/>
              </a:rPr>
              <a:t>especifiquemos</a:t>
            </a:r>
            <a:r>
              <a:rPr lang="en-GB" sz="1300" b="0" i="0" u="none" strike="noStrike" cap="none" dirty="0">
                <a:solidFill>
                  <a:schemeClr val="dk1"/>
                </a:solidFill>
                <a:latin typeface="Helvetica Neue Light"/>
                <a:ea typeface="Helvetica Neue Light"/>
                <a:cs typeface="Helvetica Neue Light"/>
                <a:sym typeface="Helvetica Neue Light"/>
              </a:rPr>
              <a:t> con flex-direction. </a:t>
            </a:r>
            <a:r>
              <a:rPr lang="en-GB" sz="1300" b="0" i="0" u="none" strike="noStrike" cap="none" dirty="0" err="1">
                <a:solidFill>
                  <a:schemeClr val="dk1"/>
                </a:solidFill>
                <a:latin typeface="Helvetica Neue Light"/>
                <a:ea typeface="Helvetica Neue Light"/>
                <a:cs typeface="Helvetica Neue Light"/>
                <a:sym typeface="Helvetica Neue Light"/>
              </a:rPr>
              <a:t>Nos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va</a:t>
            </a:r>
            <a:r>
              <a:rPr lang="en-GB" sz="1300" b="0" i="0" u="none" strike="noStrike" cap="none" dirty="0">
                <a:solidFill>
                  <a:schemeClr val="dk1"/>
                </a:solidFill>
                <a:latin typeface="Helvetica Neue Light"/>
                <a:ea typeface="Helvetica Neue Light"/>
                <a:cs typeface="Helvetica Neue Light"/>
                <a:sym typeface="Helvetica Neue Light"/>
              </a:rPr>
              <a:t> a </a:t>
            </a:r>
            <a:r>
              <a:rPr lang="en-GB" sz="1300" b="0" i="0" u="none" strike="noStrike" cap="none" dirty="0" err="1">
                <a:solidFill>
                  <a:schemeClr val="dk1"/>
                </a:solidFill>
                <a:latin typeface="Helvetica Neue Light"/>
                <a:ea typeface="Helvetica Neue Light"/>
                <a:cs typeface="Helvetica Neue Light"/>
                <a:sym typeface="Helvetica Neue Light"/>
              </a:rPr>
              <a:t>ayudar</a:t>
            </a:r>
            <a:r>
              <a:rPr lang="en-GB" sz="1300" b="0" i="0" u="none" strike="noStrike" cap="none" dirty="0">
                <a:solidFill>
                  <a:schemeClr val="dk1"/>
                </a:solidFill>
                <a:latin typeface="Helvetica Neue Light"/>
                <a:ea typeface="Helvetica Neue Light"/>
                <a:cs typeface="Helvetica Neue Light"/>
                <a:sym typeface="Helvetica Neue Light"/>
              </a:rPr>
              <a:t> a </a:t>
            </a:r>
            <a:r>
              <a:rPr lang="en-GB" sz="1300" b="0" i="0" u="none" strike="noStrike" cap="none" dirty="0" err="1">
                <a:solidFill>
                  <a:schemeClr val="dk1"/>
                </a:solidFill>
                <a:latin typeface="Helvetica Neue Light"/>
                <a:ea typeface="Helvetica Neue Light"/>
                <a:cs typeface="Helvetica Neue Light"/>
                <a:sym typeface="Helvetica Neue Light"/>
              </a:rPr>
              <a:t>distribuir</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en el </a:t>
            </a:r>
            <a:r>
              <a:rPr lang="en-GB" sz="1300" b="0" i="0" u="none" strike="noStrike" cap="none" dirty="0" err="1">
                <a:solidFill>
                  <a:schemeClr val="dk1"/>
                </a:solidFill>
                <a:latin typeface="Helvetica Neue Light"/>
                <a:ea typeface="Helvetica Neue Light"/>
                <a:cs typeface="Helvetica Neue Light"/>
                <a:sym typeface="Helvetica Neue Light"/>
              </a:rPr>
              <a:t>contenedor</a:t>
            </a:r>
            <a:r>
              <a:rPr lang="en-GB" sz="1300" b="0" i="0" u="none" strike="noStrike" cap="none" dirty="0">
                <a:solidFill>
                  <a:schemeClr val="dk1"/>
                </a:solidFill>
                <a:latin typeface="Helvetica Neue Light"/>
                <a:ea typeface="Helvetica Neue Light"/>
                <a:cs typeface="Helvetica Neue Light"/>
                <a:sym typeface="Helvetica Neue Light"/>
              </a:rPr>
              <a:t> (padre), </a:t>
            </a:r>
            <a:r>
              <a:rPr lang="en-GB" sz="1300" b="0" i="0" u="none" strike="noStrike" cap="none" dirty="0" err="1">
                <a:solidFill>
                  <a:schemeClr val="dk1"/>
                </a:solidFill>
                <a:latin typeface="Helvetica Neue Light"/>
                <a:ea typeface="Helvetica Neue Light"/>
                <a:cs typeface="Helvetica Neue Light"/>
                <a:sym typeface="Helvetica Neue Light"/>
              </a:rPr>
              <a:t>cuando</a:t>
            </a:r>
            <a:r>
              <a:rPr lang="en-GB" sz="1300" b="0" i="0" u="none" strike="noStrike" cap="none" dirty="0">
                <a:solidFill>
                  <a:schemeClr val="dk1"/>
                </a:solidFill>
                <a:latin typeface="Helvetica Neue Light"/>
                <a:ea typeface="Helvetica Neue Light"/>
                <a:cs typeface="Helvetica Neue Light"/>
                <a:sym typeface="Helvetica Neue Light"/>
              </a:rPr>
              <a:t> los </a:t>
            </a:r>
            <a:r>
              <a:rPr lang="en-GB" sz="1300" b="0" i="0" u="none" strike="noStrike" cap="none" dirty="0" err="1">
                <a:solidFill>
                  <a:schemeClr val="dk1"/>
                </a:solidFill>
                <a:latin typeface="Helvetica Neue Light"/>
                <a:ea typeface="Helvetica Neue Light"/>
                <a:cs typeface="Helvetica Neue Light"/>
                <a:sym typeface="Helvetica Neue Light"/>
              </a:rPr>
              <a:t>ítems</a:t>
            </a:r>
            <a:r>
              <a:rPr lang="en-GB" sz="1300" b="0" i="0" u="none" strike="noStrike" cap="none" dirty="0">
                <a:solidFill>
                  <a:schemeClr val="dk1"/>
                </a:solidFill>
                <a:latin typeface="Helvetica Neue Light"/>
                <a:ea typeface="Helvetica Neue Light"/>
                <a:cs typeface="Helvetica Neue Light"/>
                <a:sym typeface="Helvetica Neue Light"/>
              </a:rPr>
              <a:t> no </a:t>
            </a:r>
            <a:r>
              <a:rPr lang="en-GB" sz="1300" b="0" i="0" u="none" strike="noStrike" cap="none" dirty="0" err="1">
                <a:solidFill>
                  <a:schemeClr val="dk1"/>
                </a:solidFill>
                <a:latin typeface="Helvetica Neue Light"/>
                <a:ea typeface="Helvetica Neue Light"/>
                <a:cs typeface="Helvetica Neue Light"/>
                <a:sym typeface="Helvetica Neue Light"/>
              </a:rPr>
              <a:t>utilicen</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todo</a:t>
            </a:r>
            <a:r>
              <a:rPr lang="en-GB" sz="1300" b="0" i="0" u="none" strike="noStrike" cap="none" dirty="0">
                <a:solidFill>
                  <a:schemeClr val="dk1"/>
                </a:solidFill>
                <a:latin typeface="Helvetica Neue Light"/>
                <a:ea typeface="Helvetica Neue Light"/>
                <a:cs typeface="Helvetica Neue Light"/>
                <a:sym typeface="Helvetica Neue Light"/>
              </a:rPr>
              <a:t> el </a:t>
            </a:r>
            <a:r>
              <a:rPr lang="en-GB" sz="1300" b="0" i="0" u="none" strike="noStrike" cap="none" dirty="0" err="1">
                <a:solidFill>
                  <a:schemeClr val="dk1"/>
                </a:solidFill>
                <a:latin typeface="Helvetica Neue Light"/>
                <a:ea typeface="Helvetica Neue Light"/>
                <a:cs typeface="Helvetica Neue Light"/>
                <a:sym typeface="Helvetica Neue Light"/>
              </a:rPr>
              <a:t>espacio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disponible</a:t>
            </a:r>
            <a:r>
              <a:rPr lang="en-GB" sz="1300" b="0" i="0" u="none" strike="noStrike" cap="none" dirty="0">
                <a:solidFill>
                  <a:schemeClr val="dk1"/>
                </a:solidFill>
                <a:latin typeface="Helvetica Neue Light"/>
                <a:ea typeface="Helvetica Neue Light"/>
                <a:cs typeface="Helvetica Neue Light"/>
                <a:sym typeface="Helvetica Neue Light"/>
              </a:rPr>
              <a:t> en </a:t>
            </a:r>
            <a:r>
              <a:rPr lang="en-GB" sz="1300" b="0" i="0" u="none" strike="noStrike" cap="none" dirty="0" err="1">
                <a:solidFill>
                  <a:schemeClr val="dk1"/>
                </a:solidFill>
                <a:latin typeface="Helvetica Neue Light"/>
                <a:ea typeface="Helvetica Neue Light"/>
                <a:cs typeface="Helvetica Neue Light"/>
                <a:sym typeface="Helvetica Neue Light"/>
              </a:rPr>
              <a:t>su</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eje</a:t>
            </a:r>
            <a:r>
              <a:rPr lang="en-GB" sz="1300" b="0" i="0" u="none" strike="noStrike" cap="none" dirty="0">
                <a:solidFill>
                  <a:schemeClr val="dk1"/>
                </a:solidFill>
                <a:latin typeface="Helvetica Neue Light"/>
                <a:ea typeface="Helvetica Neue Light"/>
                <a:cs typeface="Helvetica Neue Light"/>
                <a:sym typeface="Helvetica Neue Light"/>
              </a:rPr>
              <a:t> principal actual.</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Flex-start (justify-content):</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consiste</a:t>
            </a:r>
            <a:r>
              <a:rPr lang="en-GB" sz="1300" b="0" i="0" u="none" strike="noStrike" cap="none" dirty="0">
                <a:solidFill>
                  <a:schemeClr val="dk1"/>
                </a:solidFill>
                <a:latin typeface="Helvetica Neue Light"/>
                <a:ea typeface="Helvetica Neue Light"/>
                <a:cs typeface="Helvetica Neue Light"/>
                <a:sym typeface="Helvetica Neue Light"/>
              </a:rPr>
              <a:t> en </a:t>
            </a:r>
            <a:r>
              <a:rPr lang="en-GB" sz="1300" b="0" i="0" u="none" strike="noStrike" cap="none" dirty="0" err="1">
                <a:solidFill>
                  <a:schemeClr val="dk1"/>
                </a:solidFill>
                <a:latin typeface="Helvetica Neue Light"/>
                <a:ea typeface="Helvetica Neue Light"/>
                <a:cs typeface="Helvetica Neue Light"/>
                <a:sym typeface="Helvetica Neue Light"/>
              </a:rPr>
              <a:t>alinear</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al </a:t>
            </a:r>
            <a:r>
              <a:rPr lang="en-GB" sz="1300" b="0" i="0" u="none" strike="noStrike" cap="none" dirty="0" err="1">
                <a:solidFill>
                  <a:schemeClr val="dk1"/>
                </a:solidFill>
                <a:latin typeface="Helvetica Neue Light"/>
                <a:ea typeface="Helvetica Neue Light"/>
                <a:cs typeface="Helvetica Neue Light"/>
                <a:sym typeface="Helvetica Neue Light"/>
              </a:rPr>
              <a:t>lado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izquierdo</a:t>
            </a:r>
            <a:r>
              <a:rPr lang="en-GB" sz="1300" b="0" i="0" u="none" strike="noStrike" cap="none" dirty="0">
                <a:solidFill>
                  <a:schemeClr val="dk1"/>
                </a:solidFill>
                <a:latin typeface="Helvetica Neue Light"/>
                <a:ea typeface="Helvetica Neue Light"/>
                <a:cs typeface="Helvetica Neue Light"/>
                <a:sym typeface="Helvetica Neue Light"/>
              </a:rPr>
              <a:t>.</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Flex-end (justify-content):</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consiste</a:t>
            </a:r>
            <a:r>
              <a:rPr lang="en-GB" sz="1300" b="0" i="0" u="none" strike="noStrike" cap="none" dirty="0">
                <a:solidFill>
                  <a:schemeClr val="dk1"/>
                </a:solidFill>
                <a:latin typeface="Helvetica Neue Light"/>
                <a:ea typeface="Helvetica Neue Light"/>
                <a:cs typeface="Helvetica Neue Light"/>
                <a:sym typeface="Helvetica Neue Light"/>
              </a:rPr>
              <a:t> en </a:t>
            </a:r>
            <a:r>
              <a:rPr lang="en-GB" sz="1300" b="0" i="0" u="none" strike="noStrike" cap="none" dirty="0" err="1">
                <a:solidFill>
                  <a:schemeClr val="dk1"/>
                </a:solidFill>
                <a:latin typeface="Helvetica Neue Light"/>
                <a:ea typeface="Helvetica Neue Light"/>
                <a:cs typeface="Helvetica Neue Light"/>
                <a:sym typeface="Helvetica Neue Light"/>
              </a:rPr>
              <a:t>alinear</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al </a:t>
            </a:r>
            <a:r>
              <a:rPr lang="en-GB" sz="1300" b="0" i="0" u="none" strike="noStrike" cap="none" dirty="0" err="1">
                <a:solidFill>
                  <a:schemeClr val="dk1"/>
                </a:solidFill>
                <a:latin typeface="Helvetica Neue Light"/>
                <a:ea typeface="Helvetica Neue Light"/>
                <a:cs typeface="Helvetica Neue Light"/>
                <a:sym typeface="Helvetica Neue Light"/>
              </a:rPr>
              <a:t>lado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derecho</a:t>
            </a:r>
            <a:r>
              <a:rPr lang="en-GB" sz="1300" b="0" i="0" u="none" strike="noStrike" cap="none" dirty="0">
                <a:solidFill>
                  <a:schemeClr val="dk1"/>
                </a:solidFill>
                <a:latin typeface="Helvetica Neue Light"/>
                <a:ea typeface="Helvetica Neue Light"/>
                <a:cs typeface="Helvetica Neue Light"/>
                <a:sym typeface="Helvetica Neue Light"/>
              </a:rPr>
              <a:t>.</a:t>
            </a:r>
            <a:endParaRPr sz="1300" b="0" i="0" u="none" strike="noStrike" cap="none" dirty="0">
              <a:solidFill>
                <a:schemeClr val="dk1"/>
              </a:solidFill>
              <a:latin typeface="Helvetica Neue Light"/>
              <a:ea typeface="Helvetica Neue Light"/>
              <a:cs typeface="Helvetica Neue Light"/>
              <a:sym typeface="Helvetica Neue Light"/>
            </a:endParaRPr>
          </a:p>
        </p:txBody>
      </p:sp>
      <p:sp>
        <p:nvSpPr>
          <p:cNvPr id="143" name="Google Shape;143;p31"/>
          <p:cNvSpPr txBox="1"/>
          <p:nvPr/>
        </p:nvSpPr>
        <p:spPr>
          <a:xfrm>
            <a:off x="196487" y="129075"/>
            <a:ext cx="8423100" cy="98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500"/>
              <a:buFont typeface="Arial"/>
              <a:buNone/>
            </a:pPr>
            <a:r>
              <a:rPr lang="en-GB" sz="4500" b="0" i="1" u="none" strike="noStrike" cap="none">
                <a:solidFill>
                  <a:srgbClr val="000000"/>
                </a:solidFill>
                <a:latin typeface="Anton"/>
                <a:ea typeface="Anton"/>
                <a:cs typeface="Anton"/>
                <a:sym typeface="Anton"/>
              </a:rPr>
              <a:t>GLOSARIO:</a:t>
            </a:r>
            <a:endParaRPr sz="4500" b="0" i="1" u="none" strike="noStrike" cap="none">
              <a:solidFill>
                <a:srgbClr val="000000"/>
              </a:solidFill>
              <a:latin typeface="Anton"/>
              <a:ea typeface="Anton"/>
              <a:cs typeface="Anton"/>
              <a:sym typeface="Anton"/>
            </a:endParaRPr>
          </a:p>
          <a:p>
            <a:pPr marL="0" marR="0" lvl="0" indent="0" algn="l" rtl="0">
              <a:lnSpc>
                <a:spcPct val="100000"/>
              </a:lnSpc>
              <a:spcBef>
                <a:spcPts val="0"/>
              </a:spcBef>
              <a:spcAft>
                <a:spcPts val="0"/>
              </a:spcAft>
              <a:buClr>
                <a:srgbClr val="000000"/>
              </a:buClr>
              <a:buSzPts val="4500"/>
              <a:buFont typeface="Arial"/>
              <a:buNone/>
            </a:pPr>
            <a:r>
              <a:rPr lang="en-GB" sz="2000" b="0" i="1" u="none" strike="noStrike" cap="none">
                <a:solidFill>
                  <a:srgbClr val="000000"/>
                </a:solidFill>
                <a:latin typeface="Anton"/>
                <a:ea typeface="Anton"/>
                <a:cs typeface="Anton"/>
                <a:sym typeface="Anton"/>
              </a:rPr>
              <a:t>Clase 6</a:t>
            </a:r>
            <a:endParaRPr sz="2000" b="0" i="1" u="none" strike="noStrike" cap="none">
              <a:solidFill>
                <a:srgbClr val="000000"/>
              </a:solidFill>
              <a:latin typeface="Anton"/>
              <a:ea typeface="Anton"/>
              <a:cs typeface="Anton"/>
              <a:sym typeface="Anton"/>
            </a:endParaRPr>
          </a:p>
        </p:txBody>
      </p:sp>
      <p:pic>
        <p:nvPicPr>
          <p:cNvPr id="144" name="Google Shape;144;p3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145" name="Google Shape;145;p31"/>
          <p:cNvSpPr txBox="1"/>
          <p:nvPr/>
        </p:nvSpPr>
        <p:spPr>
          <a:xfrm>
            <a:off x="4750700" y="1224962"/>
            <a:ext cx="3924900" cy="36000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err="1">
                <a:solidFill>
                  <a:schemeClr val="dk1"/>
                </a:solidFill>
                <a:latin typeface="Helvetica Neue"/>
                <a:ea typeface="Helvetica Neue"/>
                <a:cs typeface="Helvetica Neue"/>
                <a:sym typeface="Helvetica Neue"/>
              </a:rPr>
              <a:t>Center</a:t>
            </a:r>
            <a:r>
              <a:rPr lang="en-GB" sz="1300" b="1" i="0" u="none" strike="noStrike" cap="none" dirty="0">
                <a:solidFill>
                  <a:schemeClr val="dk1"/>
                </a:solidFill>
                <a:latin typeface="Helvetica Neue"/>
                <a:ea typeface="Helvetica Neue"/>
                <a:cs typeface="Helvetica Neue"/>
                <a:sym typeface="Helvetica Neue"/>
              </a:rPr>
              <a:t> (justify-content):</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consiste</a:t>
            </a:r>
            <a:r>
              <a:rPr lang="en-GB" sz="1300" b="0" i="0" u="none" strike="noStrike" cap="none" dirty="0">
                <a:solidFill>
                  <a:schemeClr val="dk1"/>
                </a:solidFill>
                <a:latin typeface="Helvetica Neue Light"/>
                <a:ea typeface="Helvetica Neue Light"/>
                <a:cs typeface="Helvetica Neue Light"/>
                <a:sym typeface="Helvetica Neue Light"/>
              </a:rPr>
              <a:t> en </a:t>
            </a:r>
            <a:r>
              <a:rPr lang="en-GB" sz="1300" b="0" i="0" u="none" strike="noStrike" cap="none" dirty="0" err="1">
                <a:solidFill>
                  <a:schemeClr val="dk1"/>
                </a:solidFill>
                <a:latin typeface="Helvetica Neue Light"/>
                <a:ea typeface="Helvetica Neue Light"/>
                <a:cs typeface="Helvetica Neue Light"/>
                <a:sym typeface="Helvetica Neue Light"/>
              </a:rPr>
              <a:t>alinear</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al </a:t>
            </a:r>
            <a:r>
              <a:rPr lang="en-GB" sz="1300" b="0" i="0" u="none" strike="noStrike" cap="none" dirty="0" err="1">
                <a:solidFill>
                  <a:schemeClr val="dk1"/>
                </a:solidFill>
                <a:latin typeface="Helvetica Neue Light"/>
                <a:ea typeface="Helvetica Neue Light"/>
                <a:cs typeface="Helvetica Neue Light"/>
                <a:sym typeface="Helvetica Neue Light"/>
              </a:rPr>
              <a:t>centro</a:t>
            </a:r>
            <a:r>
              <a:rPr lang="en-GB" sz="1300" b="0" i="0" u="none" strike="noStrike" cap="none" dirty="0">
                <a:solidFill>
                  <a:schemeClr val="dk1"/>
                </a:solidFill>
                <a:latin typeface="Helvetica Neue Light"/>
                <a:ea typeface="Helvetica Neue Light"/>
                <a:cs typeface="Helvetica Neue Light"/>
                <a:sym typeface="Helvetica Neue Light"/>
              </a:rPr>
              <a:t>.</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Space-between (justify-content): </a:t>
            </a:r>
            <a:r>
              <a:rPr lang="en-GB" sz="1300" b="0" i="0" u="none" strike="noStrike" cap="none" dirty="0" err="1">
                <a:solidFill>
                  <a:schemeClr val="dk1"/>
                </a:solidFill>
                <a:latin typeface="Helvetica Neue Light"/>
                <a:ea typeface="Helvetica Neue Light"/>
                <a:cs typeface="Helvetica Neue Light"/>
                <a:sym typeface="Helvetica Neue Light"/>
              </a:rPr>
              <a:t>es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hacer</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que</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tomen</a:t>
            </a:r>
            <a:r>
              <a:rPr lang="en-GB" sz="1300" b="0" i="0" u="none" strike="noStrike" cap="none" dirty="0">
                <a:solidFill>
                  <a:schemeClr val="dk1"/>
                </a:solidFill>
                <a:latin typeface="Helvetica Neue Light"/>
                <a:ea typeface="Helvetica Neue Light"/>
                <a:cs typeface="Helvetica Neue Light"/>
                <a:sym typeface="Helvetica Neue Light"/>
              </a:rPr>
              <a:t> la </a:t>
            </a:r>
            <a:r>
              <a:rPr lang="en-GB" sz="1300" b="0" i="0" u="none" strike="noStrike" cap="none" dirty="0" err="1">
                <a:solidFill>
                  <a:schemeClr val="dk1"/>
                </a:solidFill>
                <a:latin typeface="Helvetica Neue Light"/>
                <a:ea typeface="Helvetica Neue Light"/>
                <a:cs typeface="Helvetica Neue Light"/>
                <a:sym typeface="Helvetica Neue Light"/>
              </a:rPr>
              <a:t>misma</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distancia</a:t>
            </a:r>
            <a:r>
              <a:rPr lang="en-GB" sz="1300" b="0" i="0" u="none" strike="noStrike" cap="none" dirty="0">
                <a:solidFill>
                  <a:schemeClr val="dk1"/>
                </a:solidFill>
                <a:latin typeface="Helvetica Neue Light"/>
                <a:ea typeface="Helvetica Neue Light"/>
                <a:cs typeface="Helvetica Neue Light"/>
                <a:sym typeface="Helvetica Neue Light"/>
              </a:rPr>
              <a:t> o </a:t>
            </a:r>
            <a:r>
              <a:rPr lang="en-GB" sz="1300" b="0" i="0" u="none" strike="noStrike" cap="none" dirty="0" err="1">
                <a:solidFill>
                  <a:schemeClr val="dk1"/>
                </a:solidFill>
                <a:latin typeface="Helvetica Neue Light"/>
                <a:ea typeface="Helvetica Neue Light"/>
                <a:cs typeface="Helvetica Neue Light"/>
                <a:sym typeface="Helvetica Neue Light"/>
              </a:rPr>
              <a:t>espaciado</a:t>
            </a:r>
            <a:r>
              <a:rPr lang="en-GB" sz="1300" b="0" i="0" u="none" strike="noStrike" cap="none" dirty="0">
                <a:solidFill>
                  <a:schemeClr val="dk1"/>
                </a:solidFill>
                <a:latin typeface="Helvetica Neue Light"/>
                <a:ea typeface="Helvetica Neue Light"/>
                <a:cs typeface="Helvetica Neue Light"/>
                <a:sym typeface="Helvetica Neue Light"/>
              </a:rPr>
              <a:t> entre </a:t>
            </a:r>
            <a:r>
              <a:rPr lang="en-GB" sz="1300" b="0" i="0" u="none" strike="noStrike" cap="none" dirty="0" err="1">
                <a:solidFill>
                  <a:schemeClr val="dk1"/>
                </a:solidFill>
                <a:latin typeface="Helvetica Neue Light"/>
                <a:ea typeface="Helvetica Neue Light"/>
                <a:cs typeface="Helvetica Neue Light"/>
                <a:sym typeface="Helvetica Neue Light"/>
              </a:rPr>
              <a:t>ellos</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dentro</a:t>
            </a:r>
            <a:r>
              <a:rPr lang="en-GB" sz="1300" b="0" i="0" u="none" strike="noStrike" cap="none" dirty="0">
                <a:solidFill>
                  <a:schemeClr val="dk1"/>
                </a:solidFill>
                <a:latin typeface="Helvetica Neue Light"/>
                <a:ea typeface="Helvetica Neue Light"/>
                <a:cs typeface="Helvetica Neue Light"/>
                <a:sym typeface="Helvetica Neue Light"/>
              </a:rPr>
              <a:t> del </a:t>
            </a:r>
            <a:r>
              <a:rPr lang="en-GB" sz="1300" b="0" i="0" u="none" strike="noStrike" cap="none" dirty="0" err="1">
                <a:solidFill>
                  <a:schemeClr val="dk1"/>
                </a:solidFill>
                <a:latin typeface="Helvetica Neue Light"/>
                <a:ea typeface="Helvetica Neue Light"/>
                <a:cs typeface="Helvetica Neue Light"/>
                <a:sym typeface="Helvetica Neue Light"/>
              </a:rPr>
              <a:t>contenedor</a:t>
            </a:r>
            <a:r>
              <a:rPr lang="en-GB" sz="1300" b="0" i="0" u="none" strike="noStrike" cap="none" dirty="0">
                <a:solidFill>
                  <a:schemeClr val="dk1"/>
                </a:solidFill>
                <a:latin typeface="Helvetica Neue Light"/>
                <a:ea typeface="Helvetica Neue Light"/>
                <a:cs typeface="Helvetica Neue Light"/>
                <a:sym typeface="Helvetica Neue Light"/>
              </a:rPr>
              <a:t> flexible, </a:t>
            </a:r>
            <a:r>
              <a:rPr lang="en-GB" sz="1300" b="0" i="0" u="none" strike="noStrike" cap="none" dirty="0" err="1">
                <a:solidFill>
                  <a:schemeClr val="dk1"/>
                </a:solidFill>
                <a:latin typeface="Helvetica Neue Light"/>
                <a:ea typeface="Helvetica Neue Light"/>
                <a:cs typeface="Helvetica Neue Light"/>
                <a:sym typeface="Helvetica Neue Light"/>
              </a:rPr>
              <a:t>quedando</a:t>
            </a:r>
            <a:r>
              <a:rPr lang="en-GB" sz="1300" b="0" i="0" u="none" strike="noStrike" cap="none" dirty="0">
                <a:solidFill>
                  <a:schemeClr val="dk1"/>
                </a:solidFill>
                <a:latin typeface="Helvetica Neue Light"/>
                <a:ea typeface="Helvetica Neue Light"/>
                <a:cs typeface="Helvetica Neue Light"/>
                <a:sym typeface="Helvetica Neue Light"/>
              </a:rPr>
              <a:t> el primer y </a:t>
            </a:r>
            <a:r>
              <a:rPr lang="en-GB" sz="1300" b="0" i="0" u="none" strike="noStrike" cap="none" dirty="0" err="1">
                <a:solidFill>
                  <a:schemeClr val="dk1"/>
                </a:solidFill>
                <a:latin typeface="Helvetica Neue Light"/>
                <a:ea typeface="Helvetica Neue Light"/>
                <a:cs typeface="Helvetica Neue Light"/>
                <a:sym typeface="Helvetica Neue Light"/>
              </a:rPr>
              <a:t>último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elemento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pegados</a:t>
            </a:r>
            <a:r>
              <a:rPr lang="en-GB" sz="1300" b="0" i="0" u="none" strike="noStrike" cap="none" dirty="0">
                <a:solidFill>
                  <a:schemeClr val="dk1"/>
                </a:solidFill>
                <a:latin typeface="Helvetica Neue Light"/>
                <a:ea typeface="Helvetica Neue Light"/>
                <a:cs typeface="Helvetica Neue Light"/>
                <a:sym typeface="Helvetica Neue Light"/>
              </a:rPr>
              <a:t> con los </a:t>
            </a:r>
            <a:r>
              <a:rPr lang="en-GB" sz="1300" b="0" i="0" u="none" strike="noStrike" cap="none" dirty="0" err="1">
                <a:solidFill>
                  <a:schemeClr val="dk1"/>
                </a:solidFill>
                <a:latin typeface="Helvetica Neue Light"/>
                <a:ea typeface="Helvetica Neue Light"/>
                <a:cs typeface="Helvetica Neue Light"/>
                <a:sym typeface="Helvetica Neue Light"/>
              </a:rPr>
              <a:t>bordes</a:t>
            </a:r>
            <a:r>
              <a:rPr lang="en-GB" sz="1300" b="0" i="0" u="none" strike="noStrike" cap="none" dirty="0">
                <a:solidFill>
                  <a:schemeClr val="dk1"/>
                </a:solidFill>
                <a:latin typeface="Helvetica Neue Light"/>
                <a:ea typeface="Helvetica Neue Light"/>
                <a:cs typeface="Helvetica Neue Light"/>
                <a:sym typeface="Helvetica Neue Light"/>
              </a:rPr>
              <a:t> del </a:t>
            </a:r>
            <a:r>
              <a:rPr lang="en-GB" sz="1300" b="0" i="0" u="none" strike="noStrike" cap="none" dirty="0" err="1">
                <a:solidFill>
                  <a:schemeClr val="dk1"/>
                </a:solidFill>
                <a:latin typeface="Helvetica Neue Light"/>
                <a:ea typeface="Helvetica Neue Light"/>
                <a:cs typeface="Helvetica Neue Light"/>
                <a:sym typeface="Helvetica Neue Light"/>
              </a:rPr>
              <a:t>contenedor</a:t>
            </a:r>
            <a:r>
              <a:rPr lang="en-GB" sz="1300" b="0" i="0" u="none" strike="noStrike" cap="none" dirty="0">
                <a:solidFill>
                  <a:schemeClr val="dk1"/>
                </a:solidFill>
                <a:latin typeface="Helvetica Neue Light"/>
                <a:ea typeface="Helvetica Neue Light"/>
                <a:cs typeface="Helvetica Neue Light"/>
                <a:sym typeface="Helvetica Neue Light"/>
              </a:rPr>
              <a:t> en el </a:t>
            </a:r>
            <a:r>
              <a:rPr lang="en-GB" sz="1300" b="0" i="0" u="none" strike="noStrike" cap="none" dirty="0" err="1">
                <a:solidFill>
                  <a:schemeClr val="dk1"/>
                </a:solidFill>
                <a:latin typeface="Helvetica Neue Light"/>
                <a:ea typeface="Helvetica Neue Light"/>
                <a:cs typeface="Helvetica Neue Light"/>
                <a:sym typeface="Helvetica Neue Light"/>
              </a:rPr>
              <a:t>eje</a:t>
            </a:r>
            <a:r>
              <a:rPr lang="en-GB" sz="1300" b="0" i="0" u="none" strike="noStrike" cap="none" dirty="0">
                <a:solidFill>
                  <a:schemeClr val="dk1"/>
                </a:solidFill>
                <a:latin typeface="Helvetica Neue Light"/>
                <a:ea typeface="Helvetica Neue Light"/>
                <a:cs typeface="Helvetica Neue Light"/>
                <a:sym typeface="Helvetica Neue Light"/>
              </a:rPr>
              <a:t> principal.</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Space-around (justify-content):</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muestra</a:t>
            </a:r>
            <a:r>
              <a:rPr lang="en-GB" sz="1300" b="0" i="0" u="none" strike="noStrike" cap="none" dirty="0">
                <a:solidFill>
                  <a:schemeClr val="dk1"/>
                </a:solidFill>
                <a:latin typeface="Helvetica Neue Light"/>
                <a:ea typeface="Helvetica Neue Light"/>
                <a:cs typeface="Helvetica Neue Light"/>
                <a:sym typeface="Helvetica Neue Light"/>
              </a:rPr>
              <a:t>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con el </a:t>
            </a:r>
            <a:r>
              <a:rPr lang="en-GB" sz="1300" b="0" i="0" u="none" strike="noStrike" cap="none" dirty="0" err="1">
                <a:solidFill>
                  <a:schemeClr val="dk1"/>
                </a:solidFill>
                <a:latin typeface="Helvetica Neue Light"/>
                <a:ea typeface="Helvetica Neue Light"/>
                <a:cs typeface="Helvetica Neue Light"/>
                <a:sym typeface="Helvetica Neue Light"/>
              </a:rPr>
              <a:t>mismo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espacio</a:t>
            </a:r>
            <a:r>
              <a:rPr lang="en-GB" sz="1300" b="0" i="0" u="none" strike="noStrike" cap="none" dirty="0">
                <a:solidFill>
                  <a:schemeClr val="dk1"/>
                </a:solidFill>
                <a:latin typeface="Helvetica Neue Light"/>
                <a:ea typeface="Helvetica Neue Light"/>
                <a:cs typeface="Helvetica Neue Light"/>
                <a:sym typeface="Helvetica Neue Light"/>
              </a:rPr>
              <a:t> de </a:t>
            </a:r>
            <a:r>
              <a:rPr lang="en-GB" sz="1300" b="0" i="0" u="none" strike="noStrike" cap="none" dirty="0" err="1">
                <a:solidFill>
                  <a:schemeClr val="dk1"/>
                </a:solidFill>
                <a:latin typeface="Helvetica Neue Light"/>
                <a:ea typeface="Helvetica Neue Light"/>
                <a:cs typeface="Helvetica Neue Light"/>
                <a:sym typeface="Helvetica Neue Light"/>
              </a:rPr>
              <a:t>separación</a:t>
            </a:r>
            <a:r>
              <a:rPr lang="en-GB" sz="1300" b="0" i="0" u="none" strike="noStrike" cap="none" dirty="0">
                <a:solidFill>
                  <a:schemeClr val="dk1"/>
                </a:solidFill>
                <a:latin typeface="Helvetica Neue Light"/>
                <a:ea typeface="Helvetica Neue Light"/>
                <a:cs typeface="Helvetica Neue Light"/>
                <a:sym typeface="Helvetica Neue Light"/>
              </a:rPr>
              <a:t> entre </a:t>
            </a:r>
            <a:r>
              <a:rPr lang="en-GB" sz="1300" b="0" i="0" u="none" strike="noStrike" cap="none" dirty="0" err="1">
                <a:solidFill>
                  <a:schemeClr val="dk1"/>
                </a:solidFill>
                <a:latin typeface="Helvetica Neue Light"/>
                <a:ea typeface="Helvetica Neue Light"/>
                <a:cs typeface="Helvetica Neue Light"/>
                <a:sym typeface="Helvetica Neue Light"/>
              </a:rPr>
              <a:t>sí</a:t>
            </a:r>
            <a:r>
              <a:rPr lang="en-GB" sz="1300" b="0" i="0" u="none" strike="noStrike" cap="none" dirty="0">
                <a:solidFill>
                  <a:schemeClr val="dk1"/>
                </a:solidFill>
                <a:latin typeface="Helvetica Neue Light"/>
                <a:ea typeface="Helvetica Neue Light"/>
                <a:cs typeface="Helvetica Neue Light"/>
                <a:sym typeface="Helvetica Neue Light"/>
              </a:rPr>
              <a:t>. El </a:t>
            </a:r>
            <a:r>
              <a:rPr lang="en-GB" sz="1300" b="0" i="0" u="none" strike="noStrike" cap="none" dirty="0" err="1">
                <a:solidFill>
                  <a:schemeClr val="dk1"/>
                </a:solidFill>
                <a:latin typeface="Helvetica Neue Light"/>
                <a:ea typeface="Helvetica Neue Light"/>
                <a:cs typeface="Helvetica Neue Light"/>
                <a:sym typeface="Helvetica Neue Light"/>
              </a:rPr>
              <a:t>espaciado</a:t>
            </a:r>
            <a:r>
              <a:rPr lang="en-GB" sz="1300" b="0" i="0" u="none" strike="noStrike" cap="none" dirty="0">
                <a:solidFill>
                  <a:schemeClr val="dk1"/>
                </a:solidFill>
                <a:latin typeface="Helvetica Neue Light"/>
                <a:ea typeface="Helvetica Neue Light"/>
                <a:cs typeface="Helvetica Neue Light"/>
                <a:sym typeface="Helvetica Neue Light"/>
              </a:rPr>
              <a:t> entre los </a:t>
            </a:r>
            <a:r>
              <a:rPr lang="en-GB" sz="1300" b="0" i="0" u="none" strike="noStrike" cap="none" dirty="0" err="1">
                <a:solidFill>
                  <a:schemeClr val="dk1"/>
                </a:solidFill>
                <a:latin typeface="Helvetica Neue Light"/>
                <a:ea typeface="Helvetica Neue Light"/>
                <a:cs typeface="Helvetica Neue Light"/>
                <a:sym typeface="Helvetica Neue Light"/>
              </a:rPr>
              <a:t>bordes</a:t>
            </a:r>
            <a:r>
              <a:rPr lang="en-GB" sz="1300" b="0" i="0" u="none" strike="noStrike" cap="none" dirty="0">
                <a:solidFill>
                  <a:schemeClr val="dk1"/>
                </a:solidFill>
                <a:latin typeface="Helvetica Neue Light"/>
                <a:ea typeface="Helvetica Neue Light"/>
                <a:cs typeface="Helvetica Neue Light"/>
                <a:sym typeface="Helvetica Neue Light"/>
              </a:rPr>
              <a:t> lo </a:t>
            </a:r>
            <a:r>
              <a:rPr lang="en-GB" sz="1300" b="0" i="0" u="none" strike="noStrike" cap="none" dirty="0" err="1">
                <a:solidFill>
                  <a:schemeClr val="dk1"/>
                </a:solidFill>
                <a:latin typeface="Helvetica Neue Light"/>
                <a:ea typeface="Helvetica Neue Light"/>
                <a:cs typeface="Helvetica Neue Light"/>
                <a:sym typeface="Helvetica Neue Light"/>
              </a:rPr>
              <a:t>toman</a:t>
            </a:r>
            <a:r>
              <a:rPr lang="en-GB" sz="1300" b="0" i="0" u="none" strike="noStrike" cap="none" dirty="0">
                <a:solidFill>
                  <a:schemeClr val="dk1"/>
                </a:solidFill>
                <a:latin typeface="Helvetica Neue Light"/>
                <a:ea typeface="Helvetica Neue Light"/>
                <a:cs typeface="Helvetica Neue Light"/>
                <a:sym typeface="Helvetica Neue Light"/>
              </a:rPr>
              <a:t> del </a:t>
            </a:r>
            <a:r>
              <a:rPr lang="en-GB" sz="1300" b="0" i="0" u="none" strike="noStrike" cap="none" dirty="0" err="1">
                <a:solidFill>
                  <a:schemeClr val="dk1"/>
                </a:solidFill>
                <a:latin typeface="Helvetica Neue Light"/>
                <a:ea typeface="Helvetica Neue Light"/>
                <a:cs typeface="Helvetica Neue Light"/>
                <a:sym typeface="Helvetica Neue Light"/>
              </a:rPr>
              <a:t>contenedor</a:t>
            </a:r>
            <a:r>
              <a:rPr lang="en-GB" sz="1300" b="0" i="0" u="none" strike="noStrike" cap="none" dirty="0">
                <a:solidFill>
                  <a:schemeClr val="dk1"/>
                </a:solidFill>
                <a:latin typeface="Helvetica Neue Light"/>
                <a:ea typeface="Helvetica Neue Light"/>
                <a:cs typeface="Helvetica Neue Light"/>
                <a:sym typeface="Helvetica Neue Light"/>
              </a:rPr>
              <a:t> padre.</a:t>
            </a: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dirty="0">
                <a:solidFill>
                  <a:schemeClr val="dk1"/>
                </a:solidFill>
                <a:latin typeface="Helvetica Neue"/>
                <a:ea typeface="Helvetica Neue"/>
                <a:cs typeface="Helvetica Neue"/>
                <a:sym typeface="Helvetica Neue"/>
              </a:rPr>
              <a:t>Space-evenly:</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hace</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que</a:t>
            </a:r>
            <a:r>
              <a:rPr lang="en-GB" sz="1300" b="0" i="0" u="none" strike="noStrike" cap="none" dirty="0">
                <a:solidFill>
                  <a:schemeClr val="dk1"/>
                </a:solidFill>
                <a:latin typeface="Helvetica Neue Light"/>
                <a:ea typeface="Helvetica Neue Light"/>
                <a:cs typeface="Helvetica Neue Light"/>
                <a:sym typeface="Helvetica Neue Light"/>
              </a:rPr>
              <a:t> el </a:t>
            </a:r>
            <a:r>
              <a:rPr lang="en-GB" sz="1300" b="0" i="0" u="none" strike="noStrike" cap="none" dirty="0" err="1">
                <a:solidFill>
                  <a:schemeClr val="dk1"/>
                </a:solidFill>
                <a:latin typeface="Helvetica Neue Light"/>
                <a:ea typeface="Helvetica Neue Light"/>
                <a:cs typeface="Helvetica Neue Light"/>
                <a:sym typeface="Helvetica Neue Light"/>
              </a:rPr>
              <a:t>espacio</a:t>
            </a:r>
            <a:r>
              <a:rPr lang="en-GB" sz="1300" b="0" i="0" u="none" strike="noStrike" cap="none" dirty="0">
                <a:solidFill>
                  <a:schemeClr val="dk1"/>
                </a:solidFill>
                <a:latin typeface="Helvetica Neue Light"/>
                <a:ea typeface="Helvetica Neue Light"/>
                <a:cs typeface="Helvetica Neue Light"/>
                <a:sym typeface="Helvetica Neue Light"/>
              </a:rPr>
              <a:t> entre los flex items (</a:t>
            </a:r>
            <a:r>
              <a:rPr lang="en-GB" sz="1300" b="0" i="0" u="none" strike="noStrike" cap="none" dirty="0" err="1">
                <a:solidFill>
                  <a:schemeClr val="dk1"/>
                </a:solidFill>
                <a:latin typeface="Helvetica Neue Light"/>
                <a:ea typeface="Helvetica Neue Light"/>
                <a:cs typeface="Helvetica Neue Light"/>
                <a:sym typeface="Helvetica Neue Light"/>
              </a:rPr>
              <a:t>hijos</a:t>
            </a:r>
            <a:r>
              <a:rPr lang="en-GB" sz="1300" b="0" i="0" u="none" strike="noStrike" cap="none" dirty="0">
                <a:solidFill>
                  <a:schemeClr val="dk1"/>
                </a:solidFill>
                <a:latin typeface="Helvetica Neue Light"/>
                <a:ea typeface="Helvetica Neue Light"/>
                <a:cs typeface="Helvetica Neue Light"/>
                <a:sym typeface="Helvetica Neue Light"/>
              </a:rPr>
              <a:t>) sea </a:t>
            </a:r>
            <a:r>
              <a:rPr lang="en-GB" sz="1300" b="0" i="0" u="none" strike="noStrike" cap="none" dirty="0" err="1">
                <a:solidFill>
                  <a:schemeClr val="dk1"/>
                </a:solidFill>
                <a:latin typeface="Helvetica Neue Light"/>
                <a:ea typeface="Helvetica Neue Light"/>
                <a:cs typeface="Helvetica Neue Light"/>
                <a:sym typeface="Helvetica Neue Light"/>
              </a:rPr>
              <a:t>igual</a:t>
            </a:r>
            <a:r>
              <a:rPr lang="en-GB" sz="1300" b="0" i="0" u="none" strike="noStrike" cap="none" dirty="0">
                <a:solidFill>
                  <a:schemeClr val="dk1"/>
                </a:solidFill>
                <a:latin typeface="Helvetica Neue Light"/>
                <a:ea typeface="Helvetica Neue Light"/>
                <a:cs typeface="Helvetica Neue Light"/>
                <a:sym typeface="Helvetica Neue Light"/>
              </a:rPr>
              <a:t>. No </a:t>
            </a:r>
            <a:r>
              <a:rPr lang="en-GB" sz="1300" b="0" i="0" u="none" strike="noStrike" cap="none" dirty="0" err="1">
                <a:solidFill>
                  <a:schemeClr val="dk1"/>
                </a:solidFill>
                <a:latin typeface="Helvetica Neue Light"/>
                <a:ea typeface="Helvetica Neue Light"/>
                <a:cs typeface="Helvetica Neue Light"/>
                <a:sym typeface="Helvetica Neue Light"/>
              </a:rPr>
              <a:t>es</a:t>
            </a:r>
            <a:r>
              <a:rPr lang="en-GB" sz="1300" b="0" i="0" u="none" strike="noStrike" cap="none" dirty="0">
                <a:solidFill>
                  <a:schemeClr val="dk1"/>
                </a:solidFill>
                <a:latin typeface="Helvetica Neue Light"/>
                <a:ea typeface="Helvetica Neue Light"/>
                <a:cs typeface="Helvetica Neue Light"/>
                <a:sym typeface="Helvetica Neue Light"/>
              </a:rPr>
              <a:t> lo </a:t>
            </a:r>
            <a:r>
              <a:rPr lang="en-GB" sz="1300" b="0" i="0" u="none" strike="noStrike" cap="none" dirty="0" err="1">
                <a:solidFill>
                  <a:schemeClr val="dk1"/>
                </a:solidFill>
                <a:latin typeface="Helvetica Neue Light"/>
                <a:ea typeface="Helvetica Neue Light"/>
                <a:cs typeface="Helvetica Neue Light"/>
                <a:sym typeface="Helvetica Neue Light"/>
              </a:rPr>
              <a:t>mismo</a:t>
            </a:r>
            <a:r>
              <a:rPr lang="en-GB" sz="1300" b="0" i="0" u="none" strike="noStrike" cap="none" dirty="0">
                <a:solidFill>
                  <a:schemeClr val="dk1"/>
                </a:solidFill>
                <a:latin typeface="Helvetica Neue Light"/>
                <a:ea typeface="Helvetica Neue Light"/>
                <a:cs typeface="Helvetica Neue Light"/>
                <a:sym typeface="Helvetica Neue Light"/>
              </a:rPr>
              <a:t> </a:t>
            </a:r>
            <a:r>
              <a:rPr lang="en-GB" sz="1300" b="0" i="0" u="none" strike="noStrike" cap="none" dirty="0" err="1">
                <a:solidFill>
                  <a:schemeClr val="dk1"/>
                </a:solidFill>
                <a:latin typeface="Helvetica Neue Light"/>
                <a:ea typeface="Helvetica Neue Light"/>
                <a:cs typeface="Helvetica Neue Light"/>
                <a:sym typeface="Helvetica Neue Light"/>
              </a:rPr>
              <a:t>que</a:t>
            </a:r>
            <a:r>
              <a:rPr lang="en-GB" sz="1300" b="0" i="0" u="none" strike="noStrike" cap="none" dirty="0">
                <a:solidFill>
                  <a:schemeClr val="dk1"/>
                </a:solidFill>
                <a:latin typeface="Helvetica Neue Light"/>
                <a:ea typeface="Helvetica Neue Light"/>
                <a:cs typeface="Helvetica Neue Light"/>
                <a:sym typeface="Helvetica Neue Light"/>
              </a:rPr>
              <a:t> space-around. </a:t>
            </a:r>
            <a:endParaRPr sz="1300" b="0" i="0" u="none" strike="noStrike" cap="none" dirty="0">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dirty="0">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dirty="0">
              <a:solidFill>
                <a:schemeClr val="dk1"/>
              </a:solidFill>
              <a:latin typeface="Helvetica Neue Light"/>
              <a:ea typeface="Helvetica Neue Light"/>
              <a:cs typeface="Helvetica Neue Light"/>
              <a:sym typeface="Helvetica Neue Light"/>
            </a:endParaRPr>
          </a:p>
          <a:p>
            <a:pPr marL="457200" marR="0" lvl="0" indent="0" algn="l" rtl="0">
              <a:lnSpc>
                <a:spcPct val="115000"/>
              </a:lnSpc>
              <a:spcBef>
                <a:spcPts val="0"/>
              </a:spcBef>
              <a:spcAft>
                <a:spcPts val="0"/>
              </a:spcAft>
              <a:buClr>
                <a:srgbClr val="000000"/>
              </a:buClr>
              <a:buSzPts val="1300"/>
              <a:buFont typeface="Arial"/>
              <a:buNone/>
            </a:pPr>
            <a:endParaRPr sz="1300" b="0" i="0" u="none" strike="noStrike" cap="none" dirty="0">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dirty="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2"/>
          <p:cNvSpPr txBox="1"/>
          <p:nvPr/>
        </p:nvSpPr>
        <p:spPr>
          <a:xfrm>
            <a:off x="483500" y="1237775"/>
            <a:ext cx="3924900" cy="36000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Stretch (align-items):</a:t>
            </a:r>
            <a:r>
              <a:rPr lang="en-GB" sz="1300" b="0" i="0" u="none" strike="noStrike" cap="none">
                <a:solidFill>
                  <a:schemeClr val="dk1"/>
                </a:solidFill>
                <a:latin typeface="Helvetica Neue Light"/>
                <a:ea typeface="Helvetica Neue Light"/>
                <a:cs typeface="Helvetica Neue Light"/>
                <a:sym typeface="Helvetica Neue Light"/>
              </a:rPr>
              <a:t> tratará de llenar toda la altura (o anchura) del contenedor, siempre y cuando los hijos no tengan propiedades de dimensión definidas.</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Align-content:</a:t>
            </a:r>
            <a:r>
              <a:rPr lang="en-GB" sz="1300" b="0" i="0" u="none" strike="noStrike" cap="none">
                <a:solidFill>
                  <a:schemeClr val="dk1"/>
                </a:solidFill>
                <a:latin typeface="Helvetica Neue Light"/>
                <a:ea typeface="Helvetica Neue Light"/>
                <a:cs typeface="Helvetica Neue Light"/>
                <a:sym typeface="Helvetica Neue Light"/>
              </a:rPr>
              <a:t> esta propiedad sólo tiene efecto cuando el contenedor flexible tiene varias líneas de flex items (hijos). Si se colocan en una sola línea, esta propiedad no tiene ningún efecto sobre el diseño.</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Order:</a:t>
            </a:r>
            <a:r>
              <a:rPr lang="en-GB" sz="1300" b="0" i="0" u="none" strike="noStrike" cap="none">
                <a:solidFill>
                  <a:schemeClr val="dk1"/>
                </a:solidFill>
                <a:latin typeface="Helvetica Neue Light"/>
                <a:ea typeface="Helvetica Neue Light"/>
                <a:cs typeface="Helvetica Neue Light"/>
                <a:sym typeface="Helvetica Neue Light"/>
              </a:rPr>
              <a:t> esta propiedad permite modificar el orden de aparición de un elemento. Recibe como valor numeros enteros.</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Flex-basis:</a:t>
            </a:r>
            <a:r>
              <a:rPr lang="en-GB" sz="1300" b="0" i="0" u="none" strike="noStrike" cap="none">
                <a:solidFill>
                  <a:schemeClr val="dk1"/>
                </a:solidFill>
                <a:latin typeface="Helvetica Neue Light"/>
                <a:ea typeface="Helvetica Neue Light"/>
                <a:cs typeface="Helvetica Neue Light"/>
                <a:sym typeface="Helvetica Neue Light"/>
              </a:rPr>
              <a:t> define el ancho de un elemento inicial. Este valor por defecto viene configurado en “auto”. Actúa como “máximo” o “mínimo”, al usar flex-grow o flex-shrink.</a:t>
            </a: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p:txBody>
      </p:sp>
      <p:sp>
        <p:nvSpPr>
          <p:cNvPr id="151" name="Google Shape;151;p32"/>
          <p:cNvSpPr txBox="1"/>
          <p:nvPr/>
        </p:nvSpPr>
        <p:spPr>
          <a:xfrm>
            <a:off x="196487" y="129075"/>
            <a:ext cx="8423100" cy="98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500"/>
              <a:buFont typeface="Arial"/>
              <a:buNone/>
            </a:pPr>
            <a:r>
              <a:rPr lang="en-GB" sz="4500" b="0" i="1" u="none" strike="noStrike" cap="none">
                <a:solidFill>
                  <a:srgbClr val="000000"/>
                </a:solidFill>
                <a:latin typeface="Anton"/>
                <a:ea typeface="Anton"/>
                <a:cs typeface="Anton"/>
                <a:sym typeface="Anton"/>
              </a:rPr>
              <a:t>GLOSARIO:</a:t>
            </a:r>
            <a:endParaRPr sz="4500" b="0" i="1" u="none" strike="noStrike" cap="none">
              <a:solidFill>
                <a:srgbClr val="000000"/>
              </a:solidFill>
              <a:latin typeface="Anton"/>
              <a:ea typeface="Anton"/>
              <a:cs typeface="Anton"/>
              <a:sym typeface="Anton"/>
            </a:endParaRPr>
          </a:p>
          <a:p>
            <a:pPr marL="0" marR="0" lvl="0" indent="0" algn="l" rtl="0">
              <a:lnSpc>
                <a:spcPct val="100000"/>
              </a:lnSpc>
              <a:spcBef>
                <a:spcPts val="0"/>
              </a:spcBef>
              <a:spcAft>
                <a:spcPts val="0"/>
              </a:spcAft>
              <a:buClr>
                <a:srgbClr val="000000"/>
              </a:buClr>
              <a:buSzPts val="4500"/>
              <a:buFont typeface="Arial"/>
              <a:buNone/>
            </a:pPr>
            <a:r>
              <a:rPr lang="en-GB" sz="2000" b="0" i="1" u="none" strike="noStrike" cap="none">
                <a:solidFill>
                  <a:srgbClr val="000000"/>
                </a:solidFill>
                <a:latin typeface="Anton"/>
                <a:ea typeface="Anton"/>
                <a:cs typeface="Anton"/>
                <a:sym typeface="Anton"/>
              </a:rPr>
              <a:t>Clase 6</a:t>
            </a:r>
            <a:endParaRPr sz="2000" b="0" i="1" u="none" strike="noStrike" cap="none">
              <a:solidFill>
                <a:srgbClr val="000000"/>
              </a:solidFill>
              <a:latin typeface="Anton"/>
              <a:ea typeface="Anton"/>
              <a:cs typeface="Anton"/>
              <a:sym typeface="Anton"/>
            </a:endParaRPr>
          </a:p>
        </p:txBody>
      </p:sp>
      <p:pic>
        <p:nvPicPr>
          <p:cNvPr id="152" name="Google Shape;152;p3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153" name="Google Shape;153;p32"/>
          <p:cNvSpPr txBox="1"/>
          <p:nvPr/>
        </p:nvSpPr>
        <p:spPr>
          <a:xfrm>
            <a:off x="4750700" y="1237775"/>
            <a:ext cx="3924900" cy="36000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Flex-grow:</a:t>
            </a:r>
            <a:r>
              <a:rPr lang="en-GB" sz="1300" b="0" i="0" u="none" strike="noStrike" cap="none">
                <a:solidFill>
                  <a:schemeClr val="dk1"/>
                </a:solidFill>
                <a:latin typeface="Helvetica Neue Light"/>
                <a:ea typeface="Helvetica Neue Light"/>
                <a:cs typeface="Helvetica Neue Light"/>
                <a:sym typeface="Helvetica Neue Light"/>
              </a:rPr>
              <a:t> esta propiedad define la capacidad de un elemento de crecer, cuando en el contenedor todavía hay espacio sobrante.</a:t>
            </a: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311150" algn="l" rtl="0">
              <a:lnSpc>
                <a:spcPct val="115000"/>
              </a:lnSpc>
              <a:spcBef>
                <a:spcPts val="0"/>
              </a:spcBef>
              <a:spcAft>
                <a:spcPts val="0"/>
              </a:spcAft>
              <a:buClr>
                <a:schemeClr val="dk1"/>
              </a:buClr>
              <a:buSzPts val="1300"/>
              <a:buFont typeface="Helvetica Neue Light"/>
              <a:buChar char="●"/>
            </a:pPr>
            <a:r>
              <a:rPr lang="en-GB" sz="1300" b="1" i="0" u="none" strike="noStrike" cap="none">
                <a:solidFill>
                  <a:schemeClr val="dk1"/>
                </a:solidFill>
                <a:latin typeface="Helvetica Neue"/>
                <a:ea typeface="Helvetica Neue"/>
                <a:cs typeface="Helvetica Neue"/>
                <a:sym typeface="Helvetica Neue"/>
              </a:rPr>
              <a:t>Flex-shrink: </a:t>
            </a:r>
            <a:r>
              <a:rPr lang="en-GB" sz="1300" b="0" i="0" u="none" strike="noStrike" cap="none">
                <a:solidFill>
                  <a:schemeClr val="dk1"/>
                </a:solidFill>
                <a:latin typeface="Helvetica Neue Light"/>
                <a:ea typeface="Helvetica Neue Light"/>
                <a:cs typeface="Helvetica Neue Light"/>
                <a:sym typeface="Helvetica Neue Light"/>
              </a:rPr>
              <a:t>básicamente es lo mismo que flex-grow, pero con el espacio faltante.</a:t>
            </a: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a:p>
            <a:pPr marL="45720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300"/>
              <a:buFont typeface="Arial"/>
              <a:buNone/>
            </a:pPr>
            <a:endParaRPr sz="1300" b="0" i="0" u="none" strike="noStrike" cap="non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EF89D2"/>
            </a:gs>
            <a:gs pos="100000">
              <a:srgbClr val="E0FF00"/>
            </a:gs>
          </a:gsLst>
          <a:lin ang="10800025" scaled="0"/>
        </a:gradFill>
        <a:effectLst/>
      </p:bgPr>
    </p:bg>
    <p:spTree>
      <p:nvGrpSpPr>
        <p:cNvPr id="1" name="Shape 157"/>
        <p:cNvGrpSpPr/>
        <p:nvPr/>
      </p:nvGrpSpPr>
      <p:grpSpPr>
        <a:xfrm>
          <a:off x="0" y="0"/>
          <a:ext cx="0" cy="0"/>
          <a:chOff x="0" y="0"/>
          <a:chExt cx="0" cy="0"/>
        </a:xfrm>
      </p:grpSpPr>
      <p:sp>
        <p:nvSpPr>
          <p:cNvPr id="158" name="Google Shape;158;p33"/>
          <p:cNvSpPr txBox="1"/>
          <p:nvPr/>
        </p:nvSpPr>
        <p:spPr>
          <a:xfrm>
            <a:off x="1398000" y="2077200"/>
            <a:ext cx="63480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121212"/>
                </a:solidFill>
                <a:latin typeface="Anton"/>
                <a:ea typeface="Anton"/>
                <a:cs typeface="Anton"/>
                <a:sym typeface="Anton"/>
              </a:rPr>
              <a:t>MAPA DE CONCEPTOS</a:t>
            </a:r>
            <a:endParaRPr sz="3600" b="0" i="1" u="none" strike="noStrike" cap="none">
              <a:solidFill>
                <a:srgbClr val="121212"/>
              </a:solidFill>
              <a:latin typeface="Anton"/>
              <a:ea typeface="Anton"/>
              <a:cs typeface="Anton"/>
              <a:sym typeface="Anton"/>
            </a:endParaRPr>
          </a:p>
        </p:txBody>
      </p:sp>
      <p:pic>
        <p:nvPicPr>
          <p:cNvPr id="159" name="Google Shape;159;p33"/>
          <p:cNvPicPr preferRelativeResize="0"/>
          <p:nvPr/>
        </p:nvPicPr>
        <p:blipFill rotWithShape="1">
          <a:blip r:embed="rId3">
            <a:alphaModFix/>
          </a:blip>
          <a:srcRect/>
          <a:stretch/>
        </p:blipFill>
        <p:spPr>
          <a:xfrm>
            <a:off x="7567925" y="4659625"/>
            <a:ext cx="1186526" cy="330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sp>
        <p:nvSpPr>
          <p:cNvPr id="164" name="Google Shape;164;p34"/>
          <p:cNvSpPr txBox="1">
            <a:spLocks noGrp="1"/>
          </p:cNvSpPr>
          <p:nvPr>
            <p:ph type="ctrTitle"/>
          </p:nvPr>
        </p:nvSpPr>
        <p:spPr>
          <a:xfrm>
            <a:off x="176575" y="199288"/>
            <a:ext cx="7552800" cy="422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r>
              <a:rPr lang="en-GB" sz="2000" i="1">
                <a:latin typeface="Anton"/>
                <a:ea typeface="Anton"/>
                <a:cs typeface="Anton"/>
                <a:sym typeface="Anton"/>
              </a:rPr>
              <a:t>MAPA DE CONCEPTOS CLASE 7</a:t>
            </a:r>
            <a:endParaRPr sz="2000" i="1">
              <a:latin typeface="Anton"/>
              <a:ea typeface="Anton"/>
              <a:cs typeface="Anton"/>
              <a:sym typeface="Anton"/>
            </a:endParaRPr>
          </a:p>
        </p:txBody>
      </p:sp>
      <p:pic>
        <p:nvPicPr>
          <p:cNvPr id="165" name="Google Shape;165;p34"/>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166" name="Google Shape;166;p34"/>
          <p:cNvPicPr preferRelativeResize="0"/>
          <p:nvPr/>
        </p:nvPicPr>
        <p:blipFill rotWithShape="1">
          <a:blip r:embed="rId4">
            <a:alphaModFix/>
          </a:blip>
          <a:srcRect/>
          <a:stretch/>
        </p:blipFill>
        <p:spPr>
          <a:xfrm>
            <a:off x="7423862" y="90575"/>
            <a:ext cx="1634174" cy="639850"/>
          </a:xfrm>
          <a:prstGeom prst="rect">
            <a:avLst/>
          </a:prstGeom>
          <a:noFill/>
          <a:ln>
            <a:noFill/>
          </a:ln>
        </p:spPr>
      </p:pic>
      <p:cxnSp>
        <p:nvCxnSpPr>
          <p:cNvPr id="167" name="Google Shape;167;p34"/>
          <p:cNvCxnSpPr/>
          <p:nvPr/>
        </p:nvCxnSpPr>
        <p:spPr>
          <a:xfrm>
            <a:off x="1353025" y="1775166"/>
            <a:ext cx="0" cy="684600"/>
          </a:xfrm>
          <a:prstGeom prst="straightConnector1">
            <a:avLst/>
          </a:prstGeom>
          <a:noFill/>
          <a:ln w="9525" cap="flat" cmpd="sng">
            <a:solidFill>
              <a:srgbClr val="CCCCCC"/>
            </a:solidFill>
            <a:prstDash val="solid"/>
            <a:round/>
            <a:headEnd type="oval" w="med" len="med"/>
            <a:tailEnd type="oval" w="med" len="med"/>
          </a:ln>
        </p:spPr>
      </p:cxnSp>
      <p:sp>
        <p:nvSpPr>
          <p:cNvPr id="168" name="Google Shape;168;p34"/>
          <p:cNvSpPr/>
          <p:nvPr/>
        </p:nvSpPr>
        <p:spPr>
          <a:xfrm>
            <a:off x="618500" y="1152978"/>
            <a:ext cx="1452900" cy="602400"/>
          </a:xfrm>
          <a:prstGeom prst="rect">
            <a:avLst/>
          </a:prstGeom>
          <a:solidFill>
            <a:srgbClr val="43434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FFFFFF"/>
                </a:solidFill>
                <a:latin typeface="Helvetica Neue"/>
                <a:ea typeface="Helvetica Neue"/>
                <a:cs typeface="Helvetica Neue"/>
                <a:sym typeface="Helvetica Neue"/>
              </a:rPr>
              <a:t>Grids </a:t>
            </a:r>
            <a:endParaRPr sz="1100" b="0" i="0" u="none" strike="noStrike" cap="none">
              <a:solidFill>
                <a:srgbClr val="FFFFFF"/>
              </a:solidFill>
              <a:latin typeface="Helvetica Neue"/>
              <a:ea typeface="Helvetica Neue"/>
              <a:cs typeface="Helvetica Neue"/>
              <a:sym typeface="Helvetica Neue"/>
            </a:endParaRPr>
          </a:p>
        </p:txBody>
      </p:sp>
      <p:sp>
        <p:nvSpPr>
          <p:cNvPr id="169" name="Google Shape;169;p34"/>
          <p:cNvSpPr/>
          <p:nvPr/>
        </p:nvSpPr>
        <p:spPr>
          <a:xfrm>
            <a:off x="618500" y="2479550"/>
            <a:ext cx="1452900" cy="602400"/>
          </a:xfrm>
          <a:prstGeom prst="rect">
            <a:avLst/>
          </a:prstGeom>
          <a:solidFill>
            <a:srgbClr val="43434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FFFFFF"/>
                </a:solidFill>
                <a:latin typeface="Helvetica Neue"/>
                <a:ea typeface="Helvetica Neue"/>
                <a:cs typeface="Helvetica Neue"/>
                <a:sym typeface="Helvetica Neue"/>
              </a:rPr>
              <a:t>Grids Mobile First</a:t>
            </a:r>
            <a:endParaRPr sz="1100" b="0" i="0" u="none" strike="noStrike" cap="none">
              <a:solidFill>
                <a:srgbClr val="FFFFFF"/>
              </a:solidFill>
              <a:latin typeface="Helvetica Neue"/>
              <a:ea typeface="Helvetica Neue"/>
              <a:cs typeface="Helvetica Neue"/>
              <a:sym typeface="Helvetica Neue"/>
            </a:endParaRPr>
          </a:p>
        </p:txBody>
      </p:sp>
      <p:cxnSp>
        <p:nvCxnSpPr>
          <p:cNvPr id="170" name="Google Shape;170;p34"/>
          <p:cNvCxnSpPr/>
          <p:nvPr/>
        </p:nvCxnSpPr>
        <p:spPr>
          <a:xfrm>
            <a:off x="2081300" y="2740638"/>
            <a:ext cx="958200" cy="0"/>
          </a:xfrm>
          <a:prstGeom prst="straightConnector1">
            <a:avLst/>
          </a:prstGeom>
          <a:noFill/>
          <a:ln w="9525" cap="flat" cmpd="sng">
            <a:solidFill>
              <a:srgbClr val="CCCCCC"/>
            </a:solidFill>
            <a:prstDash val="solid"/>
            <a:round/>
            <a:headEnd type="oval" w="med" len="med"/>
            <a:tailEnd type="oval" w="med" len="med"/>
          </a:ln>
        </p:spPr>
      </p:cxnSp>
      <p:sp>
        <p:nvSpPr>
          <p:cNvPr id="171" name="Google Shape;171;p34"/>
          <p:cNvSpPr/>
          <p:nvPr/>
        </p:nvSpPr>
        <p:spPr>
          <a:xfrm>
            <a:off x="3017100" y="2591449"/>
            <a:ext cx="1373100" cy="3306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¿Qué es Mobile First?</a:t>
            </a:r>
            <a:endParaRPr sz="1100" b="0" i="0" u="none" strike="noStrike" cap="none">
              <a:solidFill>
                <a:srgbClr val="222222"/>
              </a:solidFill>
              <a:latin typeface="Helvetica Neue"/>
              <a:ea typeface="Helvetica Neue"/>
              <a:cs typeface="Helvetica Neue"/>
              <a:sym typeface="Helvetica Neue"/>
            </a:endParaRPr>
          </a:p>
        </p:txBody>
      </p:sp>
      <p:cxnSp>
        <p:nvCxnSpPr>
          <p:cNvPr id="172" name="Google Shape;172;p34"/>
          <p:cNvCxnSpPr/>
          <p:nvPr/>
        </p:nvCxnSpPr>
        <p:spPr>
          <a:xfrm>
            <a:off x="2071400" y="1462263"/>
            <a:ext cx="958200" cy="0"/>
          </a:xfrm>
          <a:prstGeom prst="straightConnector1">
            <a:avLst/>
          </a:prstGeom>
          <a:noFill/>
          <a:ln w="9525" cap="flat" cmpd="sng">
            <a:solidFill>
              <a:srgbClr val="CCCCCC"/>
            </a:solidFill>
            <a:prstDash val="solid"/>
            <a:round/>
            <a:headEnd type="oval" w="med" len="med"/>
            <a:tailEnd type="oval" w="med" len="med"/>
          </a:ln>
        </p:spPr>
      </p:cxnSp>
      <p:sp>
        <p:nvSpPr>
          <p:cNvPr id="173" name="Google Shape;173;p34"/>
          <p:cNvSpPr/>
          <p:nvPr/>
        </p:nvSpPr>
        <p:spPr>
          <a:xfrm>
            <a:off x="3007208" y="1305384"/>
            <a:ext cx="13731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¿Qué es?</a:t>
            </a:r>
            <a:endParaRPr sz="1100" b="0" i="0" u="none" strike="noStrike" cap="none">
              <a:solidFill>
                <a:srgbClr val="222222"/>
              </a:solidFill>
              <a:latin typeface="Helvetica Neue"/>
              <a:ea typeface="Helvetica Neue"/>
              <a:cs typeface="Helvetica Neue"/>
              <a:sym typeface="Helvetica Neue"/>
            </a:endParaRPr>
          </a:p>
        </p:txBody>
      </p:sp>
      <p:cxnSp>
        <p:nvCxnSpPr>
          <p:cNvPr id="174" name="Google Shape;174;p34"/>
          <p:cNvCxnSpPr/>
          <p:nvPr/>
        </p:nvCxnSpPr>
        <p:spPr>
          <a:xfrm>
            <a:off x="2157414" y="1454843"/>
            <a:ext cx="849600" cy="3894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175" name="Google Shape;175;p34"/>
          <p:cNvSpPr/>
          <p:nvPr/>
        </p:nvSpPr>
        <p:spPr>
          <a:xfrm>
            <a:off x="3007208" y="1696753"/>
            <a:ext cx="13731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Implementación</a:t>
            </a:r>
            <a:endParaRPr sz="1100" b="0" i="0" u="none" strike="noStrike" cap="none">
              <a:solidFill>
                <a:srgbClr val="222222"/>
              </a:solidFill>
              <a:latin typeface="Helvetica Neue"/>
              <a:ea typeface="Helvetica Neue"/>
              <a:cs typeface="Helvetica Neue"/>
              <a:sym typeface="Helvetica Neue"/>
            </a:endParaRPr>
          </a:p>
        </p:txBody>
      </p:sp>
      <p:cxnSp>
        <p:nvCxnSpPr>
          <p:cNvPr id="176" name="Google Shape;176;p34"/>
          <p:cNvCxnSpPr/>
          <p:nvPr/>
        </p:nvCxnSpPr>
        <p:spPr>
          <a:xfrm>
            <a:off x="4380300" y="1853638"/>
            <a:ext cx="958200" cy="0"/>
          </a:xfrm>
          <a:prstGeom prst="straightConnector1">
            <a:avLst/>
          </a:prstGeom>
          <a:noFill/>
          <a:ln w="9525" cap="flat" cmpd="sng">
            <a:solidFill>
              <a:srgbClr val="CCCCCC"/>
            </a:solidFill>
            <a:prstDash val="solid"/>
            <a:round/>
            <a:headEnd type="oval" w="med" len="med"/>
            <a:tailEnd type="oval" w="med" len="med"/>
          </a:ln>
        </p:spPr>
      </p:cxnSp>
      <p:sp>
        <p:nvSpPr>
          <p:cNvPr id="177" name="Google Shape;177;p34"/>
          <p:cNvSpPr/>
          <p:nvPr/>
        </p:nvSpPr>
        <p:spPr>
          <a:xfrm>
            <a:off x="5338508" y="1696759"/>
            <a:ext cx="13731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¿Por qué Grids?</a:t>
            </a:r>
            <a:endParaRPr sz="1100" b="0" i="0" u="none" strike="noStrike" cap="none">
              <a:solidFill>
                <a:srgbClr val="222222"/>
              </a:solidFill>
              <a:latin typeface="Helvetica Neue"/>
              <a:ea typeface="Helvetica Neue"/>
              <a:cs typeface="Helvetica Neue"/>
              <a:sym typeface="Helvetica Neue"/>
            </a:endParaRPr>
          </a:p>
        </p:txBody>
      </p:sp>
      <p:cxnSp>
        <p:nvCxnSpPr>
          <p:cNvPr id="178" name="Google Shape;178;p34"/>
          <p:cNvCxnSpPr>
            <a:endCxn id="179" idx="1"/>
          </p:cNvCxnSpPr>
          <p:nvPr/>
        </p:nvCxnSpPr>
        <p:spPr>
          <a:xfrm>
            <a:off x="2157494" y="1454839"/>
            <a:ext cx="859500" cy="7827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179" name="Google Shape;179;p34"/>
          <p:cNvSpPr/>
          <p:nvPr/>
        </p:nvSpPr>
        <p:spPr>
          <a:xfrm>
            <a:off x="3016994" y="2088139"/>
            <a:ext cx="13617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Flexbox ≠ Grids</a:t>
            </a:r>
            <a:endParaRPr sz="1100" b="0" i="0" u="none" strike="noStrike" cap="none">
              <a:solidFill>
                <a:srgbClr val="222222"/>
              </a:solidFill>
              <a:latin typeface="Helvetica Neue"/>
              <a:ea typeface="Helvetica Neue"/>
              <a:cs typeface="Helvetica Neue"/>
              <a:sym typeface="Helvetica Neue"/>
            </a:endParaRPr>
          </a:p>
        </p:txBody>
      </p:sp>
      <p:cxnSp>
        <p:nvCxnSpPr>
          <p:cNvPr id="180" name="Google Shape;180;p34"/>
          <p:cNvCxnSpPr/>
          <p:nvPr/>
        </p:nvCxnSpPr>
        <p:spPr>
          <a:xfrm>
            <a:off x="4390375" y="2779300"/>
            <a:ext cx="958200" cy="0"/>
          </a:xfrm>
          <a:prstGeom prst="straightConnector1">
            <a:avLst/>
          </a:prstGeom>
          <a:noFill/>
          <a:ln w="9525" cap="flat" cmpd="sng">
            <a:solidFill>
              <a:srgbClr val="CCCCCC"/>
            </a:solidFill>
            <a:prstDash val="solid"/>
            <a:round/>
            <a:headEnd type="oval" w="med" len="med"/>
            <a:tailEnd type="oval" w="med" len="med"/>
          </a:ln>
        </p:spPr>
      </p:cxnSp>
      <p:sp>
        <p:nvSpPr>
          <p:cNvPr id="181" name="Google Shape;181;p34"/>
          <p:cNvSpPr/>
          <p:nvPr/>
        </p:nvSpPr>
        <p:spPr>
          <a:xfrm>
            <a:off x="5326183" y="2622421"/>
            <a:ext cx="13731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Diseño Responsive</a:t>
            </a:r>
            <a:endParaRPr sz="1100" b="0" i="0" u="none" strike="noStrike" cap="none">
              <a:solidFill>
                <a:srgbClr val="222222"/>
              </a:solidFill>
              <a:latin typeface="Helvetica Neue"/>
              <a:ea typeface="Helvetica Neue"/>
              <a:cs typeface="Helvetica Neue"/>
              <a:sym typeface="Helvetica Neue"/>
            </a:endParaRPr>
          </a:p>
        </p:txBody>
      </p:sp>
      <p:cxnSp>
        <p:nvCxnSpPr>
          <p:cNvPr id="182" name="Google Shape;182;p34"/>
          <p:cNvCxnSpPr/>
          <p:nvPr/>
        </p:nvCxnSpPr>
        <p:spPr>
          <a:xfrm>
            <a:off x="4476389" y="2771880"/>
            <a:ext cx="849600" cy="3894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183" name="Google Shape;183;p34"/>
          <p:cNvSpPr/>
          <p:nvPr/>
        </p:nvSpPr>
        <p:spPr>
          <a:xfrm>
            <a:off x="5326183" y="3013791"/>
            <a:ext cx="13731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Media Queries</a:t>
            </a:r>
            <a:endParaRPr sz="1100" b="0" i="0" u="none" strike="noStrike" cap="none">
              <a:solidFill>
                <a:srgbClr val="222222"/>
              </a:solidFill>
              <a:latin typeface="Helvetica Neue"/>
              <a:ea typeface="Helvetica Neue"/>
              <a:cs typeface="Helvetica Neue"/>
              <a:sym typeface="Helvetica Neue"/>
            </a:endParaRPr>
          </a:p>
        </p:txBody>
      </p:sp>
      <p:cxnSp>
        <p:nvCxnSpPr>
          <p:cNvPr id="184" name="Google Shape;184;p34"/>
          <p:cNvCxnSpPr>
            <a:endCxn id="185" idx="1"/>
          </p:cNvCxnSpPr>
          <p:nvPr/>
        </p:nvCxnSpPr>
        <p:spPr>
          <a:xfrm>
            <a:off x="4480594" y="2766164"/>
            <a:ext cx="855300" cy="7884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185" name="Google Shape;185;p34"/>
          <p:cNvSpPr/>
          <p:nvPr/>
        </p:nvSpPr>
        <p:spPr>
          <a:xfrm>
            <a:off x="5335894" y="3405164"/>
            <a:ext cx="1361700" cy="298800"/>
          </a:xfrm>
          <a:prstGeom prst="rect">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222222"/>
                </a:solidFill>
                <a:latin typeface="Helvetica Neue"/>
                <a:ea typeface="Helvetica Neue"/>
                <a:cs typeface="Helvetica Neue"/>
                <a:sym typeface="Helvetica Neue"/>
              </a:rPr>
              <a:t>Meta viewport</a:t>
            </a:r>
            <a:endParaRPr sz="1100" b="0" i="0" u="none" strike="noStrike" cap="none">
              <a:solidFill>
                <a:srgbClr val="222222"/>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sp>
        <p:nvSpPr>
          <p:cNvPr id="190" name="Google Shape;190;p35"/>
          <p:cNvSpPr/>
          <p:nvPr/>
        </p:nvSpPr>
        <p:spPr>
          <a:xfrm>
            <a:off x="3609600" y="1202750"/>
            <a:ext cx="2157900" cy="3517500"/>
          </a:xfrm>
          <a:prstGeom prst="rect">
            <a:avLst/>
          </a:prstGeom>
          <a:noFill/>
          <a:ln w="38100" cap="flat" cmpd="sng">
            <a:solidFill>
              <a:srgbClr val="3CEFA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1" name="Google Shape;191;p3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192" name="Google Shape;192;p35"/>
          <p:cNvSpPr/>
          <p:nvPr/>
        </p:nvSpPr>
        <p:spPr>
          <a:xfrm>
            <a:off x="3778675" y="1333050"/>
            <a:ext cx="1819800" cy="3306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35"/>
          <p:cNvSpPr txBox="1"/>
          <p:nvPr/>
        </p:nvSpPr>
        <p:spPr>
          <a:xfrm>
            <a:off x="3919358" y="1305800"/>
            <a:ext cx="1234800" cy="36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Helvetica Neue"/>
                <a:ea typeface="Helvetica Neue"/>
                <a:cs typeface="Helvetica Neue"/>
                <a:sym typeface="Helvetica Neue"/>
              </a:rPr>
              <a:t>Clase 7</a:t>
            </a:r>
            <a:endParaRPr sz="1400" b="0" i="0" u="none" strike="noStrike" cap="none">
              <a:solidFill>
                <a:srgbClr val="000000"/>
              </a:solidFill>
              <a:latin typeface="Helvetica Neue"/>
              <a:ea typeface="Helvetica Neue"/>
              <a:cs typeface="Helvetica Neue"/>
              <a:sym typeface="Helvetica Neue"/>
            </a:endParaRPr>
          </a:p>
        </p:txBody>
      </p:sp>
      <p:cxnSp>
        <p:nvCxnSpPr>
          <p:cNvPr id="194" name="Google Shape;194;p35"/>
          <p:cNvCxnSpPr/>
          <p:nvPr/>
        </p:nvCxnSpPr>
        <p:spPr>
          <a:xfrm>
            <a:off x="3761100" y="2446275"/>
            <a:ext cx="1854900" cy="0"/>
          </a:xfrm>
          <a:prstGeom prst="straightConnector1">
            <a:avLst/>
          </a:prstGeom>
          <a:noFill/>
          <a:ln w="9525" cap="flat" cmpd="sng">
            <a:solidFill>
              <a:srgbClr val="EFEFEF"/>
            </a:solidFill>
            <a:prstDash val="solid"/>
            <a:round/>
            <a:headEnd type="none" w="sm" len="sm"/>
            <a:tailEnd type="none" w="sm" len="sm"/>
          </a:ln>
        </p:spPr>
      </p:cxnSp>
      <p:cxnSp>
        <p:nvCxnSpPr>
          <p:cNvPr id="195" name="Google Shape;195;p35"/>
          <p:cNvCxnSpPr/>
          <p:nvPr/>
        </p:nvCxnSpPr>
        <p:spPr>
          <a:xfrm>
            <a:off x="3761100" y="2928356"/>
            <a:ext cx="1854900" cy="0"/>
          </a:xfrm>
          <a:prstGeom prst="straightConnector1">
            <a:avLst/>
          </a:prstGeom>
          <a:noFill/>
          <a:ln w="9525" cap="flat" cmpd="sng">
            <a:solidFill>
              <a:srgbClr val="EFEFEF"/>
            </a:solidFill>
            <a:prstDash val="solid"/>
            <a:round/>
            <a:headEnd type="none" w="sm" len="sm"/>
            <a:tailEnd type="none" w="sm" len="sm"/>
          </a:ln>
        </p:spPr>
      </p:cxnSp>
      <p:cxnSp>
        <p:nvCxnSpPr>
          <p:cNvPr id="196" name="Google Shape;196;p35"/>
          <p:cNvCxnSpPr/>
          <p:nvPr/>
        </p:nvCxnSpPr>
        <p:spPr>
          <a:xfrm>
            <a:off x="3761100" y="3843832"/>
            <a:ext cx="1854900" cy="0"/>
          </a:xfrm>
          <a:prstGeom prst="straightConnector1">
            <a:avLst/>
          </a:prstGeom>
          <a:noFill/>
          <a:ln w="9525" cap="flat" cmpd="sng">
            <a:solidFill>
              <a:srgbClr val="EFEFEF"/>
            </a:solidFill>
            <a:prstDash val="solid"/>
            <a:round/>
            <a:headEnd type="none" w="sm" len="sm"/>
            <a:tailEnd type="none" w="sm" len="sm"/>
          </a:ln>
        </p:spPr>
      </p:cxnSp>
      <p:cxnSp>
        <p:nvCxnSpPr>
          <p:cNvPr id="197" name="Google Shape;197;p35"/>
          <p:cNvCxnSpPr/>
          <p:nvPr/>
        </p:nvCxnSpPr>
        <p:spPr>
          <a:xfrm>
            <a:off x="3761100" y="3380081"/>
            <a:ext cx="1854900" cy="0"/>
          </a:xfrm>
          <a:prstGeom prst="straightConnector1">
            <a:avLst/>
          </a:prstGeom>
          <a:noFill/>
          <a:ln w="9525" cap="flat" cmpd="sng">
            <a:solidFill>
              <a:srgbClr val="EFEFEF"/>
            </a:solidFill>
            <a:prstDash val="solid"/>
            <a:round/>
            <a:headEnd type="none" w="sm" len="sm"/>
            <a:tailEnd type="none" w="sm" len="sm"/>
          </a:ln>
        </p:spPr>
      </p:cxnSp>
      <p:pic>
        <p:nvPicPr>
          <p:cNvPr id="198" name="Google Shape;198;p35"/>
          <p:cNvPicPr preferRelativeResize="0"/>
          <p:nvPr/>
        </p:nvPicPr>
        <p:blipFill rotWithShape="1">
          <a:blip r:embed="rId4">
            <a:alphaModFix/>
          </a:blip>
          <a:srcRect/>
          <a:stretch/>
        </p:blipFill>
        <p:spPr>
          <a:xfrm>
            <a:off x="5276200" y="1391289"/>
            <a:ext cx="196500" cy="196500"/>
          </a:xfrm>
          <a:prstGeom prst="rect">
            <a:avLst/>
          </a:prstGeom>
          <a:noFill/>
          <a:ln>
            <a:noFill/>
          </a:ln>
        </p:spPr>
      </p:pic>
      <p:sp>
        <p:nvSpPr>
          <p:cNvPr id="199" name="Google Shape;199;p35"/>
          <p:cNvSpPr/>
          <p:nvPr/>
        </p:nvSpPr>
        <p:spPr>
          <a:xfrm>
            <a:off x="1208850" y="1239825"/>
            <a:ext cx="2157900" cy="31386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35"/>
          <p:cNvSpPr/>
          <p:nvPr/>
        </p:nvSpPr>
        <p:spPr>
          <a:xfrm>
            <a:off x="1395175" y="1333050"/>
            <a:ext cx="1819800" cy="3306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35"/>
          <p:cNvSpPr txBox="1"/>
          <p:nvPr/>
        </p:nvSpPr>
        <p:spPr>
          <a:xfrm>
            <a:off x="1535858" y="1305800"/>
            <a:ext cx="1234800" cy="36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Helvetica Neue"/>
                <a:ea typeface="Helvetica Neue"/>
                <a:cs typeface="Helvetica Neue"/>
                <a:sym typeface="Helvetica Neue"/>
              </a:rPr>
              <a:t>Clase 6</a:t>
            </a:r>
            <a:endParaRPr sz="1400" b="0" i="0" u="none" strike="noStrike" cap="none">
              <a:solidFill>
                <a:srgbClr val="000000"/>
              </a:solidFill>
              <a:latin typeface="Helvetica Neue"/>
              <a:ea typeface="Helvetica Neue"/>
              <a:cs typeface="Helvetica Neue"/>
              <a:sym typeface="Helvetica Neue"/>
            </a:endParaRPr>
          </a:p>
        </p:txBody>
      </p:sp>
      <p:cxnSp>
        <p:nvCxnSpPr>
          <p:cNvPr id="202" name="Google Shape;202;p35"/>
          <p:cNvCxnSpPr/>
          <p:nvPr/>
        </p:nvCxnSpPr>
        <p:spPr>
          <a:xfrm>
            <a:off x="1377600" y="2446275"/>
            <a:ext cx="1854900" cy="0"/>
          </a:xfrm>
          <a:prstGeom prst="straightConnector1">
            <a:avLst/>
          </a:prstGeom>
          <a:noFill/>
          <a:ln w="9525" cap="flat" cmpd="sng">
            <a:solidFill>
              <a:srgbClr val="EFEFEF"/>
            </a:solidFill>
            <a:prstDash val="solid"/>
            <a:round/>
            <a:headEnd type="none" w="sm" len="sm"/>
            <a:tailEnd type="none" w="sm" len="sm"/>
          </a:ln>
        </p:spPr>
      </p:cxnSp>
      <p:cxnSp>
        <p:nvCxnSpPr>
          <p:cNvPr id="203" name="Google Shape;203;p35"/>
          <p:cNvCxnSpPr/>
          <p:nvPr/>
        </p:nvCxnSpPr>
        <p:spPr>
          <a:xfrm>
            <a:off x="1377600" y="3843832"/>
            <a:ext cx="1854900" cy="0"/>
          </a:xfrm>
          <a:prstGeom prst="straightConnector1">
            <a:avLst/>
          </a:prstGeom>
          <a:noFill/>
          <a:ln w="9525" cap="flat" cmpd="sng">
            <a:solidFill>
              <a:srgbClr val="EFEFEF"/>
            </a:solidFill>
            <a:prstDash val="solid"/>
            <a:round/>
            <a:headEnd type="none" w="sm" len="sm"/>
            <a:tailEnd type="none" w="sm" len="sm"/>
          </a:ln>
        </p:spPr>
      </p:cxnSp>
      <p:cxnSp>
        <p:nvCxnSpPr>
          <p:cNvPr id="204" name="Google Shape;204;p35"/>
          <p:cNvCxnSpPr/>
          <p:nvPr/>
        </p:nvCxnSpPr>
        <p:spPr>
          <a:xfrm>
            <a:off x="1377600" y="3380081"/>
            <a:ext cx="1854900" cy="0"/>
          </a:xfrm>
          <a:prstGeom prst="straightConnector1">
            <a:avLst/>
          </a:prstGeom>
          <a:noFill/>
          <a:ln w="9525" cap="flat" cmpd="sng">
            <a:solidFill>
              <a:srgbClr val="EFEFEF"/>
            </a:solidFill>
            <a:prstDash val="solid"/>
            <a:round/>
            <a:headEnd type="none" w="sm" len="sm"/>
            <a:tailEnd type="none" w="sm" len="sm"/>
          </a:ln>
        </p:spPr>
      </p:cxnSp>
      <p:pic>
        <p:nvPicPr>
          <p:cNvPr id="205" name="Google Shape;205;p35"/>
          <p:cNvPicPr preferRelativeResize="0"/>
          <p:nvPr/>
        </p:nvPicPr>
        <p:blipFill rotWithShape="1">
          <a:blip r:embed="rId4">
            <a:alphaModFix/>
          </a:blip>
          <a:srcRect/>
          <a:stretch/>
        </p:blipFill>
        <p:spPr>
          <a:xfrm>
            <a:off x="2966250" y="1391289"/>
            <a:ext cx="196500" cy="196500"/>
          </a:xfrm>
          <a:prstGeom prst="rect">
            <a:avLst/>
          </a:prstGeom>
          <a:noFill/>
          <a:ln>
            <a:noFill/>
          </a:ln>
        </p:spPr>
      </p:pic>
      <p:sp>
        <p:nvSpPr>
          <p:cNvPr id="206" name="Google Shape;206;p35"/>
          <p:cNvSpPr/>
          <p:nvPr/>
        </p:nvSpPr>
        <p:spPr>
          <a:xfrm>
            <a:off x="6010350" y="1163625"/>
            <a:ext cx="2157900" cy="31386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5"/>
          <p:cNvSpPr/>
          <p:nvPr/>
        </p:nvSpPr>
        <p:spPr>
          <a:xfrm>
            <a:off x="6162175" y="1333050"/>
            <a:ext cx="1819800" cy="3306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5"/>
          <p:cNvSpPr txBox="1"/>
          <p:nvPr/>
        </p:nvSpPr>
        <p:spPr>
          <a:xfrm>
            <a:off x="6302858" y="1305800"/>
            <a:ext cx="1234800" cy="36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Helvetica Neue"/>
                <a:ea typeface="Helvetica Neue"/>
                <a:cs typeface="Helvetica Neue"/>
                <a:sym typeface="Helvetica Neue"/>
              </a:rPr>
              <a:t>Clase 8</a:t>
            </a:r>
            <a:endParaRPr sz="1400" b="0" i="0" u="none" strike="noStrike" cap="none">
              <a:solidFill>
                <a:srgbClr val="000000"/>
              </a:solidFill>
              <a:latin typeface="Helvetica Neue"/>
              <a:ea typeface="Helvetica Neue"/>
              <a:cs typeface="Helvetica Neue"/>
              <a:sym typeface="Helvetica Neue"/>
            </a:endParaRPr>
          </a:p>
        </p:txBody>
      </p:sp>
      <p:cxnSp>
        <p:nvCxnSpPr>
          <p:cNvPr id="209" name="Google Shape;209;p35"/>
          <p:cNvCxnSpPr/>
          <p:nvPr/>
        </p:nvCxnSpPr>
        <p:spPr>
          <a:xfrm>
            <a:off x="6144600" y="2446275"/>
            <a:ext cx="1854900" cy="0"/>
          </a:xfrm>
          <a:prstGeom prst="straightConnector1">
            <a:avLst/>
          </a:prstGeom>
          <a:noFill/>
          <a:ln w="9525" cap="flat" cmpd="sng">
            <a:solidFill>
              <a:srgbClr val="EFEFEF"/>
            </a:solidFill>
            <a:prstDash val="solid"/>
            <a:round/>
            <a:headEnd type="none" w="sm" len="sm"/>
            <a:tailEnd type="none" w="sm" len="sm"/>
          </a:ln>
        </p:spPr>
      </p:cxnSp>
      <p:cxnSp>
        <p:nvCxnSpPr>
          <p:cNvPr id="210" name="Google Shape;210;p35"/>
          <p:cNvCxnSpPr/>
          <p:nvPr/>
        </p:nvCxnSpPr>
        <p:spPr>
          <a:xfrm>
            <a:off x="6144600" y="2928356"/>
            <a:ext cx="1854900" cy="0"/>
          </a:xfrm>
          <a:prstGeom prst="straightConnector1">
            <a:avLst/>
          </a:prstGeom>
          <a:noFill/>
          <a:ln w="9525" cap="flat" cmpd="sng">
            <a:solidFill>
              <a:srgbClr val="EFEFEF"/>
            </a:solidFill>
            <a:prstDash val="solid"/>
            <a:round/>
            <a:headEnd type="none" w="sm" len="sm"/>
            <a:tailEnd type="none" w="sm" len="sm"/>
          </a:ln>
        </p:spPr>
      </p:cxnSp>
      <p:cxnSp>
        <p:nvCxnSpPr>
          <p:cNvPr id="211" name="Google Shape;211;p35"/>
          <p:cNvCxnSpPr/>
          <p:nvPr/>
        </p:nvCxnSpPr>
        <p:spPr>
          <a:xfrm>
            <a:off x="6144600" y="3843832"/>
            <a:ext cx="1854900" cy="0"/>
          </a:xfrm>
          <a:prstGeom prst="straightConnector1">
            <a:avLst/>
          </a:prstGeom>
          <a:noFill/>
          <a:ln w="9525" cap="flat" cmpd="sng">
            <a:solidFill>
              <a:srgbClr val="EFEFEF"/>
            </a:solidFill>
            <a:prstDash val="solid"/>
            <a:round/>
            <a:headEnd type="none" w="sm" len="sm"/>
            <a:tailEnd type="none" w="sm" len="sm"/>
          </a:ln>
        </p:spPr>
      </p:cxnSp>
      <p:cxnSp>
        <p:nvCxnSpPr>
          <p:cNvPr id="212" name="Google Shape;212;p35"/>
          <p:cNvCxnSpPr/>
          <p:nvPr/>
        </p:nvCxnSpPr>
        <p:spPr>
          <a:xfrm>
            <a:off x="6144600" y="3380081"/>
            <a:ext cx="1854900" cy="0"/>
          </a:xfrm>
          <a:prstGeom prst="straightConnector1">
            <a:avLst/>
          </a:prstGeom>
          <a:noFill/>
          <a:ln w="9525" cap="flat" cmpd="sng">
            <a:solidFill>
              <a:srgbClr val="EFEFEF"/>
            </a:solidFill>
            <a:prstDash val="solid"/>
            <a:round/>
            <a:headEnd type="none" w="sm" len="sm"/>
            <a:tailEnd type="none" w="sm" len="sm"/>
          </a:ln>
        </p:spPr>
      </p:cxnSp>
      <p:pic>
        <p:nvPicPr>
          <p:cNvPr id="213" name="Google Shape;213;p35"/>
          <p:cNvPicPr preferRelativeResize="0"/>
          <p:nvPr/>
        </p:nvPicPr>
        <p:blipFill rotWithShape="1">
          <a:blip r:embed="rId4">
            <a:alphaModFix/>
          </a:blip>
          <a:srcRect/>
          <a:stretch/>
        </p:blipFill>
        <p:spPr>
          <a:xfrm>
            <a:off x="7733250" y="1391289"/>
            <a:ext cx="196500" cy="196500"/>
          </a:xfrm>
          <a:prstGeom prst="rect">
            <a:avLst/>
          </a:prstGeom>
          <a:noFill/>
          <a:ln>
            <a:noFill/>
          </a:ln>
        </p:spPr>
      </p:pic>
      <p:sp>
        <p:nvSpPr>
          <p:cNvPr id="214" name="Google Shape;214;p35"/>
          <p:cNvSpPr txBox="1"/>
          <p:nvPr/>
        </p:nvSpPr>
        <p:spPr>
          <a:xfrm>
            <a:off x="1398000" y="213650"/>
            <a:ext cx="63480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121212"/>
                </a:solidFill>
                <a:latin typeface="Anton"/>
                <a:ea typeface="Anton"/>
                <a:cs typeface="Anton"/>
                <a:sym typeface="Anton"/>
              </a:rPr>
              <a:t>CRONOGRAMA DEL CURSO</a:t>
            </a:r>
            <a:endParaRPr sz="3600" b="0" i="1" u="none" strike="noStrike" cap="none">
              <a:solidFill>
                <a:srgbClr val="121212"/>
              </a:solidFill>
              <a:latin typeface="Anton"/>
              <a:ea typeface="Anton"/>
              <a:cs typeface="Anton"/>
              <a:sym typeface="Anton"/>
            </a:endParaRPr>
          </a:p>
        </p:txBody>
      </p:sp>
      <p:sp>
        <p:nvSpPr>
          <p:cNvPr id="215" name="Google Shape;215;p35"/>
          <p:cNvSpPr txBox="1"/>
          <p:nvPr/>
        </p:nvSpPr>
        <p:spPr>
          <a:xfrm>
            <a:off x="1679800" y="2446263"/>
            <a:ext cx="1186500" cy="31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PRÁCTICAS DE LO VISTO EN CLASE</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16" name="Google Shape;216;p35"/>
          <p:cNvPicPr preferRelativeResize="0"/>
          <p:nvPr/>
        </p:nvPicPr>
        <p:blipFill rotWithShape="1">
          <a:blip r:embed="rId5">
            <a:alphaModFix/>
          </a:blip>
          <a:srcRect/>
          <a:stretch/>
        </p:blipFill>
        <p:spPr>
          <a:xfrm>
            <a:off x="1344000" y="2465688"/>
            <a:ext cx="365625" cy="365625"/>
          </a:xfrm>
          <a:prstGeom prst="rect">
            <a:avLst/>
          </a:prstGeom>
          <a:noFill/>
          <a:ln>
            <a:noFill/>
          </a:ln>
        </p:spPr>
      </p:pic>
      <p:sp>
        <p:nvSpPr>
          <p:cNvPr id="217" name="Google Shape;217;p35"/>
          <p:cNvSpPr txBox="1"/>
          <p:nvPr/>
        </p:nvSpPr>
        <p:spPr>
          <a:xfrm>
            <a:off x="1742463" y="3017238"/>
            <a:ext cx="1389600" cy="28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APLICAR FLEXBOX</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18" name="Google Shape;218;p35"/>
          <p:cNvPicPr preferRelativeResize="0"/>
          <p:nvPr/>
        </p:nvPicPr>
        <p:blipFill rotWithShape="1">
          <a:blip r:embed="rId6">
            <a:alphaModFix/>
          </a:blip>
          <a:srcRect/>
          <a:stretch/>
        </p:blipFill>
        <p:spPr>
          <a:xfrm>
            <a:off x="1423338" y="3000638"/>
            <a:ext cx="307150" cy="307150"/>
          </a:xfrm>
          <a:prstGeom prst="rect">
            <a:avLst/>
          </a:prstGeom>
          <a:noFill/>
          <a:ln>
            <a:noFill/>
          </a:ln>
        </p:spPr>
      </p:pic>
      <p:sp>
        <p:nvSpPr>
          <p:cNvPr id="219" name="Google Shape;219;p35"/>
          <p:cNvSpPr txBox="1"/>
          <p:nvPr/>
        </p:nvSpPr>
        <p:spPr>
          <a:xfrm>
            <a:off x="1420225" y="1776338"/>
            <a:ext cx="1854900" cy="424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1200" b="1" i="0" u="none" strike="noStrike" cap="none">
                <a:solidFill>
                  <a:schemeClr val="dk1"/>
                </a:solidFill>
                <a:latin typeface="Helvetica Neue"/>
                <a:ea typeface="Helvetica Neue"/>
                <a:cs typeface="Helvetica Neue"/>
                <a:sym typeface="Helvetica Neue"/>
              </a:rPr>
              <a:t>Flexbox</a:t>
            </a:r>
            <a:endParaRPr sz="1200" b="1" i="0" u="none" strike="noStrike" cap="none">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rgbClr val="000000"/>
              </a:buClr>
              <a:buSzPts val="1200"/>
              <a:buFont typeface="Arial"/>
              <a:buNone/>
            </a:pPr>
            <a:endParaRPr sz="1200" b="1" i="0" u="none" strike="noStrike" cap="none">
              <a:solidFill>
                <a:srgbClr val="000000"/>
              </a:solidFill>
              <a:latin typeface="Helvetica Neue"/>
              <a:ea typeface="Helvetica Neue"/>
              <a:cs typeface="Helvetica Neue"/>
              <a:sym typeface="Helvetica Neue"/>
            </a:endParaRPr>
          </a:p>
        </p:txBody>
      </p:sp>
      <p:sp>
        <p:nvSpPr>
          <p:cNvPr id="220" name="Google Shape;220;p35"/>
          <p:cNvSpPr txBox="1"/>
          <p:nvPr/>
        </p:nvSpPr>
        <p:spPr>
          <a:xfrm>
            <a:off x="3782425" y="1776338"/>
            <a:ext cx="1854900" cy="424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1200" b="1" i="0" u="none" strike="noStrike" cap="none">
                <a:solidFill>
                  <a:schemeClr val="dk1"/>
                </a:solidFill>
                <a:latin typeface="Helvetica Neue"/>
                <a:ea typeface="Helvetica Neue"/>
                <a:cs typeface="Helvetica Neue"/>
                <a:sym typeface="Helvetica Neue"/>
              </a:rPr>
              <a:t>Grids</a:t>
            </a:r>
            <a:endParaRPr sz="1200" b="1" i="0" u="none" strike="noStrike" cap="none">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rgbClr val="000000"/>
              </a:buClr>
              <a:buSzPts val="1200"/>
              <a:buFont typeface="Arial"/>
              <a:buNone/>
            </a:pPr>
            <a:endParaRPr sz="1200" b="1" i="0" u="none" strike="noStrike" cap="none">
              <a:solidFill>
                <a:srgbClr val="000000"/>
              </a:solidFill>
              <a:latin typeface="Helvetica Neue"/>
              <a:ea typeface="Helvetica Neue"/>
              <a:cs typeface="Helvetica Neue"/>
              <a:sym typeface="Helvetica Neue"/>
            </a:endParaRPr>
          </a:p>
        </p:txBody>
      </p:sp>
      <p:sp>
        <p:nvSpPr>
          <p:cNvPr id="221" name="Google Shape;221;p35"/>
          <p:cNvSpPr txBox="1"/>
          <p:nvPr/>
        </p:nvSpPr>
        <p:spPr>
          <a:xfrm>
            <a:off x="4194400" y="2446263"/>
            <a:ext cx="1186500" cy="31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PRÁCTICAS DE LO VISTO EN CLASE</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22" name="Google Shape;222;p35"/>
          <p:cNvPicPr preferRelativeResize="0"/>
          <p:nvPr/>
        </p:nvPicPr>
        <p:blipFill rotWithShape="1">
          <a:blip r:embed="rId5">
            <a:alphaModFix/>
          </a:blip>
          <a:srcRect/>
          <a:stretch/>
        </p:blipFill>
        <p:spPr>
          <a:xfrm>
            <a:off x="3858600" y="2465688"/>
            <a:ext cx="365625" cy="365625"/>
          </a:xfrm>
          <a:prstGeom prst="rect">
            <a:avLst/>
          </a:prstGeom>
          <a:noFill/>
          <a:ln>
            <a:noFill/>
          </a:ln>
        </p:spPr>
      </p:pic>
      <p:sp>
        <p:nvSpPr>
          <p:cNvPr id="223" name="Google Shape;223;p35"/>
          <p:cNvSpPr txBox="1"/>
          <p:nvPr/>
        </p:nvSpPr>
        <p:spPr>
          <a:xfrm>
            <a:off x="4257063" y="3017238"/>
            <a:ext cx="1389600" cy="28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APLICANDO GRIDS</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24" name="Google Shape;224;p35"/>
          <p:cNvPicPr preferRelativeResize="0"/>
          <p:nvPr/>
        </p:nvPicPr>
        <p:blipFill rotWithShape="1">
          <a:blip r:embed="rId6">
            <a:alphaModFix/>
          </a:blip>
          <a:srcRect/>
          <a:stretch/>
        </p:blipFill>
        <p:spPr>
          <a:xfrm>
            <a:off x="3937938" y="3000638"/>
            <a:ext cx="307150" cy="307150"/>
          </a:xfrm>
          <a:prstGeom prst="rect">
            <a:avLst/>
          </a:prstGeom>
          <a:noFill/>
          <a:ln>
            <a:noFill/>
          </a:ln>
        </p:spPr>
      </p:pic>
      <p:sp>
        <p:nvSpPr>
          <p:cNvPr id="225" name="Google Shape;225;p35"/>
          <p:cNvSpPr txBox="1"/>
          <p:nvPr/>
        </p:nvSpPr>
        <p:spPr>
          <a:xfrm>
            <a:off x="6144625" y="1776350"/>
            <a:ext cx="1905900" cy="424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1100" b="1" i="0" u="none" strike="noStrike" cap="none">
                <a:solidFill>
                  <a:schemeClr val="dk1"/>
                </a:solidFill>
                <a:latin typeface="Helvetica Neue"/>
                <a:ea typeface="Helvetica Neue"/>
                <a:cs typeface="Helvetica Neue"/>
                <a:sym typeface="Helvetica Neue"/>
              </a:rPr>
              <a:t>Animaciones, transformaciones y transiciones</a:t>
            </a:r>
            <a:endParaRPr sz="1100" b="1" i="0" u="none" strike="noStrike" cap="none">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chemeClr val="dk1"/>
              </a:buClr>
              <a:buSzPts val="1100"/>
              <a:buFont typeface="Arial"/>
              <a:buNone/>
            </a:pPr>
            <a:endParaRPr sz="1200" b="1" i="0" u="none" strike="noStrike" cap="none">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chemeClr val="dk1"/>
              </a:buClr>
              <a:buSzPts val="1100"/>
              <a:buFont typeface="Arial"/>
              <a:buNone/>
            </a:pPr>
            <a:endParaRPr sz="1200" b="1" i="0" u="none" strike="noStrike" cap="none">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Clr>
                <a:srgbClr val="000000"/>
              </a:buClr>
              <a:buSzPts val="1200"/>
              <a:buFont typeface="Arial"/>
              <a:buNone/>
            </a:pPr>
            <a:endParaRPr sz="1200" b="1" i="0" u="none" strike="noStrike" cap="none">
              <a:solidFill>
                <a:srgbClr val="000000"/>
              </a:solidFill>
              <a:latin typeface="Helvetica Neue"/>
              <a:ea typeface="Helvetica Neue"/>
              <a:cs typeface="Helvetica Neue"/>
              <a:sym typeface="Helvetica Neue"/>
            </a:endParaRPr>
          </a:p>
        </p:txBody>
      </p:sp>
      <p:sp>
        <p:nvSpPr>
          <p:cNvPr id="226" name="Google Shape;226;p35"/>
          <p:cNvSpPr txBox="1"/>
          <p:nvPr/>
        </p:nvSpPr>
        <p:spPr>
          <a:xfrm>
            <a:off x="6556600" y="2446263"/>
            <a:ext cx="1186500" cy="315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PRÁCTICAS DE LO VISTO EN CLASE</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27" name="Google Shape;227;p35"/>
          <p:cNvPicPr preferRelativeResize="0"/>
          <p:nvPr/>
        </p:nvPicPr>
        <p:blipFill rotWithShape="1">
          <a:blip r:embed="rId5">
            <a:alphaModFix/>
          </a:blip>
          <a:srcRect/>
          <a:stretch/>
        </p:blipFill>
        <p:spPr>
          <a:xfrm>
            <a:off x="6220800" y="2465688"/>
            <a:ext cx="365625" cy="365625"/>
          </a:xfrm>
          <a:prstGeom prst="rect">
            <a:avLst/>
          </a:prstGeom>
          <a:noFill/>
          <a:ln>
            <a:noFill/>
          </a:ln>
        </p:spPr>
      </p:pic>
      <p:sp>
        <p:nvSpPr>
          <p:cNvPr id="228" name="Google Shape;228;p35"/>
          <p:cNvSpPr txBox="1"/>
          <p:nvPr/>
        </p:nvSpPr>
        <p:spPr>
          <a:xfrm>
            <a:off x="6607288" y="3003288"/>
            <a:ext cx="1389600" cy="28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GB" sz="700" b="0" i="0" u="none" strike="noStrike" cap="none">
                <a:solidFill>
                  <a:srgbClr val="000000"/>
                </a:solidFill>
                <a:latin typeface="Helvetica Neue"/>
                <a:ea typeface="Helvetica Neue"/>
                <a:cs typeface="Helvetica Neue"/>
                <a:sym typeface="Helvetica Neue"/>
              </a:rPr>
              <a:t>TRANSFORMACIONES Y ANIMACIONES</a:t>
            </a: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Helvetica Neue"/>
              <a:ea typeface="Helvetica Neue"/>
              <a:cs typeface="Helvetica Neue"/>
              <a:sym typeface="Helvetica Neue"/>
            </a:endParaRPr>
          </a:p>
        </p:txBody>
      </p:sp>
      <p:pic>
        <p:nvPicPr>
          <p:cNvPr id="229" name="Google Shape;229;p35"/>
          <p:cNvPicPr preferRelativeResize="0"/>
          <p:nvPr/>
        </p:nvPicPr>
        <p:blipFill rotWithShape="1">
          <a:blip r:embed="rId6">
            <a:alphaModFix/>
          </a:blip>
          <a:srcRect/>
          <a:stretch/>
        </p:blipFill>
        <p:spPr>
          <a:xfrm>
            <a:off x="6300138" y="3000638"/>
            <a:ext cx="307150" cy="307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CEFAB"/>
        </a:solidFill>
        <a:effectLst/>
      </p:bgPr>
    </p:bg>
    <p:spTree>
      <p:nvGrpSpPr>
        <p:cNvPr id="1" name="Shape 233"/>
        <p:cNvGrpSpPr/>
        <p:nvPr/>
      </p:nvGrpSpPr>
      <p:grpSpPr>
        <a:xfrm>
          <a:off x="0" y="0"/>
          <a:ext cx="0" cy="0"/>
          <a:chOff x="0" y="0"/>
          <a:chExt cx="0" cy="0"/>
        </a:xfrm>
      </p:grpSpPr>
      <p:sp>
        <p:nvSpPr>
          <p:cNvPr id="234" name="Google Shape;234;p36"/>
          <p:cNvSpPr txBox="1"/>
          <p:nvPr/>
        </p:nvSpPr>
        <p:spPr>
          <a:xfrm>
            <a:off x="809550" y="2001575"/>
            <a:ext cx="7524900" cy="228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GB" sz="4000" b="0" i="1" u="none" strike="noStrike" cap="none">
                <a:solidFill>
                  <a:srgbClr val="000000"/>
                </a:solidFill>
                <a:latin typeface="Anton"/>
                <a:ea typeface="Anton"/>
                <a:cs typeface="Anton"/>
                <a:sym typeface="Anton"/>
              </a:rPr>
              <a:t>GUIÓN DE LA CLASE</a:t>
            </a:r>
            <a:endParaRPr sz="4000" b="0" i="1" u="none" strike="noStrike" cap="none">
              <a:solidFill>
                <a:srgbClr val="000000"/>
              </a:solidFill>
              <a:latin typeface="Anton"/>
              <a:ea typeface="Anton"/>
              <a:cs typeface="Anton"/>
              <a:sym typeface="Anton"/>
            </a:endParaRPr>
          </a:p>
          <a:p>
            <a:pPr marL="0" marR="0" lvl="0" indent="0" algn="ctr" rtl="0">
              <a:lnSpc>
                <a:spcPct val="150000"/>
              </a:lnSpc>
              <a:spcBef>
                <a:spcPts val="0"/>
              </a:spcBef>
              <a:spcAft>
                <a:spcPts val="0"/>
              </a:spcAft>
              <a:buClr>
                <a:srgbClr val="000000"/>
              </a:buClr>
              <a:buSzPts val="40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Accede al material complementario </a:t>
            </a:r>
            <a:r>
              <a:rPr lang="en-GB" sz="1800" b="0" i="0" u="sng" strike="noStrike" cap="none">
                <a:solidFill>
                  <a:schemeClr val="hlink"/>
                </a:solidFill>
                <a:latin typeface="Helvetica Neue Light"/>
                <a:ea typeface="Helvetica Neue Light"/>
                <a:cs typeface="Helvetica Neue Light"/>
                <a:sym typeface="Helvetica Neue Light"/>
                <a:hlinkClick r:id="rId3"/>
              </a:rPr>
              <a:t>aquí</a:t>
            </a:r>
            <a:r>
              <a:rPr lang="en-GB" sz="1800" b="0" i="0" u="none" strike="noStrike" cap="none">
                <a:solidFill>
                  <a:srgbClr val="000000"/>
                </a:solidFill>
                <a:latin typeface="Helvetica Neue Light"/>
                <a:ea typeface="Helvetica Neue Light"/>
                <a:cs typeface="Helvetica Neue Light"/>
                <a:sym typeface="Helvetica Neue Light"/>
              </a:rPr>
              <a:t>. </a:t>
            </a:r>
            <a:endParaRPr sz="1800" b="0" i="0" u="none" strike="noStrike" cap="none">
              <a:solidFill>
                <a:srgbClr val="000000"/>
              </a:solidFill>
              <a:latin typeface="Helvetica Neue Light"/>
              <a:ea typeface="Helvetica Neue Light"/>
              <a:cs typeface="Helvetica Neue Light"/>
              <a:sym typeface="Helvetica Neue Light"/>
            </a:endParaRPr>
          </a:p>
        </p:txBody>
      </p:sp>
      <p:pic>
        <p:nvPicPr>
          <p:cNvPr id="235" name="Google Shape;235;p36"/>
          <p:cNvPicPr preferRelativeResize="0"/>
          <p:nvPr/>
        </p:nvPicPr>
        <p:blipFill rotWithShape="1">
          <a:blip r:embed="rId4">
            <a:alphaModFix/>
          </a:blip>
          <a:srcRect/>
          <a:stretch/>
        </p:blipFill>
        <p:spPr>
          <a:xfrm>
            <a:off x="7748400" y="4727300"/>
            <a:ext cx="1186526" cy="330675"/>
          </a:xfrm>
          <a:prstGeom prst="rect">
            <a:avLst/>
          </a:prstGeom>
          <a:noFill/>
          <a:ln>
            <a:noFill/>
          </a:ln>
        </p:spPr>
      </p:pic>
      <p:pic>
        <p:nvPicPr>
          <p:cNvPr id="236" name="Google Shape;236;p36"/>
          <p:cNvPicPr preferRelativeResize="0"/>
          <p:nvPr/>
        </p:nvPicPr>
        <p:blipFill rotWithShape="1">
          <a:blip r:embed="rId5">
            <a:alphaModFix/>
          </a:blip>
          <a:srcRect/>
          <a:stretch/>
        </p:blipFill>
        <p:spPr>
          <a:xfrm>
            <a:off x="3978738" y="815050"/>
            <a:ext cx="1186525" cy="1186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0"/>
        <p:cNvGrpSpPr/>
        <p:nvPr/>
      </p:nvGrpSpPr>
      <p:grpSpPr>
        <a:xfrm>
          <a:off x="0" y="0"/>
          <a:ext cx="0" cy="0"/>
          <a:chOff x="0" y="0"/>
          <a:chExt cx="0" cy="0"/>
        </a:xfrm>
      </p:grpSpPr>
      <p:sp>
        <p:nvSpPr>
          <p:cNvPr id="241" name="Google Shape;241;p37"/>
          <p:cNvSpPr txBox="1"/>
          <p:nvPr/>
        </p:nvSpPr>
        <p:spPr>
          <a:xfrm>
            <a:off x="2187450" y="1644800"/>
            <a:ext cx="4769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E0FF00"/>
                </a:solidFill>
                <a:latin typeface="Anton"/>
                <a:ea typeface="Anton"/>
                <a:cs typeface="Anton"/>
                <a:sym typeface="Anton"/>
              </a:rPr>
              <a:t>GRIDS</a:t>
            </a:r>
            <a:endParaRPr sz="3600" b="0" i="1" u="none" strike="noStrike" cap="none">
              <a:solidFill>
                <a:srgbClr val="E0FF00"/>
              </a:solidFill>
              <a:latin typeface="Anton"/>
              <a:ea typeface="Anton"/>
              <a:cs typeface="Anton"/>
              <a:sym typeface="Anto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p:nvPr/>
        </p:nvSpPr>
        <p:spPr>
          <a:xfrm>
            <a:off x="787250" y="1353150"/>
            <a:ext cx="7439700" cy="1674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GB" sz="1700" b="0" i="0" u="none" strike="noStrike" cap="none">
                <a:solidFill>
                  <a:schemeClr val="dk1"/>
                </a:solidFill>
                <a:highlight>
                  <a:srgbClr val="FFFFFF"/>
                </a:highlight>
                <a:latin typeface="Helvetica Neue Light"/>
                <a:ea typeface="Helvetica Neue Light"/>
                <a:cs typeface="Helvetica Neue Light"/>
                <a:sym typeface="Helvetica Neue Light"/>
              </a:rPr>
              <a:t>CSS Grid es el sistema de maquetación más potente que hay disponible. Se trata de un sistema en 2D que permite definir filas y columnas (a diferencia de, por ejemplo, Flexbox, el cual funciona en una única dimensión). </a:t>
            </a:r>
            <a:endParaRPr sz="17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17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r>
              <a:rPr lang="en-GB" sz="1700" b="0" i="0" u="none" strike="noStrike" cap="none">
                <a:solidFill>
                  <a:schemeClr val="dk1"/>
                </a:solidFill>
                <a:highlight>
                  <a:srgbClr val="FFFFFF"/>
                </a:highlight>
                <a:latin typeface="Helvetica Neue Light"/>
                <a:ea typeface="Helvetica Neue Light"/>
                <a:cs typeface="Helvetica Neue Light"/>
                <a:sym typeface="Helvetica Neue Light"/>
              </a:rPr>
              <a:t>El grid layout permite alinear elementos en columnas y filas. Sin embargo, son posibles más diseños con CSS grid que como lo eran con las tablas. </a:t>
            </a:r>
            <a:endParaRPr sz="17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17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r>
              <a:rPr lang="en-GB" sz="1700" b="0" i="0" u="none" strike="noStrike" cap="none">
                <a:solidFill>
                  <a:schemeClr val="dk1"/>
                </a:solidFill>
                <a:highlight>
                  <a:srgbClr val="FFFFFF"/>
                </a:highlight>
                <a:latin typeface="Helvetica Neue Light"/>
                <a:ea typeface="Helvetica Neue Light"/>
                <a:cs typeface="Helvetica Neue Light"/>
                <a:sym typeface="Helvetica Neue Light"/>
              </a:rPr>
              <a:t>Por ejemplo, los elementos secundarios de un contenedor de cuadrícula podrían posicionarse de manera que se solapen y se superpongan, similar a los elementos posicionados en CSS.</a:t>
            </a:r>
            <a:endParaRPr sz="17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20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2000" b="0" i="0" u="none" strike="noStrike" cap="none">
              <a:solidFill>
                <a:schemeClr val="dk1"/>
              </a:solidFill>
              <a:highlight>
                <a:srgbClr val="FFFFFF"/>
              </a:highlight>
              <a:latin typeface="Helvetica Neue Light"/>
              <a:ea typeface="Helvetica Neue Light"/>
              <a:cs typeface="Helvetica Neue Light"/>
              <a:sym typeface="Helvetica Neue Light"/>
            </a:endParaRPr>
          </a:p>
        </p:txBody>
      </p:sp>
      <p:sp>
        <p:nvSpPr>
          <p:cNvPr id="247" name="Google Shape;247;p38"/>
          <p:cNvSpPr txBox="1"/>
          <p:nvPr/>
        </p:nvSpPr>
        <p:spPr>
          <a:xfrm>
            <a:off x="1606925" y="367900"/>
            <a:ext cx="5666100" cy="989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500"/>
              <a:buFont typeface="Arial"/>
              <a:buNone/>
            </a:pPr>
            <a:r>
              <a:rPr lang="en-GB" sz="4500" b="0" i="1" u="none" strike="noStrike" cap="none">
                <a:solidFill>
                  <a:srgbClr val="000000"/>
                </a:solidFill>
                <a:latin typeface="Anton"/>
                <a:ea typeface="Anton"/>
                <a:cs typeface="Anton"/>
                <a:sym typeface="Anton"/>
              </a:rPr>
              <a:t>¿QUÉ ES?</a:t>
            </a:r>
            <a:endParaRPr sz="4500" b="0" i="1" u="none" strike="noStrike" cap="none">
              <a:solidFill>
                <a:srgbClr val="000000"/>
              </a:solidFill>
              <a:latin typeface="Anton"/>
              <a:ea typeface="Anton"/>
              <a:cs typeface="Anton"/>
              <a:sym typeface="Anton"/>
            </a:endParaRPr>
          </a:p>
        </p:txBody>
      </p:sp>
      <p:pic>
        <p:nvPicPr>
          <p:cNvPr id="248" name="Google Shape;248;p38"/>
          <p:cNvPicPr preferRelativeResize="0"/>
          <p:nvPr/>
        </p:nvPicPr>
        <p:blipFill rotWithShape="1">
          <a:blip r:embed="rId3">
            <a:alphaModFix/>
          </a:blip>
          <a:srcRect/>
          <a:stretch/>
        </p:blipFill>
        <p:spPr>
          <a:xfrm>
            <a:off x="7567925" y="4659625"/>
            <a:ext cx="1186526" cy="330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9"/>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254" name="Google Shape;254;p39"/>
          <p:cNvPicPr preferRelativeResize="0"/>
          <p:nvPr/>
        </p:nvPicPr>
        <p:blipFill rotWithShape="1">
          <a:blip r:embed="rId4">
            <a:alphaModFix/>
          </a:blip>
          <a:srcRect/>
          <a:stretch/>
        </p:blipFill>
        <p:spPr>
          <a:xfrm>
            <a:off x="2154423" y="1050175"/>
            <a:ext cx="4835150" cy="3695975"/>
          </a:xfrm>
          <a:prstGeom prst="rect">
            <a:avLst/>
          </a:prstGeom>
          <a:noFill/>
          <a:ln>
            <a:noFill/>
          </a:ln>
        </p:spPr>
      </p:pic>
      <p:sp>
        <p:nvSpPr>
          <p:cNvPr id="255" name="Google Shape;255;p39"/>
          <p:cNvSpPr txBox="1"/>
          <p:nvPr/>
        </p:nvSpPr>
        <p:spPr>
          <a:xfrm>
            <a:off x="247800" y="127950"/>
            <a:ext cx="8648400" cy="30000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GB" sz="1400" b="0" i="0" u="none" strike="noStrike" cap="none">
                <a:solidFill>
                  <a:schemeClr val="dk1"/>
                </a:solidFill>
                <a:highlight>
                  <a:schemeClr val="lt1"/>
                </a:highlight>
                <a:latin typeface="Helvetica Neue Light"/>
                <a:ea typeface="Helvetica Neue Light"/>
                <a:cs typeface="Helvetica Neue Light"/>
                <a:sym typeface="Helvetica Neue Light"/>
              </a:rPr>
              <a:t>CSS Grid layout contiene funciones de diseño dirigidas a los desarrolladores de aplicaciones web. El CSS grid se puede utilizar para lograr muchos diseños diferentes. </a:t>
            </a:r>
            <a:r>
              <a:rPr lang="en-GB" sz="1400" b="0" i="0" u="none" strike="noStrike" cap="none">
                <a:solidFill>
                  <a:schemeClr val="dk1"/>
                </a:solidFill>
                <a:highlight>
                  <a:srgbClr val="E0FF00"/>
                </a:highlight>
                <a:latin typeface="Helvetica Neue Light"/>
                <a:ea typeface="Helvetica Neue Light"/>
                <a:cs typeface="Helvetica Neue Light"/>
                <a:sym typeface="Helvetica Neue Light"/>
              </a:rPr>
              <a:t>Se destaca por dividir una página en regiones principales, o definir la relación en términos de tamaño, posición y capas, entre partes de un control.</a:t>
            </a:r>
            <a:br>
              <a:rPr lang="en-GB" sz="1400" b="0" i="0" u="none" strike="noStrike" cap="none">
                <a:solidFill>
                  <a:schemeClr val="dk1"/>
                </a:solidFill>
                <a:highlight>
                  <a:srgbClr val="E0FF00"/>
                </a:highlight>
                <a:latin typeface="Helvetica Neue Light"/>
                <a:ea typeface="Helvetica Neue Light"/>
                <a:cs typeface="Helvetica Neue Light"/>
                <a:sym typeface="Helvetica Neue Light"/>
              </a:rPr>
            </a:br>
            <a:endParaRPr sz="1400" b="0" i="0" u="none" strike="noStrike" cap="none">
              <a:solidFill>
                <a:schemeClr val="dk1"/>
              </a:solidFill>
              <a:highlight>
                <a:srgbClr val="E0FF00"/>
              </a:highlight>
              <a:latin typeface="Helvetica Neue Light"/>
              <a:ea typeface="Helvetica Neue Light"/>
              <a:cs typeface="Helvetica Neue Light"/>
              <a:sym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261" name="Google Shape;261;p40"/>
          <p:cNvSpPr txBox="1"/>
          <p:nvPr/>
        </p:nvSpPr>
        <p:spPr>
          <a:xfrm>
            <a:off x="3857625" y="246475"/>
            <a:ext cx="50622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4000" b="0" i="1" u="none" strike="noStrike" cap="none">
                <a:solidFill>
                  <a:schemeClr val="dk1"/>
                </a:solidFill>
                <a:latin typeface="Anton"/>
                <a:ea typeface="Anton"/>
                <a:cs typeface="Anton"/>
                <a:sym typeface="Anton"/>
              </a:rPr>
              <a:t>IMPLEMENTAR GRIDS</a:t>
            </a:r>
            <a:endParaRPr sz="4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262" name="Google Shape;262;p40"/>
          <p:cNvSpPr txBox="1"/>
          <p:nvPr/>
        </p:nvSpPr>
        <p:spPr>
          <a:xfrm>
            <a:off x="4322200" y="1388250"/>
            <a:ext cx="4432200" cy="3323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¿Position? ¿Float? ¿Elementos de Bloque? ¿Elementos de líneas?</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¿Es suficiente crear un layout/estructuras para páginas web actuales?</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Y… ¿Flexbox?</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¿Necesitaremos algo más potente para estructuras web?</a:t>
            </a:r>
            <a:endParaRPr sz="1800" b="0" i="0" u="none" strike="noStrike" cap="none">
              <a:solidFill>
                <a:schemeClr val="dk1"/>
              </a:solidFill>
              <a:latin typeface="Helvetica Neue Light"/>
              <a:ea typeface="Helvetica Neue Light"/>
              <a:cs typeface="Helvetica Neue Light"/>
              <a:sym typeface="Helvetica Neue Light"/>
            </a:endParaRPr>
          </a:p>
        </p:txBody>
      </p:sp>
      <p:pic>
        <p:nvPicPr>
          <p:cNvPr id="263" name="Google Shape;263;p40"/>
          <p:cNvPicPr preferRelativeResize="0"/>
          <p:nvPr/>
        </p:nvPicPr>
        <p:blipFill rotWithShape="1">
          <a:blip r:embed="rId4">
            <a:alphaModFix/>
          </a:blip>
          <a:srcRect/>
          <a:stretch/>
        </p:blipFill>
        <p:spPr>
          <a:xfrm>
            <a:off x="0" y="0"/>
            <a:ext cx="3857626" cy="5143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1"/>
          <p:cNvSpPr txBox="1"/>
          <p:nvPr/>
        </p:nvSpPr>
        <p:spPr>
          <a:xfrm>
            <a:off x="137550" y="3386750"/>
            <a:ext cx="8868900" cy="1099200"/>
          </a:xfrm>
          <a:prstGeom prst="rect">
            <a:avLst/>
          </a:prstGeom>
          <a:solidFill>
            <a:srgbClr val="3DFFBC"/>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Muchos frameworks y librerías utilizan un sistema grid, donde definen una cuadrícula determinada, y cambiando los nombres de las clases de los elementos HTML es posible trabajar muchos atributos.</a:t>
            </a:r>
            <a:endParaRPr sz="1800" b="0" i="0" u="none" strike="noStrike" cap="none">
              <a:solidFill>
                <a:schemeClr val="dk1"/>
              </a:solidFill>
              <a:latin typeface="Helvetica Neue Light"/>
              <a:ea typeface="Helvetica Neue Light"/>
              <a:cs typeface="Helvetica Neue Light"/>
              <a:sym typeface="Helvetica Neue Light"/>
            </a:endParaRPr>
          </a:p>
        </p:txBody>
      </p:sp>
      <p:pic>
        <p:nvPicPr>
          <p:cNvPr id="269" name="Google Shape;269;p4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270" name="Google Shape;270;p41"/>
          <p:cNvSpPr txBox="1"/>
          <p:nvPr/>
        </p:nvSpPr>
        <p:spPr>
          <a:xfrm>
            <a:off x="643801" y="3102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4000" b="0" i="1" u="none" strike="noStrike" cap="none">
                <a:solidFill>
                  <a:schemeClr val="dk1"/>
                </a:solidFill>
                <a:latin typeface="Anton"/>
                <a:ea typeface="Anton"/>
                <a:cs typeface="Anton"/>
                <a:sym typeface="Anton"/>
              </a:rPr>
              <a:t>IMPLEMENTAR GRIDS</a:t>
            </a:r>
            <a:endParaRPr sz="4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271" name="Google Shape;271;p41"/>
          <p:cNvSpPr txBox="1"/>
          <p:nvPr/>
        </p:nvSpPr>
        <p:spPr>
          <a:xfrm>
            <a:off x="2450125" y="1589575"/>
            <a:ext cx="6284700" cy="13107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Los complementos vistos anteriormente suelen ser insuficientes, o a veces un poco complejos para crear un layout/estructuras para páginas web actuales.</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Helvetica Neue Light"/>
              <a:ea typeface="Helvetica Neue Light"/>
              <a:cs typeface="Helvetica Neue Light"/>
              <a:sym typeface="Helvetica Neue Light"/>
            </a:endParaRPr>
          </a:p>
        </p:txBody>
      </p:sp>
      <p:sp>
        <p:nvSpPr>
          <p:cNvPr id="272" name="Google Shape;272;p41"/>
          <p:cNvSpPr txBox="1"/>
          <p:nvPr/>
        </p:nvSpPr>
        <p:spPr>
          <a:xfrm>
            <a:off x="900450" y="1583425"/>
            <a:ext cx="1392300" cy="1227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7200"/>
              <a:buFont typeface="Arial"/>
              <a:buNone/>
            </a:pPr>
            <a:r>
              <a:rPr lang="en-GB" sz="7200" b="1" i="0" u="none" strike="noStrike" cap="none">
                <a:solidFill>
                  <a:schemeClr val="dk1"/>
                </a:solidFill>
                <a:latin typeface="Anton"/>
                <a:ea typeface="Anton"/>
                <a:cs typeface="Anton"/>
                <a:sym typeface="Anton"/>
              </a:rPr>
              <a:t>¡SI! </a:t>
            </a:r>
            <a:endParaRPr sz="7200" b="1" i="0" u="none" strike="noStrike" cap="none">
              <a:solidFill>
                <a:srgbClr val="000000"/>
              </a:solidFill>
              <a:latin typeface="Anton"/>
              <a:ea typeface="Anton"/>
              <a:cs typeface="Anton"/>
              <a:sym typeface="Anton"/>
            </a:endParaRPr>
          </a:p>
        </p:txBody>
      </p:sp>
      <p:sp>
        <p:nvSpPr>
          <p:cNvPr id="273" name="Google Shape;273;p41"/>
          <p:cNvSpPr txBox="1"/>
          <p:nvPr/>
        </p:nvSpPr>
        <p:spPr>
          <a:xfrm>
            <a:off x="73500" y="2759150"/>
            <a:ext cx="8997000" cy="567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Flexbox fue una gran mejora, pero está orientado a estructuras de una sola dimensión.</a:t>
            </a:r>
            <a:endParaRPr sz="1800" b="0" i="0" u="none" strike="noStrike" cap="none">
              <a:solidFill>
                <a:schemeClr val="dk1"/>
              </a:solidFill>
              <a:highlight>
                <a:srgbClr val="E0FF00"/>
              </a:highlight>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4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279" name="Google Shape;279;p42"/>
          <p:cNvSpPr txBox="1"/>
          <p:nvPr/>
        </p:nvSpPr>
        <p:spPr>
          <a:xfrm>
            <a:off x="643801" y="3275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4000" b="0" i="1" u="none" strike="noStrike" cap="none">
                <a:solidFill>
                  <a:schemeClr val="dk1"/>
                </a:solidFill>
                <a:latin typeface="Anton"/>
                <a:ea typeface="Anton"/>
                <a:cs typeface="Anton"/>
                <a:sym typeface="Anton"/>
              </a:rPr>
              <a:t>¿POR QUÉ GRIDS?</a:t>
            </a:r>
            <a:endParaRPr sz="4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280" name="Google Shape;280;p42"/>
          <p:cNvSpPr txBox="1"/>
          <p:nvPr/>
        </p:nvSpPr>
        <p:spPr>
          <a:xfrm>
            <a:off x="643800" y="1565125"/>
            <a:ext cx="7856400" cy="30000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rgbClr val="3CEFAB"/>
              </a:buClr>
              <a:buSzPts val="1800"/>
              <a:buFont typeface="Helvetica Neue Light"/>
              <a:buChar char="●"/>
            </a:pP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Grid CSS surge de la necesidad de algo más potente</a:t>
            </a:r>
            <a:r>
              <a:rPr lang="en-GB" sz="1800" b="0" i="0" u="none" strike="noStrike" cap="none">
                <a:solidFill>
                  <a:schemeClr val="dk1"/>
                </a:solidFill>
                <a:latin typeface="Helvetica Neue Light"/>
                <a:ea typeface="Helvetica Neue Light"/>
                <a:cs typeface="Helvetica Neue Light"/>
                <a:sym typeface="Helvetica Neue Light"/>
              </a:rPr>
              <a:t>, y toma las ventajas del sistema Flexbox, sumándole muchas mejoras y características que </a:t>
            </a: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permiten crear muy rápido cuadrículas sencillas y potentes</a:t>
            </a:r>
            <a:r>
              <a:rPr lang="en-GB" sz="1800" b="0" i="0" u="none" strike="noStrike" cap="none">
                <a:solidFill>
                  <a:schemeClr val="dk1"/>
                </a:solidFill>
                <a:latin typeface="Helvetica Neue Light"/>
                <a:ea typeface="Helvetica Neue Light"/>
                <a:cs typeface="Helvetica Neue Light"/>
                <a:sym typeface="Helvetica Neue Light"/>
              </a:rPr>
              <a:t>.</a:t>
            </a:r>
            <a:br>
              <a:rPr lang="en-GB" sz="1800" b="0" i="0" u="none" strike="noStrike" cap="none">
                <a:solidFill>
                  <a:schemeClr val="dk1"/>
                </a:solidFill>
                <a:latin typeface="Helvetica Neue Light"/>
                <a:ea typeface="Helvetica Neue Light"/>
                <a:cs typeface="Helvetica Neue Light"/>
                <a:sym typeface="Helvetica Neue Light"/>
              </a:rPr>
            </a:br>
            <a:endParaRPr sz="1800" b="0" i="0" u="none" strike="noStrike" cap="none">
              <a:solidFill>
                <a:schemeClr val="dk1"/>
              </a:solidFill>
              <a:latin typeface="Helvetica Neue Light"/>
              <a:ea typeface="Helvetica Neue Light"/>
              <a:cs typeface="Helvetica Neue Light"/>
              <a:sym typeface="Helvetica Neue Light"/>
            </a:endParaRPr>
          </a:p>
          <a:p>
            <a:pPr marL="457200" marR="0" lvl="0" indent="-342900" algn="l" rtl="0">
              <a:lnSpc>
                <a:spcPct val="115000"/>
              </a:lnSpc>
              <a:spcBef>
                <a:spcPts val="0"/>
              </a:spcBef>
              <a:spcAft>
                <a:spcPts val="0"/>
              </a:spcAft>
              <a:buClr>
                <a:srgbClr val="3CEFAB"/>
              </a:buClr>
              <a:buSzPts val="1800"/>
              <a:buFont typeface="Helvetica Neue Light"/>
              <a:buChar char="●"/>
            </a:pP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Grid toma la filosofía y la base del sistema Flexbox.</a:t>
            </a:r>
            <a:r>
              <a:rPr lang="en-GB" sz="1800" b="0" i="0" u="none" strike="noStrike" cap="none">
                <a:solidFill>
                  <a:schemeClr val="dk1"/>
                </a:solidFill>
                <a:latin typeface="Helvetica Neue Light"/>
                <a:ea typeface="Helvetica Neue Light"/>
                <a:cs typeface="Helvetica Neue Light"/>
                <a:sym typeface="Helvetica Neue Light"/>
              </a:rPr>
              <a:t> Esto no significa que lo reemplaza, sino que pueden convivir.</a:t>
            </a:r>
            <a:br>
              <a:rPr lang="en-GB" sz="1800" b="0" i="0" u="none" strike="noStrike" cap="none">
                <a:solidFill>
                  <a:schemeClr val="dk1"/>
                </a:solidFill>
                <a:latin typeface="Helvetica Neue Light"/>
                <a:ea typeface="Helvetica Neue Light"/>
                <a:cs typeface="Helvetica Neue Light"/>
                <a:sym typeface="Helvetica Neue Light"/>
              </a:rPr>
            </a:br>
            <a:endParaRPr sz="1800" b="0" i="0" u="none" strike="noStrike" cap="none">
              <a:solidFill>
                <a:schemeClr val="dk1"/>
              </a:solidFill>
              <a:latin typeface="Helvetica Neue Light"/>
              <a:ea typeface="Helvetica Neue Light"/>
              <a:cs typeface="Helvetica Neue Light"/>
              <a:sym typeface="Helvetica Neue Light"/>
            </a:endParaRPr>
          </a:p>
          <a:p>
            <a:pPr marL="457200" marR="0" lvl="0" indent="-342900" algn="l" rtl="0">
              <a:lnSpc>
                <a:spcPct val="115000"/>
              </a:lnSpc>
              <a:spcBef>
                <a:spcPts val="0"/>
              </a:spcBef>
              <a:spcAft>
                <a:spcPts val="0"/>
              </a:spcAft>
              <a:buClr>
                <a:srgbClr val="3CEFAB"/>
              </a:buClr>
              <a:buSzPts val="1800"/>
              <a:buFont typeface="Helvetica Neue Light"/>
              <a:buChar char="●"/>
            </a:pPr>
            <a:r>
              <a:rPr lang="en-GB" sz="1800" b="0" i="0" u="none" strike="noStrike" cap="none">
                <a:solidFill>
                  <a:schemeClr val="dk1"/>
                </a:solidFill>
                <a:latin typeface="Helvetica Neue Light"/>
                <a:ea typeface="Helvetica Neue Light"/>
                <a:cs typeface="Helvetica Neue Light"/>
                <a:sym typeface="Helvetica Neue Light"/>
              </a:rPr>
              <a:t>Está pensado para estructuras grandes y complejas.</a:t>
            </a:r>
            <a:br>
              <a:rPr lang="en-GB" sz="1800" b="0" i="0" u="none" strike="noStrike" cap="none">
                <a:solidFill>
                  <a:schemeClr val="dk1"/>
                </a:solidFill>
                <a:latin typeface="Helvetica Neue Light"/>
                <a:ea typeface="Helvetica Neue Light"/>
                <a:cs typeface="Helvetica Neue Light"/>
                <a:sym typeface="Helvetica Neue Light"/>
              </a:rPr>
            </a:br>
            <a:endParaRPr sz="1800" b="0" i="0" u="none" strike="noStrike" cap="non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Google Shape;285;p4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286" name="Google Shape;286;p43"/>
          <p:cNvSpPr txBox="1"/>
          <p:nvPr/>
        </p:nvSpPr>
        <p:spPr>
          <a:xfrm>
            <a:off x="643800" y="1753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1" u="none" strike="noStrike" cap="none">
                <a:solidFill>
                  <a:schemeClr val="dk1"/>
                </a:solidFill>
                <a:latin typeface="Anton"/>
                <a:ea typeface="Anton"/>
                <a:cs typeface="Anton"/>
                <a:sym typeface="Anton"/>
              </a:rPr>
              <a:t>DIFERENCIA ENTRE FLEXBOX Y GRIDS</a:t>
            </a:r>
            <a:endParaRPr sz="3800" b="0" i="1" u="none" strike="noStrike" cap="none">
              <a:solidFill>
                <a:schemeClr val="dk1"/>
              </a:solidFill>
              <a:latin typeface="Anton"/>
              <a:ea typeface="Anton"/>
              <a:cs typeface="Anton"/>
              <a:sym typeface="Anton"/>
            </a:endParaRPr>
          </a:p>
        </p:txBody>
      </p:sp>
      <p:sp>
        <p:nvSpPr>
          <p:cNvPr id="287" name="Google Shape;287;p43"/>
          <p:cNvSpPr txBox="1"/>
          <p:nvPr/>
        </p:nvSpPr>
        <p:spPr>
          <a:xfrm>
            <a:off x="1662850" y="1410800"/>
            <a:ext cx="1787100" cy="33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rgbClr val="000000"/>
                </a:solidFill>
                <a:latin typeface="Helvetica Neue"/>
                <a:ea typeface="Helvetica Neue"/>
                <a:cs typeface="Helvetica Neue"/>
                <a:sym typeface="Helvetica Neue"/>
              </a:rPr>
              <a:t>Flexbox</a:t>
            </a:r>
            <a:endParaRPr sz="1400" b="1" i="0" u="none" strike="noStrike" cap="none">
              <a:solidFill>
                <a:srgbClr val="000000"/>
              </a:solidFill>
              <a:latin typeface="Helvetica Neue"/>
              <a:ea typeface="Helvetica Neue"/>
              <a:cs typeface="Helvetica Neue"/>
              <a:sym typeface="Helvetica Neue"/>
            </a:endParaRPr>
          </a:p>
        </p:txBody>
      </p:sp>
      <p:sp>
        <p:nvSpPr>
          <p:cNvPr id="288" name="Google Shape;288;p43"/>
          <p:cNvSpPr txBox="1"/>
          <p:nvPr/>
        </p:nvSpPr>
        <p:spPr>
          <a:xfrm>
            <a:off x="5612425" y="1410800"/>
            <a:ext cx="1787100" cy="33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rgbClr val="000000"/>
                </a:solidFill>
                <a:latin typeface="Helvetica Neue"/>
                <a:ea typeface="Helvetica Neue"/>
                <a:cs typeface="Helvetica Neue"/>
                <a:sym typeface="Helvetica Neue"/>
              </a:rPr>
              <a:t>Grids</a:t>
            </a:r>
            <a:endParaRPr sz="1400" b="1" i="0" u="none" strike="noStrike" cap="none">
              <a:solidFill>
                <a:srgbClr val="000000"/>
              </a:solidFill>
              <a:latin typeface="Helvetica Neue"/>
              <a:ea typeface="Helvetica Neue"/>
              <a:cs typeface="Helvetica Neue"/>
              <a:sym typeface="Helvetica Neue"/>
            </a:endParaRPr>
          </a:p>
        </p:txBody>
      </p:sp>
      <p:pic>
        <p:nvPicPr>
          <p:cNvPr id="289" name="Google Shape;289;p43"/>
          <p:cNvPicPr preferRelativeResize="0"/>
          <p:nvPr/>
        </p:nvPicPr>
        <p:blipFill rotWithShape="1">
          <a:blip r:embed="rId4">
            <a:alphaModFix/>
          </a:blip>
          <a:srcRect l="55019"/>
          <a:stretch/>
        </p:blipFill>
        <p:spPr>
          <a:xfrm>
            <a:off x="873174" y="1743900"/>
            <a:ext cx="3440425" cy="2257425"/>
          </a:xfrm>
          <a:prstGeom prst="rect">
            <a:avLst/>
          </a:prstGeom>
          <a:noFill/>
          <a:ln>
            <a:noFill/>
          </a:ln>
        </p:spPr>
      </p:pic>
      <p:pic>
        <p:nvPicPr>
          <p:cNvPr id="290" name="Google Shape;290;p43"/>
          <p:cNvPicPr preferRelativeResize="0"/>
          <p:nvPr/>
        </p:nvPicPr>
        <p:blipFill rotWithShape="1">
          <a:blip r:embed="rId4">
            <a:alphaModFix/>
          </a:blip>
          <a:srcRect r="56310"/>
          <a:stretch/>
        </p:blipFill>
        <p:spPr>
          <a:xfrm>
            <a:off x="4826049" y="1758700"/>
            <a:ext cx="3341600" cy="2257425"/>
          </a:xfrm>
          <a:prstGeom prst="rect">
            <a:avLst/>
          </a:prstGeom>
          <a:noFill/>
          <a:ln>
            <a:noFill/>
          </a:ln>
        </p:spPr>
      </p:pic>
      <p:sp>
        <p:nvSpPr>
          <p:cNvPr id="291" name="Google Shape;291;p43"/>
          <p:cNvSpPr txBox="1"/>
          <p:nvPr/>
        </p:nvSpPr>
        <p:spPr>
          <a:xfrm>
            <a:off x="0" y="4111525"/>
            <a:ext cx="9144000" cy="452700"/>
          </a:xfrm>
          <a:prstGeom prst="rect">
            <a:avLst/>
          </a:prstGeom>
          <a:solidFill>
            <a:srgbClr val="E0FF00"/>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Ambos son mucho más potentes que cualquier técnica que haya existido antes.</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p4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297" name="Google Shape;297;p44"/>
          <p:cNvSpPr txBox="1"/>
          <p:nvPr/>
        </p:nvSpPr>
        <p:spPr>
          <a:xfrm>
            <a:off x="643800" y="2626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1" u="none" strike="noStrike" cap="none">
                <a:solidFill>
                  <a:schemeClr val="dk1"/>
                </a:solidFill>
                <a:latin typeface="Anton"/>
                <a:ea typeface="Anton"/>
                <a:cs typeface="Anton"/>
                <a:sym typeface="Anton"/>
              </a:rPr>
              <a:t>DIFERENCIA ENTRE FLEXBOX Y GRIDS</a:t>
            </a:r>
            <a:endParaRPr sz="3800" b="0" i="1" u="none" strike="noStrike" cap="none">
              <a:solidFill>
                <a:schemeClr val="dk1"/>
              </a:solidFill>
              <a:latin typeface="Anton"/>
              <a:ea typeface="Anton"/>
              <a:cs typeface="Anton"/>
              <a:sym typeface="Anton"/>
            </a:endParaRPr>
          </a:p>
        </p:txBody>
      </p:sp>
      <p:pic>
        <p:nvPicPr>
          <p:cNvPr id="298" name="Google Shape;298;p44"/>
          <p:cNvPicPr preferRelativeResize="0"/>
          <p:nvPr/>
        </p:nvPicPr>
        <p:blipFill rotWithShape="1">
          <a:blip r:embed="rId4">
            <a:alphaModFix/>
          </a:blip>
          <a:srcRect/>
          <a:stretch/>
        </p:blipFill>
        <p:spPr>
          <a:xfrm>
            <a:off x="1666000" y="1458950"/>
            <a:ext cx="5645750" cy="2845550"/>
          </a:xfrm>
          <a:prstGeom prst="rect">
            <a:avLst/>
          </a:prstGeom>
          <a:noFill/>
          <a:ln>
            <a:noFill/>
          </a:ln>
        </p:spPr>
      </p:pic>
      <p:sp>
        <p:nvSpPr>
          <p:cNvPr id="299" name="Google Shape;299;p44"/>
          <p:cNvSpPr txBox="1"/>
          <p:nvPr/>
        </p:nvSpPr>
        <p:spPr>
          <a:xfrm>
            <a:off x="2025350" y="4304500"/>
            <a:ext cx="1968900" cy="532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Helvetica Neue"/>
                <a:ea typeface="Helvetica Neue"/>
                <a:cs typeface="Helvetica Neue"/>
                <a:sym typeface="Helvetica Neue"/>
              </a:rPr>
              <a:t>Unidimensional</a:t>
            </a:r>
            <a:endParaRPr sz="1800" b="1" i="0" u="none" strike="noStrike" cap="none">
              <a:solidFill>
                <a:srgbClr val="000000"/>
              </a:solidFill>
              <a:latin typeface="Helvetica Neue"/>
              <a:ea typeface="Helvetica Neue"/>
              <a:cs typeface="Helvetica Neue"/>
              <a:sym typeface="Helvetica Neue"/>
            </a:endParaRPr>
          </a:p>
        </p:txBody>
      </p:sp>
      <p:sp>
        <p:nvSpPr>
          <p:cNvPr id="300" name="Google Shape;300;p44"/>
          <p:cNvSpPr txBox="1"/>
          <p:nvPr/>
        </p:nvSpPr>
        <p:spPr>
          <a:xfrm>
            <a:off x="5025238" y="4285200"/>
            <a:ext cx="1968900" cy="532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Helvetica Neue"/>
                <a:ea typeface="Helvetica Neue"/>
                <a:cs typeface="Helvetica Neue"/>
                <a:sym typeface="Helvetica Neue"/>
              </a:rPr>
              <a:t>Bidimensional</a:t>
            </a:r>
            <a:endParaRPr sz="1800" b="1"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06" name="Google Shape;306;p45"/>
          <p:cNvSpPr txBox="1"/>
          <p:nvPr/>
        </p:nvSpPr>
        <p:spPr>
          <a:xfrm>
            <a:off x="643800" y="1173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1" u="none" strike="noStrike" cap="none">
                <a:solidFill>
                  <a:schemeClr val="dk1"/>
                </a:solidFill>
                <a:latin typeface="Anton"/>
                <a:ea typeface="Anton"/>
                <a:cs typeface="Anton"/>
                <a:sym typeface="Anton"/>
              </a:rPr>
              <a:t>PUEDEN CONVIVIR</a:t>
            </a:r>
            <a:endParaRPr sz="3800" b="0" i="1" u="none" strike="noStrike" cap="none">
              <a:solidFill>
                <a:schemeClr val="dk1"/>
              </a:solidFill>
              <a:latin typeface="Anton"/>
              <a:ea typeface="Anton"/>
              <a:cs typeface="Anton"/>
              <a:sym typeface="Anton"/>
            </a:endParaRPr>
          </a:p>
        </p:txBody>
      </p:sp>
      <p:pic>
        <p:nvPicPr>
          <p:cNvPr id="307" name="Google Shape;307;p45"/>
          <p:cNvPicPr preferRelativeResize="0"/>
          <p:nvPr/>
        </p:nvPicPr>
        <p:blipFill rotWithShape="1">
          <a:blip r:embed="rId4">
            <a:alphaModFix/>
          </a:blip>
          <a:srcRect/>
          <a:stretch/>
        </p:blipFill>
        <p:spPr>
          <a:xfrm>
            <a:off x="1833675" y="1188040"/>
            <a:ext cx="5476653" cy="347158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13" name="Google Shape;313;p46"/>
          <p:cNvSpPr txBox="1"/>
          <p:nvPr/>
        </p:nvSpPr>
        <p:spPr>
          <a:xfrm>
            <a:off x="643800" y="-963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1" u="none" strike="noStrike" cap="none">
                <a:solidFill>
                  <a:schemeClr val="dk1"/>
                </a:solidFill>
                <a:latin typeface="Anton"/>
                <a:ea typeface="Anton"/>
                <a:cs typeface="Anton"/>
                <a:sym typeface="Anton"/>
              </a:rPr>
              <a:t>PROPIEDADES DEL PADRE</a:t>
            </a:r>
            <a:endParaRPr sz="3800" b="0" i="1" u="none" strike="noStrike" cap="none">
              <a:solidFill>
                <a:schemeClr val="dk1"/>
              </a:solidFill>
              <a:latin typeface="Anton"/>
              <a:ea typeface="Anton"/>
              <a:cs typeface="Anton"/>
              <a:sym typeface="Anton"/>
            </a:endParaRPr>
          </a:p>
        </p:txBody>
      </p:sp>
      <p:sp>
        <p:nvSpPr>
          <p:cNvPr id="314" name="Google Shape;314;p46"/>
          <p:cNvSpPr txBox="1"/>
          <p:nvPr/>
        </p:nvSpPr>
        <p:spPr>
          <a:xfrm>
            <a:off x="4673300" y="2481400"/>
            <a:ext cx="3636900" cy="2265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Elemento padre</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Elemento hijo</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&lt;/section&gt;</a:t>
            </a:r>
            <a:endParaRPr sz="1400" b="0" i="0" u="none" strike="noStrike" cap="none">
              <a:solidFill>
                <a:srgbClr val="8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pic>
        <p:nvPicPr>
          <p:cNvPr id="315" name="Google Shape;315;p46"/>
          <p:cNvPicPr preferRelativeResize="0"/>
          <p:nvPr/>
        </p:nvPicPr>
        <p:blipFill rotWithShape="1">
          <a:blip r:embed="rId4">
            <a:alphaModFix/>
          </a:blip>
          <a:srcRect/>
          <a:stretch/>
        </p:blipFill>
        <p:spPr>
          <a:xfrm>
            <a:off x="726050" y="2481400"/>
            <a:ext cx="3436551" cy="2265575"/>
          </a:xfrm>
          <a:prstGeom prst="rect">
            <a:avLst/>
          </a:prstGeom>
          <a:noFill/>
          <a:ln>
            <a:noFill/>
          </a:ln>
        </p:spPr>
      </p:pic>
      <p:sp>
        <p:nvSpPr>
          <p:cNvPr id="316" name="Google Shape;316;p46"/>
          <p:cNvSpPr txBox="1"/>
          <p:nvPr/>
        </p:nvSpPr>
        <p:spPr>
          <a:xfrm>
            <a:off x="137925" y="836475"/>
            <a:ext cx="85002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700"/>
              <a:buFont typeface="Arial"/>
              <a:buNone/>
            </a:pPr>
            <a:r>
              <a:rPr lang="en-GB" sz="1700" b="0" i="0" u="none" strike="noStrike" cap="none">
                <a:solidFill>
                  <a:schemeClr val="dk1"/>
                </a:solidFill>
                <a:latin typeface="Helvetica Neue Light"/>
                <a:ea typeface="Helvetica Neue Light"/>
                <a:cs typeface="Helvetica Neue Light"/>
                <a:sym typeface="Helvetica Neue Light"/>
              </a:rPr>
              <a:t>Activamos la cuadrícula Grid utilizando, sobre el elemento contenedor, la propiedad display con el valor grid o inline-grid. Esto influye en cómo se comportará la cuadrícula con el exterior. El primero de ellos permite que la aquella aparezca encima/debajo del contenido exterior (en bloque), mientras que el segundo permite que la cuadrícula se vea a la izquierda/derecha (en línea) del contenido exterior.</a:t>
            </a:r>
            <a:endParaRPr sz="1700" b="0" i="0" u="none" strike="noStrike" cap="non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p4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22" name="Google Shape;322;p47"/>
          <p:cNvSpPr txBox="1"/>
          <p:nvPr/>
        </p:nvSpPr>
        <p:spPr>
          <a:xfrm>
            <a:off x="643801" y="1946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1" u="none" strike="noStrike" cap="none">
                <a:solidFill>
                  <a:schemeClr val="dk1"/>
                </a:solidFill>
                <a:latin typeface="Anton"/>
                <a:ea typeface="Anton"/>
                <a:cs typeface="Anton"/>
                <a:sym typeface="Anton"/>
              </a:rPr>
              <a:t>PROPIEDADES DEL PADRE</a:t>
            </a:r>
            <a:endParaRPr sz="3800" b="0" i="1" u="none" strike="noStrike" cap="none">
              <a:solidFill>
                <a:schemeClr val="dk1"/>
              </a:solidFill>
              <a:latin typeface="Anton"/>
              <a:ea typeface="Anton"/>
              <a:cs typeface="Anton"/>
              <a:sym typeface="Anton"/>
            </a:endParaRPr>
          </a:p>
        </p:txBody>
      </p:sp>
      <p:graphicFrame>
        <p:nvGraphicFramePr>
          <p:cNvPr id="323" name="Google Shape;323;p47"/>
          <p:cNvGraphicFramePr/>
          <p:nvPr/>
        </p:nvGraphicFramePr>
        <p:xfrm>
          <a:off x="726050" y="1940200"/>
          <a:ext cx="3000000" cy="3000000"/>
        </p:xfrm>
        <a:graphic>
          <a:graphicData uri="http://schemas.openxmlformats.org/drawingml/2006/table">
            <a:tbl>
              <a:tblPr>
                <a:noFill/>
                <a:tableStyleId>{B16850B3-2374-45B4-9FE3-4A422C0ACE20}</a:tableStyleId>
              </a:tblPr>
              <a:tblGrid>
                <a:gridCol w="2611975"/>
                <a:gridCol w="5416425"/>
              </a:tblGrid>
              <a:tr h="438800">
                <a:tc>
                  <a:txBody>
                    <a:bodyPr/>
                    <a:lstStyle/>
                    <a:p>
                      <a:pPr marL="0" marR="0" lvl="0" indent="0" algn="l" rtl="0">
                        <a:lnSpc>
                          <a:spcPct val="100000"/>
                        </a:lnSpc>
                        <a:spcBef>
                          <a:spcPts val="0"/>
                        </a:spcBef>
                        <a:spcAft>
                          <a:spcPts val="0"/>
                        </a:spcAft>
                        <a:buClr>
                          <a:srgbClr val="000000"/>
                        </a:buClr>
                        <a:buSzPts val="1400"/>
                        <a:buFont typeface="Arial"/>
                        <a:buNone/>
                      </a:pPr>
                      <a:r>
                        <a:rPr lang="en-GB" sz="1400" b="1" u="none" strike="noStrike" cap="none">
                          <a:solidFill>
                            <a:srgbClr val="111111"/>
                          </a:solidFill>
                          <a:latin typeface="Helvetica Neue"/>
                          <a:ea typeface="Helvetica Neue"/>
                          <a:cs typeface="Helvetica Neue"/>
                          <a:sym typeface="Helvetica Neue"/>
                        </a:rPr>
                        <a:t>grid-template-columns</a:t>
                      </a:r>
                      <a:endParaRPr sz="1400" b="1" u="none" strike="noStrike" cap="none">
                        <a:latin typeface="Helvetica Neue"/>
                        <a:ea typeface="Helvetica Neue"/>
                        <a:cs typeface="Helvetica Neue"/>
                        <a:sym typeface="Helvetica Neue"/>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Helvetica Neue"/>
                          <a:ea typeface="Helvetica Neue"/>
                          <a:cs typeface="Helvetica Neue"/>
                          <a:sym typeface="Helvetica Neue"/>
                        </a:rPr>
                        <a:t>Establece el </a:t>
                      </a:r>
                      <a:r>
                        <a:rPr lang="en-GB" sz="1400" b="1" u="none" strike="noStrike" cap="none">
                          <a:highlight>
                            <a:srgbClr val="E0FF00"/>
                          </a:highlight>
                          <a:latin typeface="Helvetica Neue"/>
                          <a:ea typeface="Helvetica Neue"/>
                          <a:cs typeface="Helvetica Neue"/>
                          <a:sym typeface="Helvetica Neue"/>
                        </a:rPr>
                        <a:t>TAMAÑO</a:t>
                      </a:r>
                      <a:r>
                        <a:rPr lang="en-GB" sz="1400" u="none" strike="noStrike" cap="none">
                          <a:highlight>
                            <a:srgbClr val="E0FF00"/>
                          </a:highlight>
                          <a:latin typeface="Helvetica Neue"/>
                          <a:ea typeface="Helvetica Neue"/>
                          <a:cs typeface="Helvetica Neue"/>
                          <a:sym typeface="Helvetica Neue"/>
                        </a:rPr>
                        <a:t> </a:t>
                      </a:r>
                      <a:r>
                        <a:rPr lang="en-GB" sz="1400" u="none" strike="noStrike" cap="none">
                          <a:latin typeface="Helvetica Neue"/>
                          <a:ea typeface="Helvetica Neue"/>
                          <a:cs typeface="Helvetica Neue"/>
                          <a:sym typeface="Helvetica Neue"/>
                        </a:rPr>
                        <a:t>de cada </a:t>
                      </a:r>
                      <a:r>
                        <a:rPr lang="en-GB" sz="1400" b="1" u="none" strike="noStrike" cap="none">
                          <a:latin typeface="Helvetica Neue"/>
                          <a:ea typeface="Helvetica Neue"/>
                          <a:cs typeface="Helvetica Neue"/>
                          <a:sym typeface="Helvetica Neue"/>
                        </a:rPr>
                        <a:t>columna</a:t>
                      </a:r>
                      <a:r>
                        <a:rPr lang="en-GB" sz="1400" u="none" strike="noStrike" cap="none">
                          <a:latin typeface="Helvetica Neue"/>
                          <a:ea typeface="Helvetica Neue"/>
                          <a:cs typeface="Helvetica Neue"/>
                          <a:sym typeface="Helvetica Neue"/>
                        </a:rPr>
                        <a:t> (</a:t>
                      </a:r>
                      <a:r>
                        <a:rPr lang="en-GB" sz="1400" i="1" u="sng" strike="noStrike" cap="none">
                          <a:latin typeface="Helvetica Neue"/>
                          <a:ea typeface="Helvetica Neue"/>
                          <a:cs typeface="Helvetica Neue"/>
                          <a:sym typeface="Helvetica Neue"/>
                        </a:rPr>
                        <a:t>col 1, col 2...</a:t>
                      </a:r>
                      <a:r>
                        <a:rPr lang="en-GB" sz="1400" u="none" strike="noStrike" cap="none">
                          <a:latin typeface="Helvetica Neue"/>
                          <a:ea typeface="Helvetica Neue"/>
                          <a:cs typeface="Helvetica Neue"/>
                          <a:sym typeface="Helvetica Neue"/>
                        </a:rPr>
                        <a:t>).</a:t>
                      </a:r>
                      <a:endParaRPr sz="1400" u="none" strike="noStrike" cap="none">
                        <a:latin typeface="Helvetica Neue"/>
                        <a:ea typeface="Helvetica Neue"/>
                        <a:cs typeface="Helvetica Neue"/>
                        <a:sym typeface="Helvetica Neue"/>
                      </a:endParaRPr>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b="1" u="none" strike="noStrike" cap="none">
                          <a:solidFill>
                            <a:srgbClr val="111111"/>
                          </a:solidFill>
                          <a:latin typeface="Helvetica Neue"/>
                          <a:ea typeface="Helvetica Neue"/>
                          <a:cs typeface="Helvetica Neue"/>
                          <a:sym typeface="Helvetica Neue"/>
                        </a:rPr>
                        <a:t>grid-template-rows</a:t>
                      </a:r>
                      <a:endParaRPr sz="1400" b="1" u="none" strike="noStrike" cap="none">
                        <a:latin typeface="Helvetica Neue"/>
                        <a:ea typeface="Helvetica Neue"/>
                        <a:cs typeface="Helvetica Neue"/>
                        <a:sym typeface="Helvetica Neue"/>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Helvetica Neue"/>
                          <a:ea typeface="Helvetica Neue"/>
                          <a:cs typeface="Helvetica Neue"/>
                          <a:sym typeface="Helvetica Neue"/>
                        </a:rPr>
                        <a:t>Establece el </a:t>
                      </a:r>
                      <a:r>
                        <a:rPr lang="en-GB" sz="1400" b="1" u="none" strike="noStrike" cap="none">
                          <a:highlight>
                            <a:srgbClr val="E0FF00"/>
                          </a:highlight>
                          <a:latin typeface="Helvetica Neue"/>
                          <a:ea typeface="Helvetica Neue"/>
                          <a:cs typeface="Helvetica Neue"/>
                          <a:sym typeface="Helvetica Neue"/>
                        </a:rPr>
                        <a:t>TAMAÑO</a:t>
                      </a:r>
                      <a:r>
                        <a:rPr lang="en-GB" sz="1400" u="none" strike="noStrike" cap="none">
                          <a:highlight>
                            <a:srgbClr val="E0FF00"/>
                          </a:highlight>
                          <a:latin typeface="Helvetica Neue"/>
                          <a:ea typeface="Helvetica Neue"/>
                          <a:cs typeface="Helvetica Neue"/>
                          <a:sym typeface="Helvetica Neue"/>
                        </a:rPr>
                        <a:t> </a:t>
                      </a:r>
                      <a:r>
                        <a:rPr lang="en-GB" sz="1400" u="none" strike="noStrike" cap="none">
                          <a:latin typeface="Helvetica Neue"/>
                          <a:ea typeface="Helvetica Neue"/>
                          <a:cs typeface="Helvetica Neue"/>
                          <a:sym typeface="Helvetica Neue"/>
                        </a:rPr>
                        <a:t>de cada </a:t>
                      </a:r>
                      <a:r>
                        <a:rPr lang="en-GB" sz="1400" b="1" u="none" strike="noStrike" cap="none">
                          <a:latin typeface="Helvetica Neue"/>
                          <a:ea typeface="Helvetica Neue"/>
                          <a:cs typeface="Helvetica Neue"/>
                          <a:sym typeface="Helvetica Neue"/>
                        </a:rPr>
                        <a:t>fila</a:t>
                      </a:r>
                      <a:r>
                        <a:rPr lang="en-GB" sz="1400" u="none" strike="noStrike" cap="none">
                          <a:latin typeface="Helvetica Neue"/>
                          <a:ea typeface="Helvetica Neue"/>
                          <a:cs typeface="Helvetica Neue"/>
                          <a:sym typeface="Helvetica Neue"/>
                        </a:rPr>
                        <a:t> (</a:t>
                      </a:r>
                      <a:r>
                        <a:rPr lang="en-GB" sz="1400" i="1" u="sng" strike="noStrike" cap="none">
                          <a:latin typeface="Helvetica Neue"/>
                          <a:ea typeface="Helvetica Neue"/>
                          <a:cs typeface="Helvetica Neue"/>
                          <a:sym typeface="Helvetica Neue"/>
                        </a:rPr>
                        <a:t>fila 1, fila 2...</a:t>
                      </a:r>
                      <a:r>
                        <a:rPr lang="en-GB" sz="1400" u="none" strike="noStrike" cap="none">
                          <a:latin typeface="Helvetica Neue"/>
                          <a:ea typeface="Helvetica Neue"/>
                          <a:cs typeface="Helvetica Neue"/>
                          <a:sym typeface="Helvetica Neue"/>
                        </a:rPr>
                        <a:t>).</a:t>
                      </a:r>
                      <a:endParaRPr sz="1400" u="none" strike="noStrike" cap="none">
                        <a:latin typeface="Helvetica Neue"/>
                        <a:ea typeface="Helvetica Neue"/>
                        <a:cs typeface="Helvetica Neue"/>
                        <a:sym typeface="Helvetica Neue"/>
                      </a:endParaRPr>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b="1" u="none" strike="noStrike" cap="none">
                          <a:solidFill>
                            <a:srgbClr val="111111"/>
                          </a:solidFill>
                          <a:latin typeface="Helvetica Neue"/>
                          <a:ea typeface="Helvetica Neue"/>
                          <a:cs typeface="Helvetica Neue"/>
                          <a:sym typeface="Helvetica Neue"/>
                        </a:rPr>
                        <a:t>grid-template-areas</a:t>
                      </a:r>
                      <a:endParaRPr sz="1400" b="1" u="none" strike="noStrike" cap="none">
                        <a:latin typeface="Helvetica Neue"/>
                        <a:ea typeface="Helvetica Neue"/>
                        <a:cs typeface="Helvetica Neue"/>
                        <a:sym typeface="Helvetica Neue"/>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Helvetica Neue"/>
                          <a:ea typeface="Helvetica Neue"/>
                          <a:cs typeface="Helvetica Neue"/>
                          <a:sym typeface="Helvetica Neue"/>
                        </a:rPr>
                        <a:t>Indica la </a:t>
                      </a:r>
                      <a:r>
                        <a:rPr lang="en-GB" sz="1400" b="1" u="none" strike="noStrike" cap="none">
                          <a:latin typeface="Helvetica Neue"/>
                          <a:ea typeface="Helvetica Neue"/>
                          <a:cs typeface="Helvetica Neue"/>
                          <a:sym typeface="Helvetica Neue"/>
                        </a:rPr>
                        <a:t>disposición</a:t>
                      </a:r>
                      <a:r>
                        <a:rPr lang="en-GB" sz="1400" u="none" strike="noStrike" cap="none">
                          <a:latin typeface="Helvetica Neue"/>
                          <a:ea typeface="Helvetica Neue"/>
                          <a:cs typeface="Helvetica Neue"/>
                          <a:sym typeface="Helvetica Neue"/>
                        </a:rPr>
                        <a:t> de las áreas en el grid. Cada texto entre comillas simboliza una fila.</a:t>
                      </a:r>
                      <a:endParaRPr sz="1400" u="none" strike="noStrike" cap="none">
                        <a:latin typeface="Helvetica Neue"/>
                        <a:ea typeface="Helvetica Neue"/>
                        <a:cs typeface="Helvetica Neue"/>
                        <a:sym typeface="Helvetica Neue"/>
                      </a:endParaRPr>
                    </a:p>
                  </a:txBody>
                  <a:tcPr marL="91425" marR="91425" marT="91425" marB="91425">
                    <a:lnB w="9525" cap="flat" cmpd="sng">
                      <a:solidFill>
                        <a:srgbClr val="DDDDDD"/>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b="1" u="none" strike="noStrike" cap="none">
                          <a:solidFill>
                            <a:srgbClr val="111111"/>
                          </a:solidFill>
                          <a:latin typeface="Helvetica Neue"/>
                          <a:ea typeface="Helvetica Neue"/>
                          <a:cs typeface="Helvetica Neue"/>
                          <a:sym typeface="Helvetica Neue"/>
                        </a:rPr>
                        <a:t>grid-column-gap</a:t>
                      </a:r>
                      <a:endParaRPr sz="1400" b="1" u="none" strike="noStrike" cap="none">
                        <a:latin typeface="Helvetica Neue"/>
                        <a:ea typeface="Helvetica Neue"/>
                        <a:cs typeface="Helvetica Neue"/>
                        <a:sym typeface="Helvetica Neue"/>
                      </a:endParaRPr>
                    </a:p>
                  </a:txBody>
                  <a:tcPr marL="91425" marR="91425" marT="91425" marB="91425">
                    <a:lnR w="9525" cap="flat" cmpd="sng">
                      <a:solidFill>
                        <a:srgbClr val="DDDDDD"/>
                      </a:solidFill>
                      <a:prstDash val="solid"/>
                      <a:round/>
                      <a:headEnd type="none" w="sm" len="sm"/>
                      <a:tailEnd type="none" w="sm" len="sm"/>
                    </a:lnR>
                  </a:tcPr>
                </a:tc>
                <a:tc>
                  <a:txBody>
                    <a:bodyPr/>
                    <a:lstStyle/>
                    <a:p>
                      <a:pPr marL="0" marR="0" lvl="0" indent="0" algn="l" rtl="0">
                        <a:lnSpc>
                          <a:spcPct val="115000"/>
                        </a:lnSpc>
                        <a:spcBef>
                          <a:spcPts val="0"/>
                        </a:spcBef>
                        <a:spcAft>
                          <a:spcPts val="0"/>
                        </a:spcAft>
                        <a:buClr>
                          <a:srgbClr val="000000"/>
                        </a:buClr>
                        <a:buSzPts val="1400"/>
                        <a:buFont typeface="Arial"/>
                        <a:buNone/>
                      </a:pPr>
                      <a:r>
                        <a:rPr lang="en-GB" sz="1400" u="none" strike="noStrike" cap="none">
                          <a:latin typeface="Helvetica Neue"/>
                          <a:ea typeface="Helvetica Neue"/>
                          <a:cs typeface="Helvetica Neue"/>
                          <a:sym typeface="Helvetica Neue"/>
                        </a:rPr>
                        <a:t>Establece el </a:t>
                      </a:r>
                      <a:r>
                        <a:rPr lang="en-GB" sz="1400" b="1" u="none" strike="noStrike" cap="none">
                          <a:highlight>
                            <a:srgbClr val="E0FF00"/>
                          </a:highlight>
                          <a:latin typeface="Helvetica Neue"/>
                          <a:ea typeface="Helvetica Neue"/>
                          <a:cs typeface="Helvetica Neue"/>
                          <a:sym typeface="Helvetica Neue"/>
                        </a:rPr>
                        <a:t>TAMAÑO</a:t>
                      </a:r>
                      <a:r>
                        <a:rPr lang="en-GB" sz="1400" u="none" strike="noStrike" cap="none">
                          <a:highlight>
                            <a:srgbClr val="E0FF00"/>
                          </a:highlight>
                          <a:latin typeface="Helvetica Neue"/>
                          <a:ea typeface="Helvetica Neue"/>
                          <a:cs typeface="Helvetica Neue"/>
                          <a:sym typeface="Helvetica Neue"/>
                        </a:rPr>
                        <a:t> </a:t>
                      </a:r>
                      <a:r>
                        <a:rPr lang="en-GB" sz="1400" u="none" strike="noStrike" cap="none">
                          <a:latin typeface="Helvetica Neue"/>
                          <a:ea typeface="Helvetica Neue"/>
                          <a:cs typeface="Helvetica Neue"/>
                          <a:sym typeface="Helvetica Neue"/>
                        </a:rPr>
                        <a:t>de los </a:t>
                      </a:r>
                      <a:r>
                        <a:rPr lang="en-GB" sz="1400" b="1" u="none" strike="noStrike" cap="none">
                          <a:latin typeface="Helvetica Neue"/>
                          <a:ea typeface="Helvetica Neue"/>
                          <a:cs typeface="Helvetica Neue"/>
                          <a:sym typeface="Helvetica Neue"/>
                        </a:rPr>
                        <a:t>huecos</a:t>
                      </a:r>
                      <a:r>
                        <a:rPr lang="en-GB" sz="1400" u="none" strike="noStrike" cap="none">
                          <a:latin typeface="Helvetica Neue"/>
                          <a:ea typeface="Helvetica Neue"/>
                          <a:cs typeface="Helvetica Neue"/>
                          <a:sym typeface="Helvetica Neue"/>
                        </a:rPr>
                        <a:t> entre columnas (</a:t>
                      </a:r>
                      <a:r>
                        <a:rPr lang="en-GB" sz="1400" i="1" u="sng" strike="noStrike" cap="none">
                          <a:latin typeface="Helvetica Neue"/>
                          <a:ea typeface="Helvetica Neue"/>
                          <a:cs typeface="Helvetica Neue"/>
                          <a:sym typeface="Helvetica Neue"/>
                        </a:rPr>
                        <a:t>líneas verticales</a:t>
                      </a:r>
                      <a:r>
                        <a:rPr lang="en-GB" sz="1400" u="none" strike="noStrike" cap="none">
                          <a:latin typeface="Helvetica Neue"/>
                          <a:ea typeface="Helvetica Neue"/>
                          <a:cs typeface="Helvetica Neue"/>
                          <a:sym typeface="Helvetica Neue"/>
                        </a:rPr>
                        <a:t>).</a:t>
                      </a:r>
                      <a:endParaRPr sz="1400" u="none" strike="noStrike" cap="none">
                        <a:latin typeface="Helvetica Neue"/>
                        <a:ea typeface="Helvetica Neue"/>
                        <a:cs typeface="Helvetica Neue"/>
                        <a:sym typeface="Helvetica Neue"/>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GB" sz="1400" b="1" u="none" strike="noStrike" cap="none">
                          <a:solidFill>
                            <a:srgbClr val="111111"/>
                          </a:solidFill>
                          <a:latin typeface="Helvetica Neue"/>
                          <a:ea typeface="Helvetica Neue"/>
                          <a:cs typeface="Helvetica Neue"/>
                          <a:sym typeface="Helvetica Neue"/>
                        </a:rPr>
                        <a:t>grid-row-gap</a:t>
                      </a:r>
                      <a:endParaRPr sz="1400" b="1" u="none" strike="noStrike" cap="none">
                        <a:latin typeface="Helvetica Neue"/>
                        <a:ea typeface="Helvetica Neue"/>
                        <a:cs typeface="Helvetica Neue"/>
                        <a:sym typeface="Helvetica Neue"/>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Helvetica Neue"/>
                          <a:ea typeface="Helvetica Neue"/>
                          <a:cs typeface="Helvetica Neue"/>
                          <a:sym typeface="Helvetica Neue"/>
                        </a:rPr>
                        <a:t>Establece el </a:t>
                      </a:r>
                      <a:r>
                        <a:rPr lang="en-GB" sz="1400" b="1" u="none" strike="noStrike" cap="none">
                          <a:highlight>
                            <a:srgbClr val="E0FF00"/>
                          </a:highlight>
                          <a:latin typeface="Helvetica Neue"/>
                          <a:ea typeface="Helvetica Neue"/>
                          <a:cs typeface="Helvetica Neue"/>
                          <a:sym typeface="Helvetica Neue"/>
                        </a:rPr>
                        <a:t>TAMAÑO</a:t>
                      </a:r>
                      <a:r>
                        <a:rPr lang="en-GB" sz="1400" u="none" strike="noStrike" cap="none">
                          <a:highlight>
                            <a:srgbClr val="E0FF00"/>
                          </a:highlight>
                          <a:latin typeface="Helvetica Neue"/>
                          <a:ea typeface="Helvetica Neue"/>
                          <a:cs typeface="Helvetica Neue"/>
                          <a:sym typeface="Helvetica Neue"/>
                        </a:rPr>
                        <a:t> </a:t>
                      </a:r>
                      <a:r>
                        <a:rPr lang="en-GB" sz="1400" u="none" strike="noStrike" cap="none">
                          <a:latin typeface="Helvetica Neue"/>
                          <a:ea typeface="Helvetica Neue"/>
                          <a:cs typeface="Helvetica Neue"/>
                          <a:sym typeface="Helvetica Neue"/>
                        </a:rPr>
                        <a:t>de los </a:t>
                      </a:r>
                      <a:r>
                        <a:rPr lang="en-GB" sz="1400" b="1" u="none" strike="noStrike" cap="none">
                          <a:latin typeface="Helvetica Neue"/>
                          <a:ea typeface="Helvetica Neue"/>
                          <a:cs typeface="Helvetica Neue"/>
                          <a:sym typeface="Helvetica Neue"/>
                        </a:rPr>
                        <a:t>huecos</a:t>
                      </a:r>
                      <a:r>
                        <a:rPr lang="en-GB" sz="1400" u="none" strike="noStrike" cap="none">
                          <a:latin typeface="Helvetica Neue"/>
                          <a:ea typeface="Helvetica Neue"/>
                          <a:cs typeface="Helvetica Neue"/>
                          <a:sym typeface="Helvetica Neue"/>
                        </a:rPr>
                        <a:t> entre filas (</a:t>
                      </a:r>
                      <a:r>
                        <a:rPr lang="en-GB" sz="1400" i="1" u="sng" strike="noStrike" cap="none">
                          <a:latin typeface="Helvetica Neue"/>
                          <a:ea typeface="Helvetica Neue"/>
                          <a:cs typeface="Helvetica Neue"/>
                          <a:sym typeface="Helvetica Neue"/>
                        </a:rPr>
                        <a:t>líneas horizontales</a:t>
                      </a:r>
                      <a:r>
                        <a:rPr lang="en-GB" sz="1400" u="none" strike="noStrike" cap="none">
                          <a:latin typeface="Helvetica Neue"/>
                          <a:ea typeface="Helvetica Neue"/>
                          <a:cs typeface="Helvetica Neue"/>
                          <a:sym typeface="Helvetica Neue"/>
                        </a:rPr>
                        <a:t>).</a:t>
                      </a:r>
                      <a:endParaRPr sz="1400" u="none" strike="noStrike" cap="none">
                        <a:latin typeface="Helvetica Neue"/>
                        <a:ea typeface="Helvetica Neue"/>
                        <a:cs typeface="Helvetica Neue"/>
                        <a:sym typeface="Helvetica Neue"/>
                      </a:endParaRPr>
                    </a:p>
                  </a:txBody>
                  <a:tcPr marL="91425" marR="91425" marT="91425" marB="91425">
                    <a:lnT w="9525" cap="flat" cmpd="sng">
                      <a:solidFill>
                        <a:srgbClr val="DDDDDD"/>
                      </a:solidFill>
                      <a:prstDash val="solid"/>
                      <a:round/>
                      <a:headEnd type="none" w="sm" len="sm"/>
                      <a:tailEnd type="none" w="sm" len="sm"/>
                    </a:lnT>
                  </a:tcPr>
                </a:tc>
              </a:tr>
            </a:tbl>
          </a:graphicData>
        </a:graphic>
      </p:graphicFrame>
      <p:sp>
        <p:nvSpPr>
          <p:cNvPr id="324" name="Google Shape;324;p47"/>
          <p:cNvSpPr txBox="1"/>
          <p:nvPr/>
        </p:nvSpPr>
        <p:spPr>
          <a:xfrm>
            <a:off x="726000" y="1183150"/>
            <a:ext cx="8028300" cy="6591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500"/>
              <a:buFont typeface="Arial"/>
              <a:buNone/>
            </a:pPr>
            <a:r>
              <a:rPr lang="en-GB" sz="1500" b="0" i="0" u="none" strike="noStrike" cap="none">
                <a:solidFill>
                  <a:srgbClr val="000000"/>
                </a:solidFill>
                <a:latin typeface="Helvetica Neue Light"/>
                <a:ea typeface="Helvetica Neue Light"/>
                <a:cs typeface="Helvetica Neue Light"/>
                <a:sym typeface="Helvetica Neue Light"/>
              </a:rPr>
              <a:t>En primer lugar, aplicas la propiedad </a:t>
            </a:r>
            <a:r>
              <a:rPr lang="en-GB" sz="1500" b="0" i="0" u="none" strike="noStrike" cap="none">
                <a:solidFill>
                  <a:srgbClr val="000000"/>
                </a:solidFill>
                <a:highlight>
                  <a:srgbClr val="E0FF00"/>
                </a:highlight>
                <a:latin typeface="Helvetica Neue Light"/>
                <a:ea typeface="Helvetica Neue Light"/>
                <a:cs typeface="Helvetica Neue Light"/>
                <a:sym typeface="Helvetica Neue Light"/>
              </a:rPr>
              <a:t>“</a:t>
            </a:r>
            <a:r>
              <a:rPr lang="en-GB" sz="1500" b="1" i="0" u="none" strike="noStrike" cap="none">
                <a:solidFill>
                  <a:srgbClr val="000000"/>
                </a:solidFill>
                <a:highlight>
                  <a:srgbClr val="E0FF00"/>
                </a:highlight>
                <a:latin typeface="Helvetica Neue"/>
                <a:ea typeface="Helvetica Neue"/>
                <a:cs typeface="Helvetica Neue"/>
                <a:sym typeface="Helvetica Neue"/>
              </a:rPr>
              <a:t>display: grid</a:t>
            </a:r>
            <a:r>
              <a:rPr lang="en-GB" sz="1500" b="0" i="0" u="none" strike="noStrike" cap="none">
                <a:solidFill>
                  <a:srgbClr val="000000"/>
                </a:solidFill>
                <a:highlight>
                  <a:srgbClr val="E0FF00"/>
                </a:highlight>
                <a:latin typeface="Helvetica Neue Light"/>
                <a:ea typeface="Helvetica Neue Light"/>
                <a:cs typeface="Helvetica Neue Light"/>
                <a:sym typeface="Helvetica Neue Light"/>
              </a:rPr>
              <a:t>”</a:t>
            </a:r>
            <a:r>
              <a:rPr lang="en-GB" sz="1500" b="0" i="0" u="none" strike="noStrike" cap="none">
                <a:solidFill>
                  <a:srgbClr val="000000"/>
                </a:solidFill>
                <a:latin typeface="Helvetica Neue Light"/>
                <a:ea typeface="Helvetica Neue Light"/>
                <a:cs typeface="Helvetica Neue Light"/>
                <a:sym typeface="Helvetica Neue Light"/>
              </a:rPr>
              <a:t> al elemento padre.</a:t>
            </a:r>
            <a:endParaRPr sz="1500" b="0" i="0" u="none" strike="noStrike" cap="none">
              <a:solidFill>
                <a:srgbClr val="000000"/>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500"/>
              <a:buFont typeface="Arial"/>
              <a:buNone/>
            </a:pPr>
            <a:r>
              <a:rPr lang="en-GB" sz="1500" b="0" i="0" u="none" strike="noStrike" cap="none">
                <a:solidFill>
                  <a:srgbClr val="000000"/>
                </a:solidFill>
                <a:latin typeface="Helvetica Neue Light"/>
                <a:ea typeface="Helvetica Neue Light"/>
                <a:cs typeface="Helvetica Neue Light"/>
                <a:sym typeface="Helvetica Neue Light"/>
              </a:rPr>
              <a:t>Luego puedes usar lo siguiente para crear la estructura principal:</a:t>
            </a:r>
            <a:endParaRPr sz="15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48"/>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30" name="Google Shape;330;p48"/>
          <p:cNvSpPr txBox="1"/>
          <p:nvPr/>
        </p:nvSpPr>
        <p:spPr>
          <a:xfrm>
            <a:off x="643800" y="2951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EL OBJETIVO</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331" name="Google Shape;331;p48"/>
          <p:cNvPicPr preferRelativeResize="0"/>
          <p:nvPr/>
        </p:nvPicPr>
        <p:blipFill rotWithShape="1">
          <a:blip r:embed="rId4">
            <a:alphaModFix/>
          </a:blip>
          <a:srcRect/>
          <a:stretch/>
        </p:blipFill>
        <p:spPr>
          <a:xfrm>
            <a:off x="2859226" y="1429575"/>
            <a:ext cx="4577549" cy="3484524"/>
          </a:xfrm>
          <a:prstGeom prst="rect">
            <a:avLst/>
          </a:prstGeom>
          <a:noFill/>
          <a:ln>
            <a:noFill/>
          </a:ln>
        </p:spPr>
      </p:pic>
      <p:sp>
        <p:nvSpPr>
          <p:cNvPr id="332" name="Google Shape;332;p48"/>
          <p:cNvSpPr txBox="1"/>
          <p:nvPr/>
        </p:nvSpPr>
        <p:spPr>
          <a:xfrm>
            <a:off x="700525" y="1544975"/>
            <a:ext cx="1938300" cy="344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Este tipo de estructura no es posible con Flexbox, por eso podemos pensar en usar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Grid:</a:t>
            </a:r>
            <a:endParaRPr sz="1800" b="0" i="0" u="none" strike="noStrike" cap="none">
              <a:solidFill>
                <a:srgbClr val="000000"/>
              </a:solidFill>
              <a:highlight>
                <a:srgbClr val="E0FF00"/>
              </a:highlight>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4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38" name="Google Shape;338;p49"/>
          <p:cNvSpPr txBox="1"/>
          <p:nvPr/>
        </p:nvSpPr>
        <p:spPr>
          <a:xfrm>
            <a:off x="643801" y="3116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EXPLÍCITAS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graphicFrame>
        <p:nvGraphicFramePr>
          <p:cNvPr id="339" name="Google Shape;339;p49"/>
          <p:cNvGraphicFramePr/>
          <p:nvPr/>
        </p:nvGraphicFramePr>
        <p:xfrm>
          <a:off x="800000" y="3036800"/>
          <a:ext cx="3000000" cy="3000000"/>
        </p:xfrm>
        <a:graphic>
          <a:graphicData uri="http://schemas.openxmlformats.org/drawingml/2006/table">
            <a:tbl>
              <a:tblPr>
                <a:noFill/>
                <a:tableStyleId>{DCF4F18A-EF1C-43F8-B6D9-6A3DD1FAA965}</a:tableStyleId>
              </a:tblPr>
              <a:tblGrid>
                <a:gridCol w="2099750"/>
                <a:gridCol w="5444250"/>
              </a:tblGrid>
              <a:tr h="0">
                <a:tc>
                  <a:txBody>
                    <a:bodyPr/>
                    <a:lstStyle/>
                    <a:p>
                      <a:pPr marL="0" marR="0" lvl="0" indent="0" algn="ctr" rtl="0">
                        <a:lnSpc>
                          <a:spcPct val="115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Propiedad</a:t>
                      </a:r>
                      <a:endParaRPr sz="1600" b="1" u="none" strike="noStrike" cap="none">
                        <a:latin typeface="Helvetica Neue"/>
                        <a:ea typeface="Helvetica Neue"/>
                        <a:cs typeface="Helvetica Neue"/>
                        <a:sym typeface="Helvetica Neue"/>
                      </a:endParaRPr>
                    </a:p>
                  </a:txBody>
                  <a:tcPr marL="63500" marR="63500" marT="63500" marB="63500">
                    <a:solidFill>
                      <a:srgbClr val="DDDDDD"/>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Descripción</a:t>
                      </a:r>
                      <a:endParaRPr sz="1600" b="1" u="none" strike="noStrike" cap="none">
                        <a:latin typeface="Helvetica Neue"/>
                        <a:ea typeface="Helvetica Neue"/>
                        <a:cs typeface="Helvetica Neue"/>
                        <a:sym typeface="Helvetica Neue"/>
                      </a:endParaRPr>
                    </a:p>
                  </a:txBody>
                  <a:tcPr marL="63500" marR="63500" marT="63500" marB="63500">
                    <a:solidFill>
                      <a:srgbClr val="DDDDDD"/>
                    </a:solidFill>
                  </a:tcPr>
                </a:tc>
              </a:tr>
              <a:tr h="0">
                <a:tc>
                  <a:txBody>
                    <a:bodyPr/>
                    <a:lstStyle/>
                    <a:p>
                      <a:pPr marL="0" marR="0" lvl="0" indent="0" algn="ctr" rtl="0">
                        <a:lnSpc>
                          <a:spcPct val="115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grid-template-columns</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Establece el tamaño de las columnas (eje horizontal).</a:t>
                      </a:r>
                      <a:endParaRPr sz="16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600"/>
                        <a:buFont typeface="Arial"/>
                        <a:buNone/>
                      </a:pPr>
                      <a:endParaRPr sz="16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15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grid-template-rows</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Establece el tamaño de las filas (eje vertical).</a:t>
                      </a:r>
                      <a:endParaRPr sz="1600" u="none" strike="noStrike" cap="none">
                        <a:latin typeface="Helvetica Neue Light"/>
                        <a:ea typeface="Helvetica Neue Light"/>
                        <a:cs typeface="Helvetica Neue Light"/>
                        <a:sym typeface="Helvetica Neue Light"/>
                      </a:endParaRPr>
                    </a:p>
                  </a:txBody>
                  <a:tcPr marL="63500" marR="63500" marT="63500" marB="63500"/>
                </a:tc>
              </a:tr>
            </a:tbl>
          </a:graphicData>
        </a:graphic>
      </p:graphicFrame>
      <p:sp>
        <p:nvSpPr>
          <p:cNvPr id="340" name="Google Shape;340;p49"/>
          <p:cNvSpPr txBox="1"/>
          <p:nvPr/>
        </p:nvSpPr>
        <p:spPr>
          <a:xfrm>
            <a:off x="643800" y="1407444"/>
            <a:ext cx="7856400" cy="15723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Es posible crear cuadrículas con un tamaño definido. Para ello, sólo tienes que usar las propiedades CSS </a:t>
            </a:r>
            <a:r>
              <a:rPr lang="en-GB" sz="1800" b="0" i="1" u="none" strike="noStrike" cap="none">
                <a:solidFill>
                  <a:srgbClr val="000000"/>
                </a:solidFill>
                <a:highlight>
                  <a:srgbClr val="E0FF00"/>
                </a:highlight>
                <a:latin typeface="Helvetica Neue Light"/>
                <a:ea typeface="Helvetica Neue Light"/>
                <a:cs typeface="Helvetica Neue Light"/>
                <a:sym typeface="Helvetica Neue Light"/>
              </a:rPr>
              <a:t>grid-template-columns</a:t>
            </a:r>
            <a:r>
              <a:rPr lang="en-GB" sz="1800" b="0" i="0" u="none" strike="noStrike" cap="none">
                <a:solidFill>
                  <a:srgbClr val="000000"/>
                </a:solidFill>
                <a:latin typeface="Helvetica Neue Light"/>
                <a:ea typeface="Helvetica Neue Light"/>
                <a:cs typeface="Helvetica Neue Light"/>
                <a:sym typeface="Helvetica Neue Light"/>
              </a:rPr>
              <a:t> y </a:t>
            </a:r>
            <a:r>
              <a:rPr lang="en-GB" sz="1800" b="0" i="1" u="none" strike="noStrike" cap="none">
                <a:solidFill>
                  <a:srgbClr val="000000"/>
                </a:solidFill>
                <a:highlight>
                  <a:srgbClr val="E0FF00"/>
                </a:highlight>
                <a:latin typeface="Helvetica Neue Light"/>
                <a:ea typeface="Helvetica Neue Light"/>
                <a:cs typeface="Helvetica Neue Light"/>
                <a:sym typeface="Helvetica Neue Light"/>
              </a:rPr>
              <a:t>grid-template-rows</a:t>
            </a:r>
            <a:r>
              <a:rPr lang="en-GB" sz="1800" b="0" i="0" u="none" strike="noStrike" cap="none">
                <a:solidFill>
                  <a:srgbClr val="000000"/>
                </a:solidFill>
                <a:latin typeface="Helvetica Neue Light"/>
                <a:ea typeface="Helvetica Neue Light"/>
                <a:cs typeface="Helvetica Neue Light"/>
                <a:sym typeface="Helvetica Neue Light"/>
              </a:rPr>
              <a:t>, las cuales sirven para indicar las dimensiones de cada celda de la cuadrícula, diferenciando entre columnas y filas.	</a:t>
            </a: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5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46" name="Google Shape;346;p50"/>
          <p:cNvSpPr txBox="1"/>
          <p:nvPr/>
        </p:nvSpPr>
        <p:spPr>
          <a:xfrm>
            <a:off x="643801" y="2951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EXPLÍCITAS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347" name="Google Shape;347;p50"/>
          <p:cNvSpPr txBox="1"/>
          <p:nvPr/>
        </p:nvSpPr>
        <p:spPr>
          <a:xfrm>
            <a:off x="726150" y="2402825"/>
            <a:ext cx="4004700" cy="21594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25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25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display</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08000"/>
                </a:solidFill>
                <a:latin typeface="Consolas"/>
                <a:ea typeface="Consolas"/>
                <a:cs typeface="Consolas"/>
                <a:sym typeface="Consolas"/>
              </a:rPr>
              <a:t>/* 2 columnas */</a:t>
            </a:r>
            <a:endParaRPr sz="1400" b="0" i="0" u="none" strike="noStrike" cap="none">
              <a:solidFill>
                <a:schemeClr val="dk1"/>
              </a:solidFill>
              <a:latin typeface="Consolas"/>
              <a:ea typeface="Consolas"/>
              <a:cs typeface="Consolas"/>
              <a:sym typeface="Consolas"/>
            </a:endParaRPr>
          </a:p>
          <a:p>
            <a:pPr marL="0" marR="0" lvl="0" indent="0" algn="l" rtl="0">
              <a:lnSpc>
                <a:spcPct val="125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grid-template-columns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300px</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100px</a:t>
            </a:r>
            <a:r>
              <a:rPr lang="en-GB" sz="1400" b="0" i="0" u="none" strike="noStrike" cap="none">
                <a:solidFill>
                  <a:schemeClr val="dk1"/>
                </a:solidFill>
                <a:latin typeface="Consolas"/>
                <a:ea typeface="Consolas"/>
                <a:cs typeface="Consolas"/>
                <a:sym typeface="Consolas"/>
              </a:rPr>
              <a:t>; </a:t>
            </a:r>
            <a:endParaRPr sz="1400" b="0" i="0" u="none" strike="noStrike" cap="none">
              <a:solidFill>
                <a:srgbClr val="008000"/>
              </a:solidFill>
              <a:latin typeface="Consolas"/>
              <a:ea typeface="Consolas"/>
              <a:cs typeface="Consolas"/>
              <a:sym typeface="Consolas"/>
            </a:endParaRPr>
          </a:p>
          <a:p>
            <a:pPr marL="0" marR="0" lvl="0" indent="0" algn="l" rtl="0">
              <a:lnSpc>
                <a:spcPct val="125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08000"/>
                </a:solidFill>
                <a:latin typeface="Consolas"/>
                <a:ea typeface="Consolas"/>
                <a:cs typeface="Consolas"/>
                <a:sym typeface="Consolas"/>
              </a:rPr>
              <a:t>/* 2 filas */</a:t>
            </a:r>
            <a:r>
              <a:rPr lang="en-GB" sz="1400" b="0" i="0" u="none" strike="noStrike" cap="none">
                <a:solidFill>
                  <a:schemeClr val="dk1"/>
                </a:solidFill>
                <a:latin typeface="Consolas"/>
                <a:ea typeface="Consolas"/>
                <a:cs typeface="Consolas"/>
                <a:sym typeface="Consolas"/>
              </a:rPr>
              <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grid-template-rows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40px</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100px</a:t>
            </a:r>
            <a:r>
              <a:rPr lang="en-GB" sz="1400" b="0" i="0" u="none" strike="noStrike" cap="none">
                <a:solidFill>
                  <a:schemeClr val="dk1"/>
                </a:solidFill>
                <a:latin typeface="Consolas"/>
                <a:ea typeface="Consolas"/>
                <a:cs typeface="Consolas"/>
                <a:sym typeface="Consolas"/>
              </a:rPr>
              <a:t>; </a:t>
            </a:r>
            <a:endParaRPr sz="1400" b="0" i="0" u="none" strike="noStrike" cap="none">
              <a:solidFill>
                <a:srgbClr val="008000"/>
              </a:solidFill>
              <a:latin typeface="Consolas"/>
              <a:ea typeface="Consolas"/>
              <a:cs typeface="Consolas"/>
              <a:sym typeface="Consolas"/>
            </a:endParaRPr>
          </a:p>
          <a:p>
            <a:pPr marL="0" marR="0" lvl="0" indent="0" algn="l" rtl="0">
              <a:lnSpc>
                <a:spcPct val="125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400"/>
              <a:buFont typeface="Arial"/>
              <a:buNone/>
            </a:pPr>
            <a:endParaRPr sz="1400" b="0" i="0" u="none" strike="noStrike" cap="none">
              <a:solidFill>
                <a:srgbClr val="D7BA7D"/>
              </a:solidFill>
              <a:latin typeface="Consolas"/>
              <a:ea typeface="Consolas"/>
              <a:cs typeface="Consolas"/>
              <a:sym typeface="Consolas"/>
            </a:endParaRPr>
          </a:p>
        </p:txBody>
      </p:sp>
      <p:sp>
        <p:nvSpPr>
          <p:cNvPr id="348" name="Google Shape;348;p50"/>
          <p:cNvSpPr txBox="1"/>
          <p:nvPr/>
        </p:nvSpPr>
        <p:spPr>
          <a:xfrm>
            <a:off x="557850" y="1564150"/>
            <a:ext cx="8028300" cy="6591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1000"/>
              </a:spcBef>
              <a:spcAft>
                <a:spcPts val="0"/>
              </a:spcAft>
              <a:buClr>
                <a:srgbClr val="000000"/>
              </a:buClr>
              <a:buSzPts val="1400"/>
              <a:buFont typeface="Arial"/>
              <a:buNone/>
            </a:pPr>
            <a:r>
              <a:rPr lang="en-GB" sz="1400" b="0" i="0" u="none" strike="noStrike" cap="none">
                <a:solidFill>
                  <a:srgbClr val="000000"/>
                </a:solidFill>
                <a:latin typeface="Helvetica Neue Light"/>
                <a:ea typeface="Helvetica Neue Light"/>
                <a:cs typeface="Helvetica Neue Light"/>
                <a:sym typeface="Helvetica Neue Light"/>
              </a:rPr>
              <a:t>Veamos la forma más simple de crear una grilla, especificando cuántas columnas y filas queremos.</a:t>
            </a: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349" name="Google Shape;349;p50"/>
          <p:cNvSpPr txBox="1"/>
          <p:nvPr/>
        </p:nvSpPr>
        <p:spPr>
          <a:xfrm>
            <a:off x="4823675" y="2402825"/>
            <a:ext cx="3930600" cy="21594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class</a:t>
            </a:r>
            <a:r>
              <a:rPr lang="en-GB" sz="1400" b="0" i="0" u="none" strike="noStrike" cap="none">
                <a:solidFill>
                  <a:schemeClr val="dk1"/>
                </a:solidFill>
                <a:latin typeface="Consolas"/>
                <a:ea typeface="Consolas"/>
                <a:cs typeface="Consolas"/>
                <a:sym typeface="Consolas"/>
              </a:rPr>
              <a:t>=</a:t>
            </a:r>
            <a:r>
              <a:rPr lang="en-GB" sz="1400" b="0" i="0" u="none" strike="noStrike" cap="none">
                <a:solidFill>
                  <a:srgbClr val="0000FF"/>
                </a:solidFill>
                <a:latin typeface="Consolas"/>
                <a:ea typeface="Consolas"/>
                <a:cs typeface="Consolas"/>
                <a:sym typeface="Consolas"/>
              </a:rPr>
              <a:t>"grid"</a:t>
            </a:r>
            <a:r>
              <a:rPr lang="en-GB" sz="1400" b="0" i="0" u="none" strike="noStrike" cap="none">
                <a:solidFill>
                  <a:srgbClr val="800000"/>
                </a:solidFill>
                <a:latin typeface="Consolas"/>
                <a:ea typeface="Consolas"/>
                <a:cs typeface="Consolas"/>
                <a:sym typeface="Consolas"/>
              </a:rPr>
              <a:t>&gt;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1</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2</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3</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4</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&lt;/section&gt;</a:t>
            </a:r>
            <a:endParaRPr sz="1400" b="0" i="0" u="none" strike="noStrike" cap="none">
              <a:solidFill>
                <a:srgbClr val="800000"/>
              </a:solidFill>
              <a:latin typeface="Consolas"/>
              <a:ea typeface="Consolas"/>
              <a:cs typeface="Consolas"/>
              <a:sym typeface="Consolas"/>
            </a:endParaRPr>
          </a:p>
          <a:p>
            <a:pPr marL="0" marR="0" lvl="0" indent="0" algn="just" rtl="0">
              <a:lnSpc>
                <a:spcPct val="135714"/>
              </a:lnSpc>
              <a:spcBef>
                <a:spcPts val="0"/>
              </a:spcBef>
              <a:spcAft>
                <a:spcPts val="0"/>
              </a:spcAft>
              <a:buClr>
                <a:srgbClr val="000000"/>
              </a:buClr>
              <a:buSzPts val="1400"/>
              <a:buFont typeface="Arial"/>
              <a:buNone/>
            </a:pPr>
            <a:endParaRPr sz="1400" b="0" i="0" u="none" strike="noStrike" cap="none">
              <a:solidFill>
                <a:srgbClr val="80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5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55" name="Google Shape;355;p51"/>
          <p:cNvSpPr txBox="1"/>
          <p:nvPr/>
        </p:nvSpPr>
        <p:spPr>
          <a:xfrm>
            <a:off x="643801" y="2545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EXPLÍCITAS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356" name="Google Shape;356;p51"/>
          <p:cNvPicPr preferRelativeResize="0"/>
          <p:nvPr/>
        </p:nvPicPr>
        <p:blipFill rotWithShape="1">
          <a:blip r:embed="rId4">
            <a:alphaModFix/>
          </a:blip>
          <a:srcRect/>
          <a:stretch/>
        </p:blipFill>
        <p:spPr>
          <a:xfrm>
            <a:off x="1187500" y="1712191"/>
            <a:ext cx="6174050" cy="2602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62" name="Google Shape;362;p52"/>
          <p:cNvSpPr txBox="1"/>
          <p:nvPr/>
        </p:nvSpPr>
        <p:spPr>
          <a:xfrm>
            <a:off x="643801" y="2870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EXPLÍCITAS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363" name="Google Shape;363;p52"/>
          <p:cNvSpPr txBox="1"/>
          <p:nvPr/>
        </p:nvSpPr>
        <p:spPr>
          <a:xfrm>
            <a:off x="726000" y="1564150"/>
            <a:ext cx="8028300" cy="9975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100"/>
              <a:buFont typeface="Arial"/>
              <a:buNone/>
            </a:pPr>
            <a:r>
              <a:rPr lang="en-GB" sz="1400" b="1" i="0" u="none" strike="noStrike" cap="none">
                <a:solidFill>
                  <a:schemeClr val="dk1"/>
                </a:solidFill>
                <a:latin typeface="Helvetica Neue"/>
                <a:ea typeface="Helvetica Neue"/>
                <a:cs typeface="Helvetica Neue"/>
                <a:sym typeface="Helvetica Neue"/>
              </a:rPr>
              <a:t>Unidad creada para ser usada en grid ( </a:t>
            </a:r>
            <a:r>
              <a:rPr lang="en-GB" sz="1400" b="1" i="0" u="none" strike="noStrike" cap="none">
                <a:solidFill>
                  <a:srgbClr val="FF0000"/>
                </a:solidFill>
                <a:latin typeface="Helvetica Neue"/>
                <a:ea typeface="Helvetica Neue"/>
                <a:cs typeface="Helvetica Neue"/>
                <a:sym typeface="Helvetica Neue"/>
              </a:rPr>
              <a:t>fr (fraction)</a:t>
            </a:r>
            <a:r>
              <a:rPr lang="en-GB" sz="1400" b="1" i="0" u="none" strike="noStrike" cap="none">
                <a:solidFill>
                  <a:schemeClr val="dk1"/>
                </a:solidFill>
                <a:latin typeface="Helvetica Neue"/>
                <a:ea typeface="Helvetica Neue"/>
                <a:cs typeface="Helvetica Neue"/>
                <a:sym typeface="Helvetica Neue"/>
              </a:rPr>
              <a:t> )</a:t>
            </a:r>
            <a:endParaRPr sz="1400" b="1" i="0" u="none" strike="noStrike" cap="none">
              <a:solidFill>
                <a:schemeClr val="dk1"/>
              </a:solidFill>
              <a:latin typeface="Helvetica Neue"/>
              <a:ea typeface="Helvetica Neue"/>
              <a:cs typeface="Helvetica Neue"/>
              <a:sym typeface="Helvetica Neue"/>
            </a:endParaRPr>
          </a:p>
          <a:p>
            <a:pPr marL="0" marR="0" lvl="0" indent="0" algn="ctr" rtl="0">
              <a:lnSpc>
                <a:spcPct val="100000"/>
              </a:lnSpc>
              <a:spcBef>
                <a:spcPts val="1200"/>
              </a:spcBef>
              <a:spcAft>
                <a:spcPts val="0"/>
              </a:spcAft>
              <a:buClr>
                <a:schemeClr val="dk1"/>
              </a:buClr>
              <a:buSzPts val="1100"/>
              <a:buFont typeface="Arial"/>
              <a:buNone/>
            </a:pPr>
            <a:r>
              <a:rPr lang="en-GB" sz="1400" b="1" i="1" u="none" strike="noStrike" cap="none">
                <a:solidFill>
                  <a:schemeClr val="dk1"/>
                </a:solidFill>
                <a:highlight>
                  <a:srgbClr val="E0FF00"/>
                </a:highlight>
                <a:latin typeface="Helvetica Neue"/>
                <a:ea typeface="Helvetica Neue"/>
                <a:cs typeface="Helvetica Neue"/>
                <a:sym typeface="Helvetica Neue"/>
              </a:rPr>
              <a:t>Nota</a:t>
            </a:r>
            <a:r>
              <a:rPr lang="en-GB" sz="1400" b="0" i="1" u="none" strike="noStrike" cap="none">
                <a:solidFill>
                  <a:schemeClr val="dk1"/>
                </a:solidFill>
                <a:highlight>
                  <a:srgbClr val="E0FF00"/>
                </a:highlight>
                <a:latin typeface="Helvetica Neue"/>
                <a:ea typeface="Helvetica Neue"/>
                <a:cs typeface="Helvetica Neue"/>
                <a:sym typeface="Helvetica Neue"/>
              </a:rPr>
              <a:t>: también es posible utilizar otras unidades y combinarlas, como porcentajes o la palabra clave auto (que obtiene el tamaño restante).</a:t>
            </a:r>
            <a:endParaRPr sz="1400" b="0" i="1" u="none" strike="noStrike" cap="none">
              <a:solidFill>
                <a:srgbClr val="000000"/>
              </a:solidFill>
              <a:highlight>
                <a:srgbClr val="E0FF00"/>
              </a:highlight>
              <a:latin typeface="Helvetica Neue"/>
              <a:ea typeface="Helvetica Neue"/>
              <a:cs typeface="Helvetica Neue"/>
              <a:sym typeface="Helvetica Neue"/>
            </a:endParaRPr>
          </a:p>
        </p:txBody>
      </p:sp>
      <p:sp>
        <p:nvSpPr>
          <p:cNvPr id="364" name="Google Shape;364;p52"/>
          <p:cNvSpPr txBox="1"/>
          <p:nvPr/>
        </p:nvSpPr>
        <p:spPr>
          <a:xfrm>
            <a:off x="726050" y="2691250"/>
            <a:ext cx="8028300" cy="1533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25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457200" algn="l" rtl="0">
              <a:lnSpc>
                <a:spcPct val="125000"/>
              </a:lnSpc>
              <a:spcBef>
                <a:spcPts val="0"/>
              </a:spcBef>
              <a:spcAft>
                <a:spcPts val="0"/>
              </a:spcAft>
              <a:buClr>
                <a:srgbClr val="000000"/>
              </a:buClr>
              <a:buSzPts val="1400"/>
              <a:buFont typeface="Arial"/>
              <a:buNone/>
            </a:pPr>
            <a:r>
              <a:rPr lang="en-GB" sz="1400" b="0" i="0" u="none" strike="noStrike" cap="none">
                <a:solidFill>
                  <a:srgbClr val="FF0000"/>
                </a:solidFill>
                <a:latin typeface="Consolas"/>
                <a:ea typeface="Consolas"/>
                <a:cs typeface="Consolas"/>
                <a:sym typeface="Consolas"/>
              </a:rPr>
              <a:t>display</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grid-template-columns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2fr</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1fr</a:t>
            </a:r>
            <a:r>
              <a:rPr lang="en-GB" sz="1400" b="0" i="0" u="none" strike="noStrike" cap="none">
                <a:solidFill>
                  <a:schemeClr val="dk1"/>
                </a:solidFill>
                <a:latin typeface="Consolas"/>
                <a:ea typeface="Consolas"/>
                <a:cs typeface="Consolas"/>
                <a:sym typeface="Consolas"/>
              </a:rPr>
              <a:t>; </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grid-template-rows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3fr</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1fr</a:t>
            </a:r>
            <a:r>
              <a:rPr lang="en-GB" sz="1400" b="0" i="0" u="none" strike="noStrike" cap="none">
                <a:solidFill>
                  <a:schemeClr val="dk1"/>
                </a:solidFill>
                <a:latin typeface="Consolas"/>
                <a:ea typeface="Consolas"/>
                <a:cs typeface="Consolas"/>
                <a:sym typeface="Consolas"/>
              </a:rPr>
              <a:t>; </a:t>
            </a:r>
            <a:endParaRPr sz="1400" b="0" i="0" u="none" strike="noStrike" cap="none">
              <a:solidFill>
                <a:srgbClr val="008000"/>
              </a:solidFill>
              <a:latin typeface="Consolas"/>
              <a:ea typeface="Consolas"/>
              <a:cs typeface="Consolas"/>
              <a:sym typeface="Consolas"/>
            </a:endParaRPr>
          </a:p>
          <a:p>
            <a:pPr marL="0" marR="0" lvl="0" indent="0" algn="l" rtl="0">
              <a:lnSpc>
                <a:spcPct val="125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400"/>
              <a:buFont typeface="Arial"/>
              <a:buNone/>
            </a:pPr>
            <a:endParaRPr sz="1400" b="0" i="0" u="none" strike="noStrike" cap="none">
              <a:solidFill>
                <a:srgbClr val="D7BA7D"/>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5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70" name="Google Shape;370;p53"/>
          <p:cNvSpPr txBox="1"/>
          <p:nvPr/>
        </p:nvSpPr>
        <p:spPr>
          <a:xfrm>
            <a:off x="643801" y="3194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EXPLÍCITAS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371" name="Google Shape;371;p53"/>
          <p:cNvSpPr txBox="1"/>
          <p:nvPr/>
        </p:nvSpPr>
        <p:spPr>
          <a:xfrm>
            <a:off x="519150" y="1720900"/>
            <a:ext cx="7856400" cy="10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GB" sz="1600" b="0" i="0" u="none" strike="noStrike" cap="none">
                <a:solidFill>
                  <a:schemeClr val="dk1"/>
                </a:solidFill>
                <a:latin typeface="Helvetica Neue Light"/>
                <a:ea typeface="Helvetica Neue Light"/>
                <a:cs typeface="Helvetica Neue Light"/>
                <a:sym typeface="Helvetica Neue Light"/>
              </a:rPr>
              <a:t>Cuadrícula de </a:t>
            </a:r>
            <a:r>
              <a:rPr lang="en-GB" sz="1600" b="0" i="1" u="none" strike="noStrike" cap="none">
                <a:solidFill>
                  <a:schemeClr val="dk1"/>
                </a:solidFill>
                <a:latin typeface="Helvetica Neue Light"/>
                <a:ea typeface="Helvetica Neue Light"/>
                <a:cs typeface="Helvetica Neue Light"/>
                <a:sym typeface="Helvetica Neue Light"/>
              </a:rPr>
              <a:t>2x2</a:t>
            </a:r>
            <a:r>
              <a:rPr lang="en-GB" sz="1600" b="0" i="0" u="none" strike="noStrike" cap="none">
                <a:solidFill>
                  <a:schemeClr val="dk1"/>
                </a:solidFill>
                <a:latin typeface="Helvetica Neue Light"/>
                <a:ea typeface="Helvetica Neue Light"/>
                <a:cs typeface="Helvetica Neue Light"/>
                <a:sym typeface="Helvetica Neue Light"/>
              </a:rPr>
              <a:t>, donde el tamaño de ancho de la cuadrícula se divide en </a:t>
            </a:r>
            <a:r>
              <a:rPr lang="en-GB" sz="1600" b="1" i="0" u="none" strike="noStrike" cap="none">
                <a:solidFill>
                  <a:schemeClr val="dk1"/>
                </a:solidFill>
                <a:latin typeface="Helvetica Neue"/>
                <a:ea typeface="Helvetica Neue"/>
                <a:cs typeface="Helvetica Neue"/>
                <a:sym typeface="Helvetica Neue"/>
              </a:rPr>
              <a:t>dos columnas</a:t>
            </a:r>
            <a:r>
              <a:rPr lang="en-GB" sz="1600" b="0" i="0" u="none" strike="noStrike" cap="none">
                <a:solidFill>
                  <a:schemeClr val="dk1"/>
                </a:solidFill>
                <a:latin typeface="Helvetica Neue Light"/>
                <a:ea typeface="Helvetica Neue Light"/>
                <a:cs typeface="Helvetica Neue Light"/>
                <a:sym typeface="Helvetica Neue Light"/>
              </a:rPr>
              <a:t> (una el doble de tamaño que la siguiente), y el tamaño de alto de la cuadrícula se divide en dos filas,</a:t>
            </a:r>
            <a:r>
              <a:rPr lang="en-GB" sz="1600" b="0" i="0" u="none" strike="noStrike" cap="none">
                <a:solidFill>
                  <a:schemeClr val="dk1"/>
                </a:solidFill>
                <a:highlight>
                  <a:srgbClr val="E0FF00"/>
                </a:highlight>
                <a:latin typeface="Helvetica Neue Light"/>
                <a:ea typeface="Helvetica Neue Light"/>
                <a:cs typeface="Helvetica Neue Light"/>
                <a:sym typeface="Helvetica Neue Light"/>
              </a:rPr>
              <a:t> donde la primera ocupará el triple (3 fr) que la segunda (1 fr):</a:t>
            </a:r>
            <a:endParaRPr sz="1600" b="0" i="0" u="none" strike="noStrike" cap="none">
              <a:solidFill>
                <a:schemeClr val="dk1"/>
              </a:solidFill>
              <a:highlight>
                <a:srgbClr val="E0FF00"/>
              </a:highlight>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Didact Gothic"/>
              <a:ea typeface="Didact Gothic"/>
              <a:cs typeface="Didact Gothic"/>
              <a:sym typeface="Didact Gothic"/>
            </a:endParaRPr>
          </a:p>
        </p:txBody>
      </p:sp>
      <p:pic>
        <p:nvPicPr>
          <p:cNvPr id="372" name="Google Shape;372;p53"/>
          <p:cNvPicPr preferRelativeResize="0"/>
          <p:nvPr/>
        </p:nvPicPr>
        <p:blipFill rotWithShape="1">
          <a:blip r:embed="rId4">
            <a:alphaModFix/>
          </a:blip>
          <a:srcRect/>
          <a:stretch/>
        </p:blipFill>
        <p:spPr>
          <a:xfrm>
            <a:off x="632200" y="2922775"/>
            <a:ext cx="6858800" cy="1868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5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78" name="Google Shape;378;p54"/>
          <p:cNvSpPr txBox="1"/>
          <p:nvPr/>
        </p:nvSpPr>
        <p:spPr>
          <a:xfrm>
            <a:off x="643801" y="2708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REPETITIVAS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379" name="Google Shape;379;p54"/>
          <p:cNvSpPr txBox="1"/>
          <p:nvPr/>
        </p:nvSpPr>
        <p:spPr>
          <a:xfrm>
            <a:off x="1357025" y="4157725"/>
            <a:ext cx="6210900" cy="5019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GB" sz="2000" b="1" i="0" u="none" strike="noStrike" cap="none">
                <a:solidFill>
                  <a:schemeClr val="dk1"/>
                </a:solidFill>
                <a:latin typeface="Didact Gothic"/>
                <a:ea typeface="Didact Gothic"/>
                <a:cs typeface="Didact Gothic"/>
                <a:sym typeface="Didact Gothic"/>
              </a:rPr>
              <a:t>repeat(</a:t>
            </a:r>
            <a:r>
              <a:rPr lang="en-GB" sz="2000" b="1" i="1" u="none" strike="noStrike" cap="none">
                <a:solidFill>
                  <a:schemeClr val="dk1"/>
                </a:solidFill>
                <a:latin typeface="Didact Gothic"/>
                <a:ea typeface="Didact Gothic"/>
                <a:cs typeface="Didact Gothic"/>
                <a:sym typeface="Didact Gothic"/>
              </a:rPr>
              <a:t>[núm de veces]</a:t>
            </a:r>
            <a:r>
              <a:rPr lang="en-GB" sz="2000" b="1" i="0" u="none" strike="noStrike" cap="none">
                <a:solidFill>
                  <a:schemeClr val="dk1"/>
                </a:solidFill>
                <a:latin typeface="Didact Gothic"/>
                <a:ea typeface="Didact Gothic"/>
                <a:cs typeface="Didact Gothic"/>
                <a:sym typeface="Didact Gothic"/>
              </a:rPr>
              <a:t>, </a:t>
            </a:r>
            <a:r>
              <a:rPr lang="en-GB" sz="2000" b="1" i="1" u="none" strike="noStrike" cap="none">
                <a:solidFill>
                  <a:schemeClr val="dk1"/>
                </a:solidFill>
                <a:latin typeface="Didact Gothic"/>
                <a:ea typeface="Didact Gothic"/>
                <a:cs typeface="Didact Gothic"/>
                <a:sym typeface="Didact Gothic"/>
              </a:rPr>
              <a:t>[valor o valores]</a:t>
            </a:r>
            <a:r>
              <a:rPr lang="en-GB" sz="2000" b="1" i="0" u="none" strike="noStrike" cap="none">
                <a:solidFill>
                  <a:schemeClr val="dk1"/>
                </a:solidFill>
                <a:latin typeface="Didact Gothic"/>
                <a:ea typeface="Didact Gothic"/>
                <a:cs typeface="Didact Gothic"/>
                <a:sym typeface="Didact Gothic"/>
              </a:rPr>
              <a:t>)</a:t>
            </a:r>
            <a:r>
              <a:rPr lang="en-GB" sz="2000" b="0" i="0" u="none" strike="noStrike" cap="none">
                <a:solidFill>
                  <a:schemeClr val="dk1"/>
                </a:solidFill>
                <a:latin typeface="Didact Gothic"/>
                <a:ea typeface="Didact Gothic"/>
                <a:cs typeface="Didact Gothic"/>
                <a:sym typeface="Didact Gothic"/>
              </a:rPr>
              <a:t> </a:t>
            </a:r>
            <a:endParaRPr sz="2000" b="0" i="0" u="none" strike="noStrike" cap="none">
              <a:solidFill>
                <a:schemeClr val="dk1"/>
              </a:solidFill>
              <a:latin typeface="Didact Gothic"/>
              <a:ea typeface="Didact Gothic"/>
              <a:cs typeface="Didact Gothic"/>
              <a:sym typeface="Didact Gothic"/>
            </a:endParaRPr>
          </a:p>
        </p:txBody>
      </p:sp>
      <p:sp>
        <p:nvSpPr>
          <p:cNvPr id="380" name="Google Shape;380;p54"/>
          <p:cNvSpPr txBox="1"/>
          <p:nvPr/>
        </p:nvSpPr>
        <p:spPr>
          <a:xfrm>
            <a:off x="557850" y="1572250"/>
            <a:ext cx="8028300" cy="4413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Si necesitas hacer muchas columnas y filas iguales, puedes usar lo siguiente:</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381" name="Google Shape;381;p54"/>
          <p:cNvSpPr txBox="1"/>
          <p:nvPr/>
        </p:nvSpPr>
        <p:spPr>
          <a:xfrm>
            <a:off x="726000" y="2246575"/>
            <a:ext cx="8028300" cy="1533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25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457200" algn="l" rtl="0">
              <a:lnSpc>
                <a:spcPct val="125000"/>
              </a:lnSpc>
              <a:spcBef>
                <a:spcPts val="0"/>
              </a:spcBef>
              <a:spcAft>
                <a:spcPts val="0"/>
              </a:spcAft>
              <a:buClr>
                <a:srgbClr val="000000"/>
              </a:buClr>
              <a:buSzPts val="1400"/>
              <a:buFont typeface="Arial"/>
              <a:buNone/>
            </a:pPr>
            <a:r>
              <a:rPr lang="en-GB" sz="1400" b="0" i="0" u="none" strike="noStrike" cap="none">
                <a:solidFill>
                  <a:srgbClr val="FF0000"/>
                </a:solidFill>
                <a:latin typeface="Consolas"/>
                <a:ea typeface="Consolas"/>
                <a:cs typeface="Consolas"/>
                <a:sym typeface="Consolas"/>
              </a:rPr>
              <a:t>display</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grid-template-columns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795E26"/>
                </a:solidFill>
                <a:latin typeface="Consolas"/>
                <a:ea typeface="Consolas"/>
                <a:cs typeface="Consolas"/>
                <a:sym typeface="Consolas"/>
              </a:rPr>
              <a:t>repeat</a:t>
            </a:r>
            <a:r>
              <a:rPr lang="en-GB" sz="1400" b="0" i="0" u="none" strike="noStrike" cap="none">
                <a:solidFill>
                  <a:schemeClr val="dk1"/>
                </a:solidFill>
                <a:latin typeface="Consolas"/>
                <a:ea typeface="Consolas"/>
                <a:cs typeface="Consolas"/>
                <a:sym typeface="Consolas"/>
              </a:rPr>
              <a:t>(</a:t>
            </a:r>
            <a:r>
              <a:rPr lang="en-GB" sz="1400" b="0" i="0" u="none" strike="noStrike" cap="none">
                <a:solidFill>
                  <a:srgbClr val="09885A"/>
                </a:solidFill>
                <a:latin typeface="Consolas"/>
                <a:ea typeface="Consolas"/>
                <a:cs typeface="Consolas"/>
                <a:sym typeface="Consolas"/>
              </a:rPr>
              <a:t>12</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1fr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457200" algn="l" rtl="0">
              <a:lnSpc>
                <a:spcPct val="150000"/>
              </a:lnSpc>
              <a:spcBef>
                <a:spcPts val="0"/>
              </a:spcBef>
              <a:spcAft>
                <a:spcPts val="0"/>
              </a:spcAft>
              <a:buClr>
                <a:srgbClr val="000000"/>
              </a:buClr>
              <a:buSzPts val="1400"/>
              <a:buFont typeface="Arial"/>
              <a:buNone/>
            </a:pPr>
            <a:r>
              <a:rPr lang="en-GB" sz="1400" b="0" i="0" u="none" strike="noStrike" cap="none">
                <a:solidFill>
                  <a:srgbClr val="FF0000"/>
                </a:solidFill>
                <a:latin typeface="Consolas"/>
                <a:ea typeface="Consolas"/>
                <a:cs typeface="Consolas"/>
                <a:sym typeface="Consolas"/>
              </a:rPr>
              <a:t>grid-template-rows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795E26"/>
                </a:solidFill>
                <a:latin typeface="Consolas"/>
                <a:ea typeface="Consolas"/>
                <a:cs typeface="Consolas"/>
                <a:sym typeface="Consolas"/>
              </a:rPr>
              <a:t>repeat</a:t>
            </a:r>
            <a:r>
              <a:rPr lang="en-GB" sz="1400" b="0" i="0" u="none" strike="noStrike" cap="none">
                <a:solidFill>
                  <a:schemeClr val="dk1"/>
                </a:solidFill>
                <a:latin typeface="Consolas"/>
                <a:ea typeface="Consolas"/>
                <a:cs typeface="Consolas"/>
                <a:sym typeface="Consolas"/>
              </a:rPr>
              <a:t>(</a:t>
            </a:r>
            <a:r>
              <a:rPr lang="en-GB" sz="1400" b="0" i="0" u="none" strike="noStrike" cap="none">
                <a:solidFill>
                  <a:srgbClr val="09885A"/>
                </a:solidFill>
                <a:latin typeface="Consolas"/>
                <a:ea typeface="Consolas"/>
                <a:cs typeface="Consolas"/>
                <a:sym typeface="Consolas"/>
              </a:rPr>
              <a:t>12</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1fr</a:t>
            </a: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F0000"/>
              </a:solidFill>
              <a:latin typeface="Consolas"/>
              <a:ea typeface="Consolas"/>
              <a:cs typeface="Consolas"/>
              <a:sym typeface="Consolas"/>
            </a:endParaRPr>
          </a:p>
          <a:p>
            <a:pPr marL="0" marR="0" lvl="0" indent="0" algn="l" rtl="0">
              <a:lnSpc>
                <a:spcPct val="125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400"/>
              <a:buFont typeface="Arial"/>
              <a:buNone/>
            </a:pPr>
            <a:endParaRPr sz="1400" b="0" i="0" u="none" strike="noStrike" cap="none">
              <a:solidFill>
                <a:srgbClr val="D7BA7D"/>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pic>
        <p:nvPicPr>
          <p:cNvPr id="386" name="Google Shape;386;p5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387" name="Google Shape;387;p55"/>
          <p:cNvSpPr txBox="1"/>
          <p:nvPr/>
        </p:nvSpPr>
        <p:spPr>
          <a:xfrm>
            <a:off x="643801" y="2302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FILAS Y COLUMNAS REPETITIVAS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388" name="Google Shape;388;p55"/>
          <p:cNvSpPr txBox="1"/>
          <p:nvPr/>
        </p:nvSpPr>
        <p:spPr>
          <a:xfrm>
            <a:off x="557850" y="1335575"/>
            <a:ext cx="8028300" cy="4413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Deberíamos hacer los divs necesarios, pero la grilla está lista para acomodar a sus ítems.</a:t>
            </a:r>
            <a:endParaRPr sz="1600" b="0" i="0" u="none" strike="noStrike" cap="none">
              <a:solidFill>
                <a:srgbClr val="000000"/>
              </a:solidFill>
              <a:latin typeface="Helvetica Neue Light"/>
              <a:ea typeface="Helvetica Neue Light"/>
              <a:cs typeface="Helvetica Neue Light"/>
              <a:sym typeface="Helvetica Neue Light"/>
            </a:endParaRPr>
          </a:p>
        </p:txBody>
      </p:sp>
      <p:pic>
        <p:nvPicPr>
          <p:cNvPr id="389" name="Google Shape;389;p55"/>
          <p:cNvPicPr preferRelativeResize="0"/>
          <p:nvPr/>
        </p:nvPicPr>
        <p:blipFill rotWithShape="1">
          <a:blip r:embed="rId4">
            <a:alphaModFix/>
          </a:blip>
          <a:srcRect/>
          <a:stretch/>
        </p:blipFill>
        <p:spPr>
          <a:xfrm>
            <a:off x="1399238" y="1790238"/>
            <a:ext cx="6345525" cy="2856001"/>
          </a:xfrm>
          <a:prstGeom prst="rect">
            <a:avLst/>
          </a:prstGeom>
          <a:noFill/>
          <a:ln>
            <a:noFill/>
          </a:ln>
        </p:spPr>
      </p:pic>
      <p:sp>
        <p:nvSpPr>
          <p:cNvPr id="390" name="Google Shape;390;p55"/>
          <p:cNvSpPr txBox="1"/>
          <p:nvPr/>
        </p:nvSpPr>
        <p:spPr>
          <a:xfrm>
            <a:off x="3200500" y="4268800"/>
            <a:ext cx="5048100" cy="441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b="0" i="0" u="none" strike="noStrike" cap="none">
                <a:solidFill>
                  <a:srgbClr val="000000"/>
                </a:solidFill>
                <a:highlight>
                  <a:srgbClr val="E0FF00"/>
                </a:highlight>
                <a:latin typeface="Helvetica Neue Light"/>
                <a:ea typeface="Helvetica Neue Light"/>
                <a:cs typeface="Helvetica Neue Light"/>
                <a:sym typeface="Helvetica Neue Light"/>
              </a:rPr>
              <a:t>Así “se ve” la pantalla dividida en grillas.</a:t>
            </a:r>
            <a:endParaRPr sz="1500" b="0" i="0" u="none" strike="noStrike" cap="none">
              <a:solidFill>
                <a:srgbClr val="000000"/>
              </a:solidFill>
              <a:highlight>
                <a:srgbClr val="E0FF00"/>
              </a:highlight>
              <a:latin typeface="Helvetica Neue Light"/>
              <a:ea typeface="Helvetica Neue Light"/>
              <a:cs typeface="Helvetica Neue Light"/>
              <a:sym typeface="Helvetica Neue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394"/>
        <p:cNvGrpSpPr/>
        <p:nvPr/>
      </p:nvGrpSpPr>
      <p:grpSpPr>
        <a:xfrm>
          <a:off x="0" y="0"/>
          <a:ext cx="0" cy="0"/>
          <a:chOff x="0" y="0"/>
          <a:chExt cx="0" cy="0"/>
        </a:xfrm>
      </p:grpSpPr>
      <p:pic>
        <p:nvPicPr>
          <p:cNvPr id="395" name="Google Shape;395;p56"/>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396" name="Google Shape;396;p56"/>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397" name="Google Shape;397;p56"/>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5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03" name="Google Shape;403;p57"/>
          <p:cNvSpPr txBox="1"/>
          <p:nvPr/>
        </p:nvSpPr>
        <p:spPr>
          <a:xfrm>
            <a:off x="643801" y="3519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04" name="Google Shape;404;p57"/>
          <p:cNvSpPr txBox="1"/>
          <p:nvPr/>
        </p:nvSpPr>
        <p:spPr>
          <a:xfrm>
            <a:off x="557850" y="2264238"/>
            <a:ext cx="8028300" cy="2354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Es posible indicar el nombre y la posición concreta de cada área de la cuadrícula. Utiliza la propiedad </a:t>
            </a:r>
            <a:r>
              <a:rPr lang="en-GB" sz="1800" b="0" i="1" u="none" strike="noStrike" cap="none">
                <a:solidFill>
                  <a:schemeClr val="dk1"/>
                </a:solidFill>
                <a:highlight>
                  <a:srgbClr val="E0FF00"/>
                </a:highlight>
                <a:latin typeface="Helvetica Neue Light"/>
                <a:ea typeface="Helvetica Neue Light"/>
                <a:cs typeface="Helvetica Neue Light"/>
                <a:sym typeface="Helvetica Neue Light"/>
              </a:rPr>
              <a:t>grid-template-areas</a:t>
            </a:r>
            <a:r>
              <a:rPr lang="en-GB" sz="1800" b="0" i="0" u="none" strike="noStrike" cap="none">
                <a:solidFill>
                  <a:schemeClr val="dk1"/>
                </a:solidFill>
                <a:latin typeface="Helvetica Neue Light"/>
                <a:ea typeface="Helvetica Neue Light"/>
                <a:cs typeface="Helvetica Neue Light"/>
                <a:sym typeface="Helvetica Neue Light"/>
              </a:rPr>
              <a:t>, donde debes especificar el orden de las áreas. Luego, en cada </a:t>
            </a:r>
            <a:r>
              <a:rPr lang="en-GB" sz="1800" b="0" i="1" u="none" strike="noStrike" cap="none">
                <a:solidFill>
                  <a:schemeClr val="dk1"/>
                </a:solidFill>
                <a:latin typeface="Helvetica Neue Light"/>
                <a:ea typeface="Helvetica Neue Light"/>
                <a:cs typeface="Helvetica Neue Light"/>
                <a:sym typeface="Helvetica Neue Light"/>
              </a:rPr>
              <a:t>ítem hijo</a:t>
            </a:r>
            <a:r>
              <a:rPr lang="en-GB" sz="1800" b="0" i="0" u="none" strike="noStrike" cap="none">
                <a:solidFill>
                  <a:schemeClr val="dk1"/>
                </a:solidFill>
                <a:latin typeface="Helvetica Neue Light"/>
                <a:ea typeface="Helvetica Neue Light"/>
                <a:cs typeface="Helvetica Neue Light"/>
                <a:sym typeface="Helvetica Neue Light"/>
              </a:rPr>
              <a:t>, usas la propiedad </a:t>
            </a:r>
            <a:r>
              <a:rPr lang="en-GB" sz="1800" b="0" i="1" u="none" strike="noStrike" cap="none">
                <a:solidFill>
                  <a:schemeClr val="dk1"/>
                </a:solidFill>
                <a:highlight>
                  <a:srgbClr val="E0FF00"/>
                </a:highlight>
                <a:latin typeface="Helvetica Neue Light"/>
                <a:ea typeface="Helvetica Neue Light"/>
                <a:cs typeface="Helvetica Neue Light"/>
                <a:sym typeface="Helvetica Neue Light"/>
              </a:rPr>
              <a:t>grid-area</a:t>
            </a: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 </a:t>
            </a:r>
            <a:r>
              <a:rPr lang="en-GB" sz="1800" b="0" i="0" u="none" strike="noStrike" cap="none">
                <a:solidFill>
                  <a:schemeClr val="dk1"/>
                </a:solidFill>
                <a:latin typeface="Helvetica Neue Light"/>
                <a:ea typeface="Helvetica Neue Light"/>
                <a:cs typeface="Helvetica Neue Light"/>
                <a:sym typeface="Helvetica Neue Light"/>
              </a:rPr>
              <a:t>para indicar el nombre del área en cuestión.</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200"/>
              <a:buFont typeface="Arial"/>
              <a:buNone/>
            </a:pPr>
            <a:r>
              <a:rPr lang="en-GB" sz="1200" b="0" i="0" u="none" strike="noStrike" cap="none">
                <a:solidFill>
                  <a:schemeClr val="dk1"/>
                </a:solidFill>
                <a:highlight>
                  <a:srgbClr val="E0FF00"/>
                </a:highlight>
                <a:latin typeface="Helvetica Neue Light"/>
                <a:ea typeface="Helvetica Neue Light"/>
                <a:cs typeface="Helvetica Neue Light"/>
                <a:sym typeface="Helvetica Neue Light"/>
              </a:rPr>
              <a:t>De esta forma, es muy sencillo crear una cuadrícula altamente personalizada en apenas unas cuantas líneas de CSS.</a:t>
            </a:r>
            <a:endParaRPr sz="1200" b="0" i="0" u="none" strike="noStrike" cap="none">
              <a:solidFill>
                <a:srgbClr val="000000"/>
              </a:solidFill>
              <a:highlight>
                <a:srgbClr val="E0FF00"/>
              </a:highlight>
              <a:latin typeface="Helvetica Neue Light"/>
              <a:ea typeface="Helvetica Neue Light"/>
              <a:cs typeface="Helvetica Neue Light"/>
              <a:sym typeface="Helvetica Neue Light"/>
            </a:endParaRPr>
          </a:p>
        </p:txBody>
      </p:sp>
      <p:sp>
        <p:nvSpPr>
          <p:cNvPr id="405" name="Google Shape;405;p57"/>
          <p:cNvSpPr txBox="1"/>
          <p:nvPr/>
        </p:nvSpPr>
        <p:spPr>
          <a:xfrm>
            <a:off x="726000" y="1564150"/>
            <a:ext cx="8028300" cy="6591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100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Ahora veremos otra forma de crear grillas, de una forma más flexible.</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58"/>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11" name="Google Shape;411;p58"/>
          <p:cNvSpPr txBox="1"/>
          <p:nvPr/>
        </p:nvSpPr>
        <p:spPr>
          <a:xfrm>
            <a:off x="643801" y="2789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12" name="Google Shape;412;p58"/>
          <p:cNvSpPr txBox="1"/>
          <p:nvPr/>
        </p:nvSpPr>
        <p:spPr>
          <a:xfrm>
            <a:off x="783675" y="2150600"/>
            <a:ext cx="8028300" cy="1214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100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Entonces, siguiendo la línea del objetivo que tenemos podemos hacer lo siguiente:</a:t>
            </a:r>
            <a:endParaRPr sz="24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5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18" name="Google Shape;418;p59"/>
          <p:cNvSpPr txBox="1"/>
          <p:nvPr/>
        </p:nvSpPr>
        <p:spPr>
          <a:xfrm>
            <a:off x="643801" y="2626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19" name="Google Shape;419;p59"/>
          <p:cNvSpPr txBox="1"/>
          <p:nvPr/>
        </p:nvSpPr>
        <p:spPr>
          <a:xfrm>
            <a:off x="726050" y="2101550"/>
            <a:ext cx="7987200" cy="23910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&lt;div</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id</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"grilla"</a:t>
            </a:r>
            <a:r>
              <a:rPr lang="en-GB" sz="1200" b="0" i="0" u="none" strike="noStrike" cap="none">
                <a:solidFill>
                  <a:srgbClr val="800000"/>
                </a:solidFill>
                <a:latin typeface="Consolas"/>
                <a:ea typeface="Consolas"/>
                <a:cs typeface="Consolas"/>
                <a:sym typeface="Consolas"/>
              </a:rPr>
              <a:t>&gt;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&lt;header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rgbClr val="000000"/>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Header</a:t>
            </a:r>
            <a:r>
              <a:rPr lang="en-GB" sz="1200" b="0" i="0" u="none" strike="noStrike" cap="none">
                <a:solidFill>
                  <a:srgbClr val="800000"/>
                </a:solidFill>
                <a:latin typeface="Consolas"/>
                <a:ea typeface="Consolas"/>
                <a:cs typeface="Consolas"/>
                <a:sym typeface="Consolas"/>
              </a:rPr>
              <a:t>&lt;/header&gt;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&lt;section</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id</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"productos"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Section</a:t>
            </a:r>
            <a:r>
              <a:rPr lang="en-GB" sz="1200" b="0" i="0" u="none" strike="noStrike" cap="none">
                <a:solidFill>
                  <a:srgbClr val="800000"/>
                </a:solidFill>
                <a:latin typeface="Consolas"/>
                <a:ea typeface="Consolas"/>
                <a:cs typeface="Consolas"/>
                <a:sym typeface="Consolas"/>
              </a:rPr>
              <a:t>&lt;/section&gt;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&lt;section</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id</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"servicios"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Section</a:t>
            </a:r>
            <a:r>
              <a:rPr lang="en-GB" sz="1200" b="0" i="0" u="none" strike="noStrike" cap="none">
                <a:solidFill>
                  <a:srgbClr val="800000"/>
                </a:solidFill>
                <a:latin typeface="Consolas"/>
                <a:ea typeface="Consolas"/>
                <a:cs typeface="Consolas"/>
                <a:sym typeface="Consolas"/>
              </a:rPr>
              <a:t>&lt;/section&gt;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&lt;nav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Navegacion</a:t>
            </a:r>
            <a:r>
              <a:rPr lang="en-GB" sz="1200" b="0" i="0" u="none" strike="noStrike" cap="none">
                <a:solidFill>
                  <a:srgbClr val="800000"/>
                </a:solidFill>
                <a:latin typeface="Consolas"/>
                <a:ea typeface="Consolas"/>
                <a:cs typeface="Consolas"/>
                <a:sym typeface="Consolas"/>
              </a:rPr>
              <a:t>&lt;/nav&gt;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&lt;aside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Aside</a:t>
            </a:r>
            <a:r>
              <a:rPr lang="en-GB" sz="1200" b="0" i="0" u="none" strike="noStrike" cap="none">
                <a:solidFill>
                  <a:srgbClr val="800000"/>
                </a:solidFill>
                <a:latin typeface="Consolas"/>
                <a:ea typeface="Consolas"/>
                <a:cs typeface="Consolas"/>
                <a:sym typeface="Consolas"/>
              </a:rPr>
              <a:t>&lt;/aside&gt;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800000"/>
                </a:solidFill>
                <a:latin typeface="Consolas"/>
                <a:ea typeface="Consolas"/>
                <a:cs typeface="Consolas"/>
                <a:sym typeface="Consolas"/>
              </a:rPr>
              <a:t>&lt;footer </a:t>
            </a:r>
            <a:r>
              <a:rPr lang="en-GB" sz="1200" b="0" i="0" u="none" strike="noStrike" cap="none">
                <a:solidFill>
                  <a:srgbClr val="FF0000"/>
                </a:solidFill>
                <a:latin typeface="Consolas"/>
                <a:ea typeface="Consolas"/>
                <a:cs typeface="Consolas"/>
                <a:sym typeface="Consolas"/>
              </a:rPr>
              <a:t>class</a:t>
            </a:r>
            <a:r>
              <a:rPr lang="en-GB" sz="1200" b="0" i="0" u="none" strike="noStrike" cap="none">
                <a:solidFill>
                  <a:schemeClr val="dk1"/>
                </a:solidFill>
                <a:latin typeface="Consolas"/>
                <a:ea typeface="Consolas"/>
                <a:cs typeface="Consolas"/>
                <a:sym typeface="Consolas"/>
              </a:rPr>
              <a:t>=</a:t>
            </a:r>
            <a:r>
              <a:rPr lang="en-GB" sz="1200" b="0" i="0" u="none" strike="noStrike" cap="none">
                <a:solidFill>
                  <a:srgbClr val="0000FF"/>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&gt;</a:t>
            </a:r>
            <a:r>
              <a:rPr lang="en-GB" sz="1200" b="0" i="0" u="none" strike="noStrike" cap="none">
                <a:solidFill>
                  <a:schemeClr val="dk1"/>
                </a:solidFill>
                <a:latin typeface="Consolas"/>
                <a:ea typeface="Consolas"/>
                <a:cs typeface="Consolas"/>
                <a:sym typeface="Consolas"/>
              </a:rPr>
              <a:t>Pie de pagina</a:t>
            </a:r>
            <a:r>
              <a:rPr lang="en-GB" sz="1200" b="0" i="0" u="none" strike="noStrike" cap="none">
                <a:solidFill>
                  <a:srgbClr val="800000"/>
                </a:solidFill>
                <a:latin typeface="Consolas"/>
                <a:ea typeface="Consolas"/>
                <a:cs typeface="Consolas"/>
                <a:sym typeface="Consolas"/>
              </a:rPr>
              <a:t>&lt;/footer&gt;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&lt;/div&gt;</a:t>
            </a:r>
            <a:endParaRPr sz="1200" b="0" i="0" u="none" strike="noStrike" cap="none">
              <a:solidFill>
                <a:srgbClr val="800000"/>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400"/>
              <a:buFont typeface="Arial"/>
              <a:buNone/>
            </a:pPr>
            <a:endParaRPr sz="1400" b="0" i="0" u="none" strike="noStrike" cap="none">
              <a:solidFill>
                <a:srgbClr val="800000"/>
              </a:solidFill>
              <a:latin typeface="Consolas"/>
              <a:ea typeface="Consolas"/>
              <a:cs typeface="Consolas"/>
              <a:sym typeface="Consolas"/>
            </a:endParaRPr>
          </a:p>
        </p:txBody>
      </p:sp>
      <p:sp>
        <p:nvSpPr>
          <p:cNvPr id="420" name="Google Shape;420;p59"/>
          <p:cNvSpPr txBox="1"/>
          <p:nvPr/>
        </p:nvSpPr>
        <p:spPr>
          <a:xfrm>
            <a:off x="578400" y="1584688"/>
            <a:ext cx="7987200" cy="4206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highlight>
                  <a:srgbClr val="E0FF00"/>
                </a:highlight>
                <a:latin typeface="Helvetica Neue Light"/>
                <a:ea typeface="Helvetica Neue Light"/>
                <a:cs typeface="Helvetica Neue Light"/>
                <a:sym typeface="Helvetica Neue Light"/>
              </a:rPr>
              <a:t>HTML base para todos los ejemplos. Es muy importante marcar la estructura HTML. </a:t>
            </a:r>
            <a:endParaRPr sz="1400" b="0" i="0" u="none" strike="noStrike" cap="none">
              <a:solidFill>
                <a:srgbClr val="000000"/>
              </a:solidFill>
              <a:highlight>
                <a:srgbClr val="E0FF00"/>
              </a:highlight>
              <a:latin typeface="Helvetica Neue Light"/>
              <a:ea typeface="Helvetica Neue Light"/>
              <a:cs typeface="Helvetica Neue Light"/>
              <a:sym typeface="Helvetica Neue Light"/>
            </a:endParaRPr>
          </a:p>
        </p:txBody>
      </p:sp>
      <p:sp>
        <p:nvSpPr>
          <p:cNvPr id="421" name="Google Shape;421;p59"/>
          <p:cNvSpPr txBox="1"/>
          <p:nvPr/>
        </p:nvSpPr>
        <p:spPr>
          <a:xfrm>
            <a:off x="2856050" y="1157825"/>
            <a:ext cx="3727200" cy="33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Didact Gothic"/>
              <a:ea typeface="Didact Gothic"/>
              <a:cs typeface="Didact Gothic"/>
              <a:sym typeface="Didact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6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27" name="Google Shape;427;p60"/>
          <p:cNvSpPr txBox="1"/>
          <p:nvPr/>
        </p:nvSpPr>
        <p:spPr>
          <a:xfrm>
            <a:off x="643801" y="1085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28" name="Google Shape;428;p60"/>
          <p:cNvSpPr txBox="1"/>
          <p:nvPr/>
        </p:nvSpPr>
        <p:spPr>
          <a:xfrm>
            <a:off x="726050" y="1434025"/>
            <a:ext cx="3899100" cy="36480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#grilla</a:t>
            </a:r>
            <a:r>
              <a:rPr lang="en-GB" sz="1200" b="0" i="0" u="none" strike="noStrike" cap="none">
                <a:solidFill>
                  <a:schemeClr val="dk1"/>
                </a:solidFill>
                <a:latin typeface="Consolas"/>
                <a:ea typeface="Consolas"/>
                <a:cs typeface="Consolas"/>
                <a:sym typeface="Consolas"/>
              </a:rPr>
              <a:t> {</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display</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451A5"/>
                </a:solidFill>
                <a:latin typeface="Consolas"/>
                <a:ea typeface="Consolas"/>
                <a:cs typeface="Consolas"/>
                <a:sym typeface="Consolas"/>
              </a:rPr>
              <a:t>grid</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grid-template-areas</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header header"</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productos publicidad"</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servicios publicidad"</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footer footer"</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grid-template-rows</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100px</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1fr</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1fr</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75px</a:t>
            </a:r>
            <a:r>
              <a:rPr lang="en-GB" sz="1200" b="0" i="0" u="none" strike="noStrike" cap="none">
                <a:solidFill>
                  <a:schemeClr val="dk1"/>
                </a:solidFill>
                <a:latin typeface="Consolas"/>
                <a:ea typeface="Consolas"/>
                <a:cs typeface="Consolas"/>
                <a:sym typeface="Consolas"/>
              </a:rPr>
              <a:t>; </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grid-template-columns</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20%</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451A5"/>
                </a:solidFill>
                <a:latin typeface="Consolas"/>
                <a:ea typeface="Consolas"/>
                <a:cs typeface="Consolas"/>
                <a:sym typeface="Consolas"/>
              </a:rPr>
              <a:t>auto</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15%</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.border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1px solid black</a:t>
            </a: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200"/>
              <a:buFont typeface="Arial"/>
              <a:buNone/>
            </a:pPr>
            <a:endParaRPr sz="1200" b="0" i="0" u="none" strike="noStrike" cap="none">
              <a:solidFill>
                <a:srgbClr val="800000"/>
              </a:solidFill>
              <a:latin typeface="Consolas"/>
              <a:ea typeface="Consolas"/>
              <a:cs typeface="Consolas"/>
              <a:sym typeface="Consolas"/>
            </a:endParaRPr>
          </a:p>
        </p:txBody>
      </p:sp>
      <p:sp>
        <p:nvSpPr>
          <p:cNvPr id="429" name="Google Shape;429;p60"/>
          <p:cNvSpPr txBox="1"/>
          <p:nvPr/>
        </p:nvSpPr>
        <p:spPr>
          <a:xfrm>
            <a:off x="4764850" y="1434025"/>
            <a:ext cx="3899100" cy="3225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header</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header;</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footer</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footer;</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section#productos</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productos;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section#servicios</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servicios;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nav</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nav;</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rgbClr val="800000"/>
                </a:solidFill>
                <a:latin typeface="Consolas"/>
                <a:ea typeface="Consolas"/>
                <a:cs typeface="Consolas"/>
                <a:sym typeface="Consolas"/>
              </a:rPr>
              <a:t>aside</a:t>
            </a:r>
            <a:r>
              <a:rPr lang="en-GB" sz="1100" b="0" i="0" u="none" strike="noStrike" cap="none">
                <a:solidFill>
                  <a:schemeClr val="dk1"/>
                </a:solidFill>
                <a:latin typeface="Consolas"/>
                <a:ea typeface="Consolas"/>
                <a:cs typeface="Consolas"/>
                <a:sym typeface="Consolas"/>
              </a:rPr>
              <a:t> {</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   </a:t>
            </a:r>
            <a:r>
              <a:rPr lang="en-GB" sz="1100" b="0" i="0" u="none" strike="noStrike" cap="none">
                <a:solidFill>
                  <a:srgbClr val="FF0000"/>
                </a:solidFill>
                <a:latin typeface="Consolas"/>
                <a:ea typeface="Consolas"/>
                <a:cs typeface="Consolas"/>
                <a:sym typeface="Consolas"/>
              </a:rPr>
              <a:t>grid-area</a:t>
            </a:r>
            <a:r>
              <a:rPr lang="en-GB" sz="1100" b="0" i="0" u="none" strike="noStrike" cap="none">
                <a:solidFill>
                  <a:schemeClr val="dk1"/>
                </a:solidFill>
                <a:latin typeface="Consolas"/>
                <a:ea typeface="Consolas"/>
                <a:cs typeface="Consolas"/>
                <a:sym typeface="Consolas"/>
              </a:rPr>
              <a:t>: publicidad;</a:t>
            </a:r>
            <a:endParaRPr sz="11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GB" sz="1100" b="0" i="0" u="none" strike="noStrike" cap="none">
                <a:solidFill>
                  <a:schemeClr val="dk1"/>
                </a:solidFill>
                <a:latin typeface="Consolas"/>
                <a:ea typeface="Consolas"/>
                <a:cs typeface="Consolas"/>
                <a:sym typeface="Consolas"/>
              </a:rPr>
              <a:t>}</a:t>
            </a:r>
            <a:endParaRPr sz="1100" b="0" i="0" u="none" strike="noStrike" cap="none">
              <a:solidFill>
                <a:schemeClr val="dk1"/>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100"/>
              <a:buFont typeface="Arial"/>
              <a:buNone/>
            </a:pPr>
            <a:endParaRPr sz="1100" b="0" i="0" u="none" strike="noStrike" cap="none">
              <a:solidFill>
                <a:srgbClr val="800000"/>
              </a:solidFill>
              <a:latin typeface="Consolas"/>
              <a:ea typeface="Consolas"/>
              <a:cs typeface="Consolas"/>
              <a:sym typeface="Consolas"/>
            </a:endParaRPr>
          </a:p>
        </p:txBody>
      </p:sp>
      <p:sp>
        <p:nvSpPr>
          <p:cNvPr id="430" name="Google Shape;430;p60"/>
          <p:cNvSpPr txBox="1"/>
          <p:nvPr/>
        </p:nvSpPr>
        <p:spPr>
          <a:xfrm>
            <a:off x="3787500" y="997950"/>
            <a:ext cx="1569000" cy="33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a:ea typeface="Helvetica Neue"/>
                <a:cs typeface="Helvetica Neue"/>
                <a:sym typeface="Helvetica Neue"/>
              </a:rPr>
              <a:t>CSS a usar:</a:t>
            </a:r>
            <a:endParaRPr sz="18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6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36" name="Google Shape;436;p61"/>
          <p:cNvSpPr txBox="1"/>
          <p:nvPr/>
        </p:nvSpPr>
        <p:spPr>
          <a:xfrm>
            <a:off x="643801" y="2708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437" name="Google Shape;437;p61"/>
          <p:cNvPicPr preferRelativeResize="0"/>
          <p:nvPr/>
        </p:nvPicPr>
        <p:blipFill rotWithShape="1">
          <a:blip r:embed="rId4">
            <a:alphaModFix/>
          </a:blip>
          <a:srcRect/>
          <a:stretch/>
        </p:blipFill>
        <p:spPr>
          <a:xfrm>
            <a:off x="726059" y="1937500"/>
            <a:ext cx="5271640" cy="2668050"/>
          </a:xfrm>
          <a:prstGeom prst="rect">
            <a:avLst/>
          </a:prstGeom>
          <a:noFill/>
          <a:ln>
            <a:noFill/>
          </a:ln>
        </p:spPr>
      </p:pic>
      <p:sp>
        <p:nvSpPr>
          <p:cNvPr id="438" name="Google Shape;438;p61"/>
          <p:cNvSpPr txBox="1"/>
          <p:nvPr/>
        </p:nvSpPr>
        <p:spPr>
          <a:xfrm>
            <a:off x="578400" y="1487950"/>
            <a:ext cx="7987200" cy="4206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en-GB" sz="1400" b="0" i="0" u="none" strike="noStrike" cap="none">
                <a:solidFill>
                  <a:srgbClr val="000000"/>
                </a:solidFill>
                <a:latin typeface="Helvetica Neue Light"/>
                <a:ea typeface="Helvetica Neue Light"/>
                <a:cs typeface="Helvetica Neue Light"/>
                <a:sym typeface="Helvetica Neue Light"/>
              </a:rPr>
              <a:t>De esta forma, se aproxima a lo que queremos inicialmente, sólo nos falta darle unas decoraciones:</a:t>
            </a:r>
            <a:endParaRPr sz="1400" b="0" i="0" u="none" strike="noStrike" cap="none">
              <a:solidFill>
                <a:srgbClr val="000000"/>
              </a:solidFill>
              <a:latin typeface="Helvetica Neue Light"/>
              <a:ea typeface="Helvetica Neue Light"/>
              <a:cs typeface="Helvetica Neue Light"/>
              <a:sym typeface="Helvetica Neue Light"/>
            </a:endParaRPr>
          </a:p>
        </p:txBody>
      </p:sp>
      <p:pic>
        <p:nvPicPr>
          <p:cNvPr id="439" name="Google Shape;439;p61"/>
          <p:cNvPicPr preferRelativeResize="0"/>
          <p:nvPr/>
        </p:nvPicPr>
        <p:blipFill rotWithShape="1">
          <a:blip r:embed="rId5">
            <a:alphaModFix/>
          </a:blip>
          <a:srcRect/>
          <a:stretch/>
        </p:blipFill>
        <p:spPr>
          <a:xfrm>
            <a:off x="4321900" y="2123075"/>
            <a:ext cx="4611910" cy="232201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443"/>
        <p:cNvGrpSpPr/>
        <p:nvPr/>
      </p:nvGrpSpPr>
      <p:grpSpPr>
        <a:xfrm>
          <a:off x="0" y="0"/>
          <a:ext cx="0" cy="0"/>
          <a:chOff x="0" y="0"/>
          <a:chExt cx="0" cy="0"/>
        </a:xfrm>
      </p:grpSpPr>
      <p:pic>
        <p:nvPicPr>
          <p:cNvPr id="444" name="Google Shape;444;p62"/>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445" name="Google Shape;445;p62"/>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446" name="Google Shape;446;p62"/>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6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52" name="Google Shape;452;p63"/>
          <p:cNvSpPr txBox="1"/>
          <p:nvPr/>
        </p:nvSpPr>
        <p:spPr>
          <a:xfrm>
            <a:off x="643801" y="1864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ESPACIOS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53" name="Google Shape;453;p63"/>
          <p:cNvSpPr txBox="1"/>
          <p:nvPr/>
        </p:nvSpPr>
        <p:spPr>
          <a:xfrm>
            <a:off x="588900" y="1370775"/>
            <a:ext cx="7966200" cy="13350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La cuadrícula tiene todas sus celdas </a:t>
            </a:r>
            <a:r>
              <a:rPr lang="en-GB" sz="1800" b="1" i="0" u="none" strike="noStrike" cap="none">
                <a:solidFill>
                  <a:schemeClr val="dk1"/>
                </a:solidFill>
                <a:latin typeface="Helvetica Neue"/>
                <a:ea typeface="Helvetica Neue"/>
                <a:cs typeface="Helvetica Neue"/>
                <a:sym typeface="Helvetica Neue"/>
              </a:rPr>
              <a:t>una a continuación de la otra.</a:t>
            </a:r>
            <a:r>
              <a:rPr lang="en-GB" sz="1800" b="0" i="0" u="none" strike="noStrike" cap="none">
                <a:solidFill>
                  <a:schemeClr val="dk1"/>
                </a:solidFill>
                <a:latin typeface="Helvetica Neue Light"/>
                <a:ea typeface="Helvetica Neue Light"/>
                <a:cs typeface="Helvetica Neue Light"/>
                <a:sym typeface="Helvetica Neue Light"/>
              </a:rPr>
              <a:t> Aunque sería posible darle un margen a las celdas dentro del contenedor, existe una forma más apropiada, evitando los problemas clásicos de los modelos de caja: los </a:t>
            </a:r>
            <a:r>
              <a:rPr lang="en-GB" sz="1800" b="1" i="0" u="none" strike="noStrike" cap="none">
                <a:solidFill>
                  <a:schemeClr val="dk1"/>
                </a:solidFill>
                <a:latin typeface="Helvetica Neue"/>
                <a:ea typeface="Helvetica Neue"/>
                <a:cs typeface="Helvetica Neue"/>
                <a:sym typeface="Helvetica Neue"/>
              </a:rPr>
              <a:t>huecos (gutters)</a:t>
            </a:r>
            <a:r>
              <a:rPr lang="en-GB" sz="1800" b="0" i="0" u="none" strike="noStrike" cap="none">
                <a:solidFill>
                  <a:schemeClr val="dk1"/>
                </a:solidFill>
                <a:latin typeface="Helvetica Neue Light"/>
                <a:ea typeface="Helvetica Neue Light"/>
                <a:cs typeface="Helvetica Neue Light"/>
                <a:sym typeface="Helvetica Neue Light"/>
              </a:rPr>
              <a:t>.</a:t>
            </a:r>
            <a:endParaRPr sz="1800" b="0" i="0" u="none" strike="noStrike" cap="none">
              <a:solidFill>
                <a:schemeClr val="dk1"/>
              </a:solidFill>
              <a:latin typeface="Helvetica Neue Light"/>
              <a:ea typeface="Helvetica Neue Light"/>
              <a:cs typeface="Helvetica Neue Light"/>
              <a:sym typeface="Helvetica Neue Light"/>
            </a:endParaRPr>
          </a:p>
        </p:txBody>
      </p:sp>
      <p:sp>
        <p:nvSpPr>
          <p:cNvPr id="454" name="Google Shape;454;p63"/>
          <p:cNvSpPr txBox="1"/>
          <p:nvPr/>
        </p:nvSpPr>
        <p:spPr>
          <a:xfrm>
            <a:off x="895425" y="2821100"/>
            <a:ext cx="7856400" cy="17232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.grid</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grid-column-gap</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10px</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grid-row-gap</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9885A"/>
                </a:solidFill>
                <a:latin typeface="Consolas"/>
                <a:ea typeface="Consolas"/>
                <a:cs typeface="Consolas"/>
                <a:sym typeface="Consolas"/>
              </a:rPr>
              <a:t>15px</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400"/>
              <a:buFont typeface="Arial"/>
              <a:buNone/>
            </a:pPr>
            <a:endParaRPr sz="1400" b="0" i="0" u="none" strike="noStrike" cap="none">
              <a:solidFill>
                <a:srgbClr val="800000"/>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6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60" name="Google Shape;460;p64"/>
          <p:cNvSpPr txBox="1"/>
          <p:nvPr/>
        </p:nvSpPr>
        <p:spPr>
          <a:xfrm>
            <a:off x="689726" y="2027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ESPACIOS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461" name="Google Shape;461;p64"/>
          <p:cNvPicPr preferRelativeResize="0"/>
          <p:nvPr/>
        </p:nvPicPr>
        <p:blipFill rotWithShape="1">
          <a:blip r:embed="rId4">
            <a:alphaModFix/>
          </a:blip>
          <a:srcRect/>
          <a:stretch/>
        </p:blipFill>
        <p:spPr>
          <a:xfrm>
            <a:off x="2436499" y="1366275"/>
            <a:ext cx="4362853" cy="34716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466" name="Google Shape;466;p6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67" name="Google Shape;467;p65"/>
          <p:cNvSpPr txBox="1"/>
          <p:nvPr/>
        </p:nvSpPr>
        <p:spPr>
          <a:xfrm>
            <a:off x="588900" y="1297400"/>
            <a:ext cx="7966200" cy="13350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GB" sz="2000" b="0" i="0" u="none" strike="noStrike" cap="none">
                <a:solidFill>
                  <a:schemeClr val="dk1"/>
                </a:solidFill>
                <a:latin typeface="Helvetica Neue Light"/>
                <a:ea typeface="Helvetica Neue Light"/>
                <a:cs typeface="Helvetica Neue Light"/>
                <a:sym typeface="Helvetica Neue Light"/>
              </a:rPr>
              <a:t>En la propiedad </a:t>
            </a:r>
            <a:r>
              <a:rPr lang="en-GB" sz="2000" b="1" i="0" u="none" strike="noStrike" cap="none">
                <a:solidFill>
                  <a:schemeClr val="dk1"/>
                </a:solidFill>
                <a:latin typeface="Helvetica Neue"/>
                <a:ea typeface="Helvetica Neue"/>
                <a:cs typeface="Helvetica Neue"/>
                <a:sym typeface="Helvetica Neue"/>
              </a:rPr>
              <a:t>grid-template-areas</a:t>
            </a:r>
            <a:r>
              <a:rPr lang="en-GB" sz="2000" b="0" i="0" u="none" strike="noStrike" cap="none">
                <a:solidFill>
                  <a:schemeClr val="dk1"/>
                </a:solidFill>
                <a:latin typeface="Helvetica Neue Light"/>
                <a:ea typeface="Helvetica Neue Light"/>
                <a:cs typeface="Helvetica Neue Light"/>
                <a:sym typeface="Helvetica Neue Light"/>
              </a:rPr>
              <a:t> también es posible indicar una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palabra clave especial</a:t>
            </a:r>
            <a:r>
              <a:rPr lang="en-GB" sz="2000" b="0" i="0" u="none" strike="noStrike" cap="none">
                <a:solidFill>
                  <a:schemeClr val="dk1"/>
                </a:solidFill>
                <a:latin typeface="Helvetica Neue Light"/>
                <a:ea typeface="Helvetica Neue Light"/>
                <a:cs typeface="Helvetica Neue Light"/>
                <a:sym typeface="Helvetica Neue Light"/>
              </a:rPr>
              <a:t>:</a:t>
            </a:r>
            <a:endParaRPr sz="20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Helvetica Neue Light"/>
              <a:ea typeface="Helvetica Neue Light"/>
              <a:cs typeface="Helvetica Neue Light"/>
              <a:sym typeface="Helvetica Neue Light"/>
            </a:endParaRPr>
          </a:p>
          <a:p>
            <a:pPr marL="457200" marR="0" lvl="0" indent="-355600" algn="l" rtl="0">
              <a:lnSpc>
                <a:spcPct val="115000"/>
              </a:lnSpc>
              <a:spcBef>
                <a:spcPts val="0"/>
              </a:spcBef>
              <a:spcAft>
                <a:spcPts val="0"/>
              </a:spcAft>
              <a:buClr>
                <a:srgbClr val="00FFFF"/>
              </a:buClr>
              <a:buSzPts val="2000"/>
              <a:buFont typeface="Helvetica Neue Light"/>
              <a:buChar char="●"/>
            </a:pPr>
            <a:r>
              <a:rPr lang="en-GB" sz="2000" b="0" i="0" u="none" strike="noStrike" cap="none">
                <a:solidFill>
                  <a:schemeClr val="dk1"/>
                </a:solidFill>
                <a:latin typeface="Helvetica Neue Light"/>
                <a:ea typeface="Helvetica Neue Light"/>
                <a:cs typeface="Helvetica Neue Light"/>
                <a:sym typeface="Helvetica Neue Light"/>
              </a:rPr>
              <a:t>La palabra clave </a:t>
            </a:r>
            <a:r>
              <a:rPr lang="en-GB" sz="2000" b="1" i="0" u="none" strike="noStrike" cap="none">
                <a:solidFill>
                  <a:schemeClr val="dk1"/>
                </a:solidFill>
                <a:latin typeface="Helvetica Neue"/>
                <a:ea typeface="Helvetica Neue"/>
                <a:cs typeface="Helvetica Neue"/>
                <a:sym typeface="Helvetica Neue"/>
              </a:rPr>
              <a:t>none</a:t>
            </a:r>
            <a:r>
              <a:rPr lang="en-GB" sz="2000" b="0" i="0" u="none" strike="noStrike" cap="none">
                <a:solidFill>
                  <a:schemeClr val="dk1"/>
                </a:solidFill>
                <a:latin typeface="Helvetica Neue Light"/>
                <a:ea typeface="Helvetica Neue Light"/>
                <a:cs typeface="Helvetica Neue Light"/>
                <a:sym typeface="Helvetica Neue Light"/>
              </a:rPr>
              <a:t>: Indica que no se colocará ninguna celda en esta posición.</a:t>
            </a:r>
            <a:endParaRPr sz="2000" b="0" i="0" u="none" strike="noStrike" cap="none">
              <a:solidFill>
                <a:schemeClr val="dk1"/>
              </a:solidFill>
              <a:latin typeface="Helvetica Neue Light"/>
              <a:ea typeface="Helvetica Neue Light"/>
              <a:cs typeface="Helvetica Neue Light"/>
              <a:sym typeface="Helvetica Neue Light"/>
            </a:endParaRPr>
          </a:p>
          <a:p>
            <a:pPr marL="457200" marR="0" lvl="0" indent="-355600" algn="l" rtl="0">
              <a:lnSpc>
                <a:spcPct val="115000"/>
              </a:lnSpc>
              <a:spcBef>
                <a:spcPts val="0"/>
              </a:spcBef>
              <a:spcAft>
                <a:spcPts val="0"/>
              </a:spcAft>
              <a:buClr>
                <a:srgbClr val="00FFFF"/>
              </a:buClr>
              <a:buSzPts val="2000"/>
              <a:buFont typeface="Helvetica Neue Light"/>
              <a:buChar char="●"/>
            </a:pPr>
            <a:r>
              <a:rPr lang="en-GB" sz="2000" b="0" i="0" u="none" strike="noStrike" cap="none">
                <a:solidFill>
                  <a:schemeClr val="dk1"/>
                </a:solidFill>
                <a:latin typeface="Helvetica Neue Light"/>
                <a:ea typeface="Helvetica Neue Light"/>
                <a:cs typeface="Helvetica Neue Light"/>
                <a:sym typeface="Helvetica Neue Light"/>
              </a:rPr>
              <a:t>Uno o más puntos </a:t>
            </a:r>
            <a:r>
              <a:rPr lang="en-GB" sz="2000" b="1" i="0" u="none" strike="noStrike" cap="none">
                <a:solidFill>
                  <a:schemeClr val="dk1"/>
                </a:solidFill>
                <a:latin typeface="Helvetica Neue"/>
                <a:ea typeface="Helvetica Neue"/>
                <a:cs typeface="Helvetica Neue"/>
                <a:sym typeface="Helvetica Neue"/>
              </a:rPr>
              <a:t>(.)</a:t>
            </a:r>
            <a:r>
              <a:rPr lang="en-GB" sz="2000" b="0" i="0" u="none" strike="noStrike" cap="none">
                <a:solidFill>
                  <a:schemeClr val="dk1"/>
                </a:solidFill>
                <a:latin typeface="Helvetica Neue Light"/>
                <a:ea typeface="Helvetica Neue Light"/>
                <a:cs typeface="Helvetica Neue Light"/>
                <a:sym typeface="Helvetica Neue Light"/>
              </a:rPr>
              <a:t>: Indica que se colocará una celda vacía en esta posición.</a:t>
            </a:r>
            <a:endParaRPr sz="2000" b="0" i="0" u="none" strike="noStrike" cap="non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6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73" name="Google Shape;473;p66"/>
          <p:cNvSpPr txBox="1"/>
          <p:nvPr/>
        </p:nvSpPr>
        <p:spPr>
          <a:xfrm>
            <a:off x="1077401" y="262675"/>
            <a:ext cx="7856400" cy="697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74" name="Google Shape;474;p66"/>
          <p:cNvSpPr txBox="1"/>
          <p:nvPr/>
        </p:nvSpPr>
        <p:spPr>
          <a:xfrm>
            <a:off x="954600" y="1259350"/>
            <a:ext cx="3544200" cy="37311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Llevemos a práctica , agregando más estilos al padre (el contenedor) y verificando que tiene las propiedades </a:t>
            </a:r>
            <a:r>
              <a:rPr lang="en-GB" sz="1800" b="0" i="1" u="none" strike="noStrike" cap="none">
                <a:solidFill>
                  <a:srgbClr val="000000"/>
                </a:solidFill>
                <a:highlight>
                  <a:srgbClr val="E0FF00"/>
                </a:highlight>
                <a:latin typeface="Helvetica Neue Light"/>
                <a:ea typeface="Helvetica Neue Light"/>
                <a:cs typeface="Helvetica Neue Light"/>
                <a:sym typeface="Helvetica Neue Light"/>
              </a:rPr>
              <a:t>grid-row-gap</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 </a:t>
            </a:r>
            <a:r>
              <a:rPr lang="en-GB" sz="1800" b="0" i="0" u="none" strike="noStrike" cap="none">
                <a:solidFill>
                  <a:srgbClr val="000000"/>
                </a:solidFill>
                <a:latin typeface="Helvetica Neue Light"/>
                <a:ea typeface="Helvetica Neue Light"/>
                <a:cs typeface="Helvetica Neue Light"/>
                <a:sym typeface="Helvetica Neue Light"/>
              </a:rPr>
              <a:t>y </a:t>
            </a:r>
            <a:r>
              <a:rPr lang="en-GB" sz="1800" b="0" i="1" u="none" strike="noStrike" cap="none">
                <a:solidFill>
                  <a:srgbClr val="000000"/>
                </a:solidFill>
                <a:highlight>
                  <a:srgbClr val="E0FF00"/>
                </a:highlight>
                <a:latin typeface="Helvetica Neue Light"/>
                <a:ea typeface="Helvetica Neue Light"/>
                <a:cs typeface="Helvetica Neue Light"/>
                <a:sym typeface="Helvetica Neue Light"/>
              </a:rPr>
              <a:t>grid-column-gap</a:t>
            </a:r>
            <a:r>
              <a:rPr lang="en-GB" sz="1800" b="0" i="1" u="none" strike="noStrike" cap="none">
                <a:solidFill>
                  <a:srgbClr val="000000"/>
                </a:solidFill>
                <a:latin typeface="Helvetica Neue Light"/>
                <a:ea typeface="Helvetica Neue Light"/>
                <a:cs typeface="Helvetica Neue Light"/>
                <a:sym typeface="Helvetica Neue Light"/>
              </a:rPr>
              <a:t>,</a:t>
            </a:r>
            <a:r>
              <a:rPr lang="en-GB" sz="1800" b="0" i="0" u="none" strike="noStrike" cap="none">
                <a:solidFill>
                  <a:srgbClr val="000000"/>
                </a:solidFill>
                <a:latin typeface="Helvetica Neue Light"/>
                <a:ea typeface="Helvetica Neue Light"/>
                <a:cs typeface="Helvetica Neue Light"/>
                <a:sym typeface="Helvetica Neue Light"/>
              </a:rPr>
              <a:t> para hacer separaciones entre las columnas o filas, según el caso.</a:t>
            </a: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Didact Gothic"/>
              <a:ea typeface="Didact Gothic"/>
              <a:cs typeface="Didact Gothic"/>
              <a:sym typeface="Didact Gothic"/>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.border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1px solid black</a:t>
            </a: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 background-color</a:t>
            </a: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0451A5"/>
                </a:solidFill>
                <a:latin typeface="Consolas"/>
                <a:ea typeface="Consolas"/>
                <a:cs typeface="Consolas"/>
                <a:sym typeface="Consolas"/>
              </a:rPr>
              <a:t>yellow</a:t>
            </a: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a:t>
            </a:r>
            <a:endParaRPr sz="1800" b="0" i="0" u="none" strike="noStrike" cap="none">
              <a:solidFill>
                <a:srgbClr val="000000"/>
              </a:solidFill>
              <a:latin typeface="Didact Gothic"/>
              <a:ea typeface="Didact Gothic"/>
              <a:cs typeface="Didact Gothic"/>
              <a:sym typeface="Didact Gothic"/>
            </a:endParaRPr>
          </a:p>
        </p:txBody>
      </p:sp>
      <p:sp>
        <p:nvSpPr>
          <p:cNvPr id="475" name="Google Shape;475;p66"/>
          <p:cNvSpPr txBox="1"/>
          <p:nvPr/>
        </p:nvSpPr>
        <p:spPr>
          <a:xfrm>
            <a:off x="4630325" y="630700"/>
            <a:ext cx="3899100" cy="3978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#grilla</a:t>
            </a:r>
            <a:r>
              <a:rPr lang="en-GB" sz="1200" b="0" i="0" u="none" strike="noStrike" cap="none">
                <a:solidFill>
                  <a:schemeClr val="dk1"/>
                </a:solidFill>
                <a:latin typeface="Consolas"/>
                <a:ea typeface="Consolas"/>
                <a:cs typeface="Consolas"/>
                <a:sym typeface="Consolas"/>
              </a:rPr>
              <a:t> {</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display</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451A5"/>
                </a:solidFill>
                <a:latin typeface="Consolas"/>
                <a:ea typeface="Consolas"/>
                <a:cs typeface="Consolas"/>
                <a:sym typeface="Consolas"/>
              </a:rPr>
              <a:t>grid</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grid-template-areas</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header header"</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productos publicidad"</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servicios publicidad"</a:t>
            </a:r>
            <a:endParaRPr sz="1200" b="0" i="0" u="none" strike="noStrike" cap="none">
              <a:solidFill>
                <a:srgbClr val="A31515"/>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A31515"/>
                </a:solidFill>
                <a:latin typeface="Consolas"/>
                <a:ea typeface="Consolas"/>
                <a:cs typeface="Consolas"/>
                <a:sym typeface="Consolas"/>
              </a:rPr>
              <a:t>"nav footer footer"</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grid-template-rows</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100px</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1fr</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1fr</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75px</a:t>
            </a:r>
            <a:r>
              <a:rPr lang="en-GB" sz="1200" b="0" i="0" u="none" strike="noStrike" cap="none">
                <a:solidFill>
                  <a:schemeClr val="dk1"/>
                </a:solidFill>
                <a:latin typeface="Consolas"/>
                <a:ea typeface="Consolas"/>
                <a:cs typeface="Consolas"/>
                <a:sym typeface="Consolas"/>
              </a:rPr>
              <a:t>; </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grid-template-columns</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20%</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451A5"/>
                </a:solidFill>
                <a:latin typeface="Consolas"/>
                <a:ea typeface="Consolas"/>
                <a:cs typeface="Consolas"/>
                <a:sym typeface="Consolas"/>
              </a:rPr>
              <a:t>auto</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15%</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  grid-row-gap:</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10px</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grid-column-gap:</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10px</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height:</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100vh</a:t>
            </a:r>
            <a:r>
              <a:rPr lang="en-GB" sz="1200" b="0" i="0" u="none" strike="noStrike" cap="none">
                <a:solidFill>
                  <a:schemeClr val="dk1"/>
                </a:solidFill>
                <a:latin typeface="Consolas"/>
                <a:ea typeface="Consolas"/>
                <a:cs typeface="Consolas"/>
                <a:sym typeface="Consolas"/>
              </a:rPr>
              <a:t>;</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margin:</a:t>
            </a:r>
            <a:r>
              <a:rPr lang="en-GB" sz="1200" b="0" i="0" u="none" strike="noStrike" cap="none">
                <a:solidFill>
                  <a:schemeClr val="dk1"/>
                </a:solidFill>
                <a:latin typeface="Consolas"/>
                <a:ea typeface="Consolas"/>
                <a:cs typeface="Consolas"/>
                <a:sym typeface="Consolas"/>
              </a:rPr>
              <a:t> </a:t>
            </a:r>
            <a:r>
              <a:rPr lang="en-GB" sz="1200" b="0" i="0" u="none" strike="noStrike" cap="none">
                <a:solidFill>
                  <a:srgbClr val="09885A"/>
                </a:solidFill>
                <a:latin typeface="Consolas"/>
                <a:ea typeface="Consolas"/>
                <a:cs typeface="Consolas"/>
                <a:sym typeface="Consolas"/>
              </a:rPr>
              <a:t>0</a:t>
            </a:r>
            <a:r>
              <a:rPr lang="en-GB" sz="1200" b="0" i="0" u="none" strike="noStrike" cap="none">
                <a:solidFill>
                  <a:schemeClr val="dk1"/>
                </a:solidFill>
                <a:latin typeface="Consolas"/>
                <a:ea typeface="Consolas"/>
                <a:cs typeface="Consolas"/>
                <a:sym typeface="Consolas"/>
              </a:rPr>
              <a:t>;	 </a:t>
            </a:r>
            <a:endParaRPr sz="12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200"/>
              <a:buFont typeface="Arial"/>
              <a:buNone/>
            </a:pPr>
            <a:endParaRPr sz="1200" b="0" i="0" u="none" strike="noStrike" cap="none">
              <a:solidFill>
                <a:srgbClr val="800000"/>
              </a:solidFill>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6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81" name="Google Shape;481;p67"/>
          <p:cNvSpPr txBox="1"/>
          <p:nvPr/>
        </p:nvSpPr>
        <p:spPr>
          <a:xfrm>
            <a:off x="643801" y="278900"/>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GRID POR ÁREAS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482" name="Google Shape;482;p67"/>
          <p:cNvPicPr preferRelativeResize="0"/>
          <p:nvPr/>
        </p:nvPicPr>
        <p:blipFill rotWithShape="1">
          <a:blip r:embed="rId4">
            <a:alphaModFix/>
          </a:blip>
          <a:srcRect/>
          <a:stretch/>
        </p:blipFill>
        <p:spPr>
          <a:xfrm>
            <a:off x="726059" y="1937500"/>
            <a:ext cx="5271640" cy="2668050"/>
          </a:xfrm>
          <a:prstGeom prst="rect">
            <a:avLst/>
          </a:prstGeom>
          <a:noFill/>
          <a:ln>
            <a:noFill/>
          </a:ln>
        </p:spPr>
      </p:pic>
      <p:sp>
        <p:nvSpPr>
          <p:cNvPr id="483" name="Google Shape;483;p67"/>
          <p:cNvSpPr txBox="1"/>
          <p:nvPr/>
        </p:nvSpPr>
        <p:spPr>
          <a:xfrm>
            <a:off x="578400" y="1487975"/>
            <a:ext cx="7987200" cy="4206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500"/>
              <a:buFont typeface="Arial"/>
              <a:buNone/>
            </a:pPr>
            <a:r>
              <a:rPr lang="en-GB" sz="1500" b="0" i="0" u="none" strike="noStrike" cap="none">
                <a:solidFill>
                  <a:srgbClr val="000000"/>
                </a:solidFill>
                <a:latin typeface="Helvetica Neue Light"/>
                <a:ea typeface="Helvetica Neue Light"/>
                <a:cs typeface="Helvetica Neue Light"/>
                <a:sym typeface="Helvetica Neue Light"/>
              </a:rPr>
              <a:t>De esta forma, se aproxima a lo que queremos... sólo nos falta darle unas decoraciones:</a:t>
            </a:r>
            <a:endParaRPr sz="1500" b="0" i="0" u="none" strike="noStrike" cap="none">
              <a:solidFill>
                <a:srgbClr val="000000"/>
              </a:solidFill>
              <a:latin typeface="Helvetica Neue Light"/>
              <a:ea typeface="Helvetica Neue Light"/>
              <a:cs typeface="Helvetica Neue Light"/>
              <a:sym typeface="Helvetica Neue Light"/>
            </a:endParaRPr>
          </a:p>
        </p:txBody>
      </p:sp>
      <p:pic>
        <p:nvPicPr>
          <p:cNvPr id="484" name="Google Shape;484;p67"/>
          <p:cNvPicPr preferRelativeResize="0"/>
          <p:nvPr/>
        </p:nvPicPr>
        <p:blipFill rotWithShape="1">
          <a:blip r:embed="rId5">
            <a:alphaModFix/>
          </a:blip>
          <a:srcRect/>
          <a:stretch/>
        </p:blipFill>
        <p:spPr>
          <a:xfrm>
            <a:off x="4391625" y="2054513"/>
            <a:ext cx="4362826" cy="24591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488"/>
        <p:cNvGrpSpPr/>
        <p:nvPr/>
      </p:nvGrpSpPr>
      <p:grpSpPr>
        <a:xfrm>
          <a:off x="0" y="0"/>
          <a:ext cx="0" cy="0"/>
          <a:chOff x="0" y="0"/>
          <a:chExt cx="0" cy="0"/>
        </a:xfrm>
      </p:grpSpPr>
      <p:pic>
        <p:nvPicPr>
          <p:cNvPr id="489" name="Google Shape;489;p68"/>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490" name="Google Shape;490;p68"/>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491" name="Google Shape;491;p68"/>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497" name="Google Shape;497;p69"/>
          <p:cNvSpPr txBox="1"/>
          <p:nvPr/>
        </p:nvSpPr>
        <p:spPr>
          <a:xfrm>
            <a:off x="643800" y="1557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POSICIÓN DE HIJOS (DESDE EL PADRE)</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498" name="Google Shape;498;p69"/>
          <p:cNvSpPr txBox="1"/>
          <p:nvPr/>
        </p:nvSpPr>
        <p:spPr>
          <a:xfrm>
            <a:off x="643800" y="1513375"/>
            <a:ext cx="7856400" cy="11922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Existen propiedades que se pueden utilizar para colocar los ítems dentro de la cuadrícula. Es posible distribuir los elementos de una forma muy sencilla y cómoda: </a:t>
            </a:r>
            <a:r>
              <a:rPr lang="en-GB" sz="1800" b="0" i="1" u="none" strike="noStrike" cap="none">
                <a:solidFill>
                  <a:schemeClr val="dk1"/>
                </a:solidFill>
                <a:highlight>
                  <a:srgbClr val="E0FF00"/>
                </a:highlight>
                <a:latin typeface="Helvetica Neue Light"/>
                <a:ea typeface="Helvetica Neue Light"/>
                <a:cs typeface="Helvetica Neue Light"/>
                <a:sym typeface="Helvetica Neue Light"/>
              </a:rPr>
              <a:t>justify-items</a:t>
            </a:r>
            <a:r>
              <a:rPr lang="en-GB" sz="1800" b="0" i="0" u="none" strike="noStrike" cap="none">
                <a:solidFill>
                  <a:schemeClr val="dk1"/>
                </a:solidFill>
                <a:latin typeface="Helvetica Neue Light"/>
                <a:ea typeface="Helvetica Neue Light"/>
                <a:cs typeface="Helvetica Neue Light"/>
                <a:sym typeface="Helvetica Neue Light"/>
              </a:rPr>
              <a:t> y </a:t>
            </a:r>
            <a:r>
              <a:rPr lang="en-GB" sz="1800" b="0" i="1" u="none" strike="noStrike" cap="none">
                <a:solidFill>
                  <a:schemeClr val="dk1"/>
                </a:solidFill>
                <a:highlight>
                  <a:srgbClr val="E0FF00"/>
                </a:highlight>
                <a:latin typeface="Helvetica Neue Light"/>
                <a:ea typeface="Helvetica Neue Light"/>
                <a:cs typeface="Helvetica Neue Light"/>
                <a:sym typeface="Helvetica Neue Light"/>
              </a:rPr>
              <a:t>align-items</a:t>
            </a:r>
            <a:r>
              <a:rPr lang="en-GB" sz="1800" b="0" i="0" u="none" strike="noStrike" cap="none">
                <a:solidFill>
                  <a:schemeClr val="dk1"/>
                </a:solidFill>
                <a:latin typeface="Helvetica Neue Light"/>
                <a:ea typeface="Helvetica Neue Light"/>
                <a:cs typeface="Helvetica Neue Light"/>
                <a:sym typeface="Helvetica Neue Light"/>
              </a:rPr>
              <a:t>, que ya conocemos del módulo CSS Flexbox: </a:t>
            </a:r>
            <a:endParaRPr sz="1800" b="0" i="0" u="none" strike="noStrike" cap="none">
              <a:solidFill>
                <a:schemeClr val="dk1"/>
              </a:solidFill>
              <a:latin typeface="Helvetica Neue Light"/>
              <a:ea typeface="Helvetica Neue Light"/>
              <a:cs typeface="Helvetica Neue Light"/>
              <a:sym typeface="Helvetica Neue Light"/>
            </a:endParaRPr>
          </a:p>
        </p:txBody>
      </p:sp>
      <p:graphicFrame>
        <p:nvGraphicFramePr>
          <p:cNvPr id="499" name="Google Shape;499;p69"/>
          <p:cNvGraphicFramePr/>
          <p:nvPr/>
        </p:nvGraphicFramePr>
        <p:xfrm>
          <a:off x="927900" y="2951950"/>
          <a:ext cx="3000000" cy="3000000"/>
        </p:xfrm>
        <a:graphic>
          <a:graphicData uri="http://schemas.openxmlformats.org/drawingml/2006/table">
            <a:tbl>
              <a:tblPr>
                <a:noFill/>
                <a:tableStyleId>{DCF4F18A-EF1C-43F8-B6D9-6A3DD1FAA965}</a:tableStyleId>
              </a:tblPr>
              <a:tblGrid>
                <a:gridCol w="1188425"/>
                <a:gridCol w="2546625"/>
                <a:gridCol w="3553150"/>
              </a:tblGrid>
              <a:tr h="304800">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Propiedad</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Valores</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Descripción</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r>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justify-items</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start | end | center | stretch</a:t>
                      </a:r>
                      <a:endParaRPr sz="16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Distribuye los elementos en el eje </a:t>
                      </a:r>
                      <a:r>
                        <a:rPr lang="en-GB" sz="1600" u="none" strike="noStrike" cap="none">
                          <a:highlight>
                            <a:srgbClr val="E0FF00"/>
                          </a:highlight>
                          <a:latin typeface="Helvetica Neue Light"/>
                          <a:ea typeface="Helvetica Neue Light"/>
                          <a:cs typeface="Helvetica Neue Light"/>
                          <a:sym typeface="Helvetica Neue Light"/>
                        </a:rPr>
                        <a:t>horizontal</a:t>
                      </a:r>
                      <a:r>
                        <a:rPr lang="en-GB" sz="1600" u="none" strike="noStrike" cap="none">
                          <a:latin typeface="Helvetica Neue Light"/>
                          <a:ea typeface="Helvetica Neue Light"/>
                          <a:cs typeface="Helvetica Neue Light"/>
                          <a:sym typeface="Helvetica Neue Light"/>
                        </a:rPr>
                        <a:t>.</a:t>
                      </a:r>
                      <a:endParaRPr sz="16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align-items</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start | end | center | stretch</a:t>
                      </a:r>
                      <a:endParaRPr sz="16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Distribuye los elementos en el eje </a:t>
                      </a:r>
                      <a:r>
                        <a:rPr lang="en-GB" sz="1600" u="none" strike="noStrike" cap="none">
                          <a:highlight>
                            <a:srgbClr val="E0FF00"/>
                          </a:highlight>
                          <a:latin typeface="Helvetica Neue Light"/>
                          <a:ea typeface="Helvetica Neue Light"/>
                          <a:cs typeface="Helvetica Neue Light"/>
                          <a:sym typeface="Helvetica Neue Light"/>
                        </a:rPr>
                        <a:t>vertical</a:t>
                      </a:r>
                      <a:r>
                        <a:rPr lang="en-GB" sz="1600" u="none" strike="noStrike" cap="none">
                          <a:latin typeface="Helvetica Neue Light"/>
                          <a:ea typeface="Helvetica Neue Light"/>
                          <a:cs typeface="Helvetica Neue Light"/>
                          <a:sym typeface="Helvetica Neue Light"/>
                        </a:rPr>
                        <a:t>.</a:t>
                      </a:r>
                      <a:endParaRPr sz="1600" u="none" strike="noStrike" cap="none">
                        <a:latin typeface="Helvetica Neue Light"/>
                        <a:ea typeface="Helvetica Neue Light"/>
                        <a:cs typeface="Helvetica Neue Light"/>
                        <a:sym typeface="Helvetica Neue Light"/>
                      </a:endParaRPr>
                    </a:p>
                  </a:txBody>
                  <a:tcPr marL="63500" marR="63500" marT="63500" marB="6350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pic>
        <p:nvPicPr>
          <p:cNvPr id="504" name="Google Shape;504;p7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05" name="Google Shape;505;p70"/>
          <p:cNvSpPr txBox="1"/>
          <p:nvPr/>
        </p:nvSpPr>
        <p:spPr>
          <a:xfrm>
            <a:off x="643800" y="2351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Y ALIGN-ITEMS</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06" name="Google Shape;506;p70"/>
          <p:cNvSpPr txBox="1"/>
          <p:nvPr/>
        </p:nvSpPr>
        <p:spPr>
          <a:xfrm>
            <a:off x="557850" y="1547925"/>
            <a:ext cx="8028300" cy="4413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500"/>
              <a:buFont typeface="Arial"/>
              <a:buNone/>
            </a:pPr>
            <a:r>
              <a:rPr lang="en-GB" sz="1500" b="0" i="0" u="none" strike="noStrike" cap="none">
                <a:solidFill>
                  <a:srgbClr val="000000"/>
                </a:solidFill>
                <a:latin typeface="Helvetica Neue Light"/>
                <a:ea typeface="Helvetica Neue Light"/>
                <a:cs typeface="Helvetica Neue Light"/>
                <a:sym typeface="Helvetica Neue Light"/>
              </a:rPr>
              <a:t>La grilla está, pero las celdas “se achican”, se ajusta. Estas propiedades trabajan sobre la celda:</a:t>
            </a:r>
            <a:endParaRPr sz="1500" b="0" i="0" u="none" strike="noStrike" cap="none">
              <a:solidFill>
                <a:srgbClr val="000000"/>
              </a:solidFill>
              <a:latin typeface="Helvetica Neue Light"/>
              <a:ea typeface="Helvetica Neue Light"/>
              <a:cs typeface="Helvetica Neue Light"/>
              <a:sym typeface="Helvetica Neue Light"/>
            </a:endParaRPr>
          </a:p>
        </p:txBody>
      </p:sp>
      <p:pic>
        <p:nvPicPr>
          <p:cNvPr id="507" name="Google Shape;507;p70"/>
          <p:cNvPicPr preferRelativeResize="0"/>
          <p:nvPr/>
        </p:nvPicPr>
        <p:blipFill rotWithShape="1">
          <a:blip r:embed="rId4">
            <a:alphaModFix/>
          </a:blip>
          <a:srcRect/>
          <a:stretch/>
        </p:blipFill>
        <p:spPr>
          <a:xfrm>
            <a:off x="2097650" y="2157050"/>
            <a:ext cx="5020951" cy="23330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7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13" name="Google Shape;513;p71"/>
          <p:cNvSpPr txBox="1"/>
          <p:nvPr/>
        </p:nvSpPr>
        <p:spPr>
          <a:xfrm>
            <a:off x="643800" y="2595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Y ALIGN-ITEMS</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14" name="Google Shape;514;p71"/>
          <p:cNvSpPr txBox="1"/>
          <p:nvPr/>
        </p:nvSpPr>
        <p:spPr>
          <a:xfrm>
            <a:off x="2436125" y="1829825"/>
            <a:ext cx="3930600" cy="21594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class</a:t>
            </a:r>
            <a:r>
              <a:rPr lang="en-GB" sz="1400" b="0" i="0" u="none" strike="noStrike" cap="none">
                <a:solidFill>
                  <a:schemeClr val="dk1"/>
                </a:solidFill>
                <a:latin typeface="Consolas"/>
                <a:ea typeface="Consolas"/>
                <a:cs typeface="Consolas"/>
                <a:sym typeface="Consolas"/>
              </a:rPr>
              <a:t>=</a:t>
            </a:r>
            <a:r>
              <a:rPr lang="en-GB" sz="1400" b="0" i="0" u="none" strike="noStrike" cap="none">
                <a:solidFill>
                  <a:srgbClr val="0000FF"/>
                </a:solidFill>
                <a:latin typeface="Consolas"/>
                <a:ea typeface="Consolas"/>
                <a:cs typeface="Consolas"/>
                <a:sym typeface="Consolas"/>
              </a:rPr>
              <a:t>"grid"</a:t>
            </a:r>
            <a:r>
              <a:rPr lang="en-GB" sz="1400" b="0" i="0" u="none" strike="noStrike" cap="none">
                <a:solidFill>
                  <a:srgbClr val="800000"/>
                </a:solidFill>
                <a:latin typeface="Consolas"/>
                <a:ea typeface="Consolas"/>
                <a:cs typeface="Consolas"/>
                <a:sym typeface="Consolas"/>
              </a:rPr>
              <a:t>&gt;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1</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2</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3</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800000"/>
                </a:solidFill>
                <a:latin typeface="Consolas"/>
                <a:ea typeface="Consolas"/>
                <a:cs typeface="Consolas"/>
                <a:sym typeface="Consolas"/>
              </a:rPr>
              <a:t>&lt;div&gt;</a:t>
            </a:r>
            <a:r>
              <a:rPr lang="en-GB" sz="1400" b="0" i="0" u="none" strike="noStrike" cap="none">
                <a:solidFill>
                  <a:schemeClr val="dk1"/>
                </a:solidFill>
                <a:latin typeface="Consolas"/>
                <a:ea typeface="Consolas"/>
                <a:cs typeface="Consolas"/>
                <a:sym typeface="Consolas"/>
              </a:rPr>
              <a:t>Item 4</a:t>
            </a:r>
            <a:r>
              <a:rPr lang="en-GB" sz="1400" b="0" i="0" u="none" strike="noStrike" cap="none">
                <a:solidFill>
                  <a:srgbClr val="800000"/>
                </a:solidFill>
                <a:latin typeface="Consolas"/>
                <a:ea typeface="Consolas"/>
                <a:cs typeface="Consolas"/>
                <a:sym typeface="Consolas"/>
              </a:rPr>
              <a:t>&lt;/div&gt;</a:t>
            </a:r>
            <a:endParaRPr sz="14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&lt;/section&gt;</a:t>
            </a:r>
            <a:endParaRPr sz="1400" b="0" i="0" u="none" strike="noStrike" cap="none">
              <a:solidFill>
                <a:srgbClr val="800000"/>
              </a:solidFill>
              <a:latin typeface="Consolas"/>
              <a:ea typeface="Consolas"/>
              <a:cs typeface="Consolas"/>
              <a:sym typeface="Consolas"/>
            </a:endParaRPr>
          </a:p>
          <a:p>
            <a:pPr marL="0" marR="0" lvl="0" indent="0" algn="just" rtl="0">
              <a:lnSpc>
                <a:spcPct val="135714"/>
              </a:lnSpc>
              <a:spcBef>
                <a:spcPts val="0"/>
              </a:spcBef>
              <a:spcAft>
                <a:spcPts val="0"/>
              </a:spcAft>
              <a:buClr>
                <a:srgbClr val="000000"/>
              </a:buClr>
              <a:buSzPts val="1400"/>
              <a:buFont typeface="Arial"/>
              <a:buNone/>
            </a:pPr>
            <a:endParaRPr sz="1400" b="0" i="0" u="none" strike="noStrike" cap="none">
              <a:solidFill>
                <a:srgbClr val="800000"/>
              </a:solidFill>
              <a:latin typeface="Consolas"/>
              <a:ea typeface="Consolas"/>
              <a:cs typeface="Consolas"/>
              <a:sym typeface="Consolas"/>
            </a:endParaRPr>
          </a:p>
        </p:txBody>
      </p:sp>
      <p:sp>
        <p:nvSpPr>
          <p:cNvPr id="515" name="Google Shape;515;p71"/>
          <p:cNvSpPr txBox="1"/>
          <p:nvPr/>
        </p:nvSpPr>
        <p:spPr>
          <a:xfrm>
            <a:off x="3599250" y="1378200"/>
            <a:ext cx="1945500" cy="330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a:ea typeface="Helvetica Neue"/>
                <a:cs typeface="Helvetica Neue"/>
                <a:sym typeface="Helvetica Neue"/>
              </a:rPr>
              <a:t>HTML  a usar:</a:t>
            </a:r>
            <a:endParaRPr sz="18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7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21" name="Google Shape;521;p72"/>
          <p:cNvSpPr txBox="1"/>
          <p:nvPr/>
        </p:nvSpPr>
        <p:spPr>
          <a:xfrm>
            <a:off x="643801" y="5222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Y ALIGN-ITEMS</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0"/>
              </a:spcAft>
              <a:buClr>
                <a:schemeClr val="dk1"/>
              </a:buClr>
              <a:buSzPts val="1100"/>
              <a:buFont typeface="Arial"/>
              <a:buNone/>
            </a:pP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22" name="Google Shape;522;p72"/>
          <p:cNvSpPr txBox="1"/>
          <p:nvPr/>
        </p:nvSpPr>
        <p:spPr>
          <a:xfrm>
            <a:off x="726050" y="1434025"/>
            <a:ext cx="3899100" cy="36480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#padre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justify-items: </a:t>
            </a:r>
            <a:r>
              <a:rPr lang="en-GB" sz="1200" b="0" i="0" u="none" strike="noStrike" cap="none">
                <a:solidFill>
                  <a:srgbClr val="800000"/>
                </a:solidFill>
                <a:latin typeface="Consolas"/>
                <a:ea typeface="Consolas"/>
                <a:cs typeface="Consolas"/>
                <a:sym typeface="Consolas"/>
              </a:rPr>
              <a:t>stretch; /* start | end | center | stretch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align-items: </a:t>
            </a:r>
            <a:r>
              <a:rPr lang="en-GB" sz="1200" b="0" i="0" u="none" strike="noStrike" cap="none">
                <a:solidFill>
                  <a:srgbClr val="800000"/>
                </a:solidFill>
                <a:latin typeface="Consolas"/>
                <a:ea typeface="Consolas"/>
                <a:cs typeface="Consolas"/>
                <a:sym typeface="Consolas"/>
              </a:rPr>
              <a:t>stretch; /* start | end | center | stretch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display:</a:t>
            </a:r>
            <a:r>
              <a:rPr lang="en-GB" sz="1200" b="0" i="0" u="none" strike="noStrike" cap="none">
                <a:solidFill>
                  <a:srgbClr val="800000"/>
                </a:solidFill>
                <a:latin typeface="Consolas"/>
                <a:ea typeface="Consolas"/>
                <a:cs typeface="Consolas"/>
                <a:sym typeface="Consolas"/>
              </a:rPr>
              <a:t> grid;</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width</a:t>
            </a:r>
            <a:r>
              <a:rPr lang="en-GB" sz="1200" b="0" i="0" u="none" strike="noStrike" cap="none">
                <a:solidFill>
                  <a:srgbClr val="800000"/>
                </a:solidFill>
                <a:latin typeface="Consolas"/>
                <a:ea typeface="Consolas"/>
                <a:cs typeface="Consolas"/>
                <a:sym typeface="Consolas"/>
              </a:rPr>
              <a:t>: 95%;</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grid-template-columns</a:t>
            </a:r>
            <a:r>
              <a:rPr lang="en-GB" sz="1200" b="0" i="0" u="none" strike="noStrike" cap="none">
                <a:solidFill>
                  <a:srgbClr val="800000"/>
                </a:solidFill>
                <a:latin typeface="Consolas"/>
                <a:ea typeface="Consolas"/>
                <a:cs typeface="Consolas"/>
                <a:sym typeface="Consolas"/>
              </a:rPr>
              <a:t>: auto auto;</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grid-column-gap</a:t>
            </a:r>
            <a:r>
              <a:rPr lang="en-GB" sz="1200" b="0" i="0" u="none" strike="noStrike" cap="none">
                <a:solidFill>
                  <a:srgbClr val="800000"/>
                </a:solidFill>
                <a:latin typeface="Consolas"/>
                <a:ea typeface="Consolas"/>
                <a:cs typeface="Consolas"/>
                <a:sym typeface="Consolas"/>
              </a:rPr>
              <a:t>: 10px;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grid-template-rows</a:t>
            </a:r>
            <a:r>
              <a:rPr lang="en-GB" sz="1200" b="0" i="0" u="none" strike="noStrike" cap="none">
                <a:solidFill>
                  <a:srgbClr val="800000"/>
                </a:solidFill>
                <a:latin typeface="Consolas"/>
                <a:ea typeface="Consolas"/>
                <a:cs typeface="Consolas"/>
                <a:sym typeface="Consolas"/>
              </a:rPr>
              <a:t>: 100px 100px;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grid-row-gap</a:t>
            </a:r>
            <a:r>
              <a:rPr lang="en-GB" sz="1200" b="0" i="0" u="none" strike="noStrike" cap="none">
                <a:solidFill>
                  <a:srgbClr val="800000"/>
                </a:solidFill>
                <a:latin typeface="Consolas"/>
                <a:ea typeface="Consolas"/>
                <a:cs typeface="Consolas"/>
                <a:sym typeface="Consolas"/>
              </a:rPr>
              <a:t>: 10px;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just" rtl="0">
              <a:lnSpc>
                <a:spcPct val="125000"/>
              </a:lnSpc>
              <a:spcBef>
                <a:spcPts val="0"/>
              </a:spcBef>
              <a:spcAft>
                <a:spcPts val="0"/>
              </a:spcAft>
              <a:buClr>
                <a:srgbClr val="000000"/>
              </a:buClr>
              <a:buSzPts val="1200"/>
              <a:buFont typeface="Arial"/>
              <a:buNone/>
            </a:pPr>
            <a:endParaRPr sz="1200" b="0" i="0" u="none" strike="noStrike" cap="none">
              <a:solidFill>
                <a:srgbClr val="800000"/>
              </a:solidFill>
              <a:latin typeface="Consolas"/>
              <a:ea typeface="Consolas"/>
              <a:cs typeface="Consolas"/>
              <a:sym typeface="Consolas"/>
            </a:endParaRPr>
          </a:p>
        </p:txBody>
      </p:sp>
      <p:sp>
        <p:nvSpPr>
          <p:cNvPr id="523" name="Google Shape;523;p72"/>
          <p:cNvSpPr txBox="1"/>
          <p:nvPr/>
        </p:nvSpPr>
        <p:spPr>
          <a:xfrm>
            <a:off x="4764850" y="1434025"/>
            <a:ext cx="3899100" cy="3225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#padre div {</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border</a:t>
            </a:r>
            <a:r>
              <a:rPr lang="en-GB" sz="1200" b="0" i="0" u="none" strike="noStrike" cap="none">
                <a:solidFill>
                  <a:srgbClr val="800000"/>
                </a:solidFill>
                <a:latin typeface="Consolas"/>
                <a:ea typeface="Consolas"/>
                <a:cs typeface="Consolas"/>
                <a:sym typeface="Consolas"/>
              </a:rPr>
              <a:t>: solid 1px;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font-size</a:t>
            </a:r>
            <a:r>
              <a:rPr lang="en-GB" sz="1200" b="0" i="0" u="none" strike="noStrike" cap="none">
                <a:solidFill>
                  <a:srgbClr val="800000"/>
                </a:solidFill>
                <a:latin typeface="Consolas"/>
                <a:ea typeface="Consolas"/>
                <a:cs typeface="Consolas"/>
                <a:sym typeface="Consolas"/>
              </a:rPr>
              <a:t>: 21px;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padding</a:t>
            </a:r>
            <a:r>
              <a:rPr lang="en-GB" sz="1200" b="0" i="0" u="none" strike="noStrike" cap="none">
                <a:solidFill>
                  <a:srgbClr val="800000"/>
                </a:solidFill>
                <a:latin typeface="Consolas"/>
                <a:ea typeface="Consolas"/>
                <a:cs typeface="Consolas"/>
                <a:sym typeface="Consolas"/>
              </a:rPr>
              <a:t>: 5px;</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  </a:t>
            </a:r>
            <a:r>
              <a:rPr lang="en-GB" sz="1200" b="0" i="0" u="none" strike="noStrike" cap="none">
                <a:solidFill>
                  <a:srgbClr val="FF0000"/>
                </a:solidFill>
                <a:latin typeface="Consolas"/>
                <a:ea typeface="Consolas"/>
                <a:cs typeface="Consolas"/>
                <a:sym typeface="Consolas"/>
              </a:rPr>
              <a:t>background-color</a:t>
            </a:r>
            <a:r>
              <a:rPr lang="en-GB" sz="1200" b="0" i="0" u="none" strike="noStrike" cap="none">
                <a:solidFill>
                  <a:srgbClr val="800000"/>
                </a:solidFill>
                <a:latin typeface="Consolas"/>
                <a:ea typeface="Consolas"/>
                <a:cs typeface="Consolas"/>
                <a:sym typeface="Consolas"/>
              </a:rPr>
              <a:t>: yellow;</a:t>
            </a:r>
            <a:endParaRPr sz="1200" b="0" i="0" u="none" strike="noStrike" cap="none">
              <a:solidFill>
                <a:srgbClr val="800000"/>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200" b="0" i="0" u="none" strike="noStrike" cap="none">
                <a:solidFill>
                  <a:srgbClr val="800000"/>
                </a:solidFill>
                <a:latin typeface="Consolas"/>
                <a:ea typeface="Consolas"/>
                <a:cs typeface="Consolas"/>
                <a:sym typeface="Consolas"/>
              </a:rPr>
              <a:t>}</a:t>
            </a:r>
            <a:endParaRPr sz="1200" b="0" i="0" u="none" strike="noStrike" cap="none">
              <a:solidFill>
                <a:srgbClr val="800000"/>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rgbClr val="800000"/>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100"/>
              <a:buFont typeface="Arial"/>
              <a:buNone/>
            </a:pPr>
            <a:endParaRPr sz="1100" b="0" i="0" u="none" strike="noStrike" cap="none">
              <a:solidFill>
                <a:srgbClr val="800000"/>
              </a:solidFill>
              <a:latin typeface="Consolas"/>
              <a:ea typeface="Consolas"/>
              <a:cs typeface="Consolas"/>
              <a:sym typeface="Consolas"/>
            </a:endParaRPr>
          </a:p>
        </p:txBody>
      </p:sp>
      <p:sp>
        <p:nvSpPr>
          <p:cNvPr id="524" name="Google Shape;524;p72"/>
          <p:cNvSpPr txBox="1"/>
          <p:nvPr/>
        </p:nvSpPr>
        <p:spPr>
          <a:xfrm>
            <a:off x="3787500" y="1001525"/>
            <a:ext cx="1569000" cy="33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Didact Gothic"/>
                <a:ea typeface="Didact Gothic"/>
                <a:cs typeface="Didact Gothic"/>
                <a:sym typeface="Didact Gothic"/>
              </a:rPr>
              <a:t>CSS a usar:</a:t>
            </a:r>
            <a:endParaRPr sz="1800" b="0" i="0" u="none" strike="noStrike" cap="none">
              <a:solidFill>
                <a:srgbClr val="000000"/>
              </a:solidFill>
              <a:latin typeface="Didact Gothic"/>
              <a:ea typeface="Didact Gothic"/>
              <a:cs typeface="Didact Gothic"/>
              <a:sym typeface="Didact Gothic"/>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528"/>
        <p:cNvGrpSpPr/>
        <p:nvPr/>
      </p:nvGrpSpPr>
      <p:grpSpPr>
        <a:xfrm>
          <a:off x="0" y="0"/>
          <a:ext cx="0" cy="0"/>
          <a:chOff x="0" y="0"/>
          <a:chExt cx="0" cy="0"/>
        </a:xfrm>
      </p:grpSpPr>
      <p:pic>
        <p:nvPicPr>
          <p:cNvPr id="529" name="Google Shape;529;p73"/>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530" name="Google Shape;530;p73"/>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531" name="Google Shape;531;p73"/>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5"/>
        <p:cNvGrpSpPr/>
        <p:nvPr/>
      </p:nvGrpSpPr>
      <p:grpSpPr>
        <a:xfrm>
          <a:off x="0" y="0"/>
          <a:ext cx="0" cy="0"/>
          <a:chOff x="0" y="0"/>
          <a:chExt cx="0" cy="0"/>
        </a:xfrm>
      </p:grpSpPr>
      <p:sp>
        <p:nvSpPr>
          <p:cNvPr id="536" name="Google Shape;536;p74"/>
          <p:cNvSpPr txBox="1"/>
          <p:nvPr/>
        </p:nvSpPr>
        <p:spPr>
          <a:xfrm>
            <a:off x="1112550" y="1673575"/>
            <a:ext cx="6918900" cy="112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5500" i="1">
                <a:solidFill>
                  <a:srgbClr val="E0FF00"/>
                </a:solidFill>
                <a:latin typeface="Anton"/>
                <a:ea typeface="Anton"/>
                <a:cs typeface="Anton"/>
                <a:sym typeface="Anton"/>
              </a:rPr>
              <a:t>BREAK</a:t>
            </a: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r>
            <a:br>
              <a:rPr lang="en-GB" sz="3600" i="1">
                <a:solidFill>
                  <a:srgbClr val="E0FF00"/>
                </a:solidFill>
                <a:latin typeface="Anton"/>
                <a:ea typeface="Anton"/>
                <a:cs typeface="Anton"/>
                <a:sym typeface="Anton"/>
              </a:rPr>
            </a:br>
            <a:r>
              <a:rPr lang="en-GB" sz="3600" i="1">
                <a:solidFill>
                  <a:srgbClr val="E0FF00"/>
                </a:solidFill>
                <a:latin typeface="Anton"/>
                <a:ea typeface="Anton"/>
                <a:cs typeface="Anton"/>
                <a:sym typeface="Anton"/>
              </a:rPr>
              <a:t> </a:t>
            </a:r>
            <a:br>
              <a:rPr lang="en-GB" sz="3600" i="1">
                <a:solidFill>
                  <a:srgbClr val="E0FF00"/>
                </a:solidFill>
                <a:latin typeface="Anton"/>
                <a:ea typeface="Anton"/>
                <a:cs typeface="Anton"/>
                <a:sym typeface="Anton"/>
              </a:rPr>
            </a:br>
            <a:endParaRPr sz="3600" i="1">
              <a:solidFill>
                <a:srgbClr val="E0FF00"/>
              </a:solidFill>
              <a:latin typeface="Anton"/>
              <a:ea typeface="Anton"/>
              <a:cs typeface="Anton"/>
              <a:sym typeface="Anton"/>
            </a:endParaRPr>
          </a:p>
        </p:txBody>
      </p:sp>
      <p:pic>
        <p:nvPicPr>
          <p:cNvPr id="537" name="Google Shape;537;p74"/>
          <p:cNvPicPr preferRelativeResize="0"/>
          <p:nvPr/>
        </p:nvPicPr>
        <p:blipFill>
          <a:blip r:embed="rId4">
            <a:alphaModFix/>
          </a:blip>
          <a:stretch>
            <a:fillRect/>
          </a:stretch>
        </p:blipFill>
        <p:spPr>
          <a:xfrm>
            <a:off x="4079475" y="2541425"/>
            <a:ext cx="1129200" cy="1129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7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43" name="Google Shape;543;p75"/>
          <p:cNvSpPr txBox="1"/>
          <p:nvPr/>
        </p:nvSpPr>
        <p:spPr>
          <a:xfrm>
            <a:off x="643800" y="2189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CENTER</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44" name="Google Shape;544;p75"/>
          <p:cNvSpPr txBox="1"/>
          <p:nvPr/>
        </p:nvSpPr>
        <p:spPr>
          <a:xfrm>
            <a:off x="2443925" y="1394625"/>
            <a:ext cx="5018100" cy="1431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08000"/>
                </a:solidFill>
                <a:latin typeface="Consolas"/>
                <a:ea typeface="Consolas"/>
                <a:cs typeface="Consolas"/>
                <a:sym typeface="Consolas"/>
              </a:rPr>
              <a:t>/* predeterminado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45" name="Google Shape;545;p75"/>
          <p:cNvPicPr preferRelativeResize="0"/>
          <p:nvPr/>
        </p:nvPicPr>
        <p:blipFill rotWithShape="1">
          <a:blip r:embed="rId4">
            <a:alphaModFix/>
          </a:blip>
          <a:srcRect/>
          <a:stretch/>
        </p:blipFill>
        <p:spPr>
          <a:xfrm>
            <a:off x="2443925" y="2971009"/>
            <a:ext cx="5018101" cy="1867690"/>
          </a:xfrm>
          <a:prstGeom prst="rect">
            <a:avLst/>
          </a:prstGeom>
          <a:noFill/>
          <a:ln>
            <a:noFill/>
          </a:ln>
        </p:spPr>
      </p:pic>
      <p:sp>
        <p:nvSpPr>
          <p:cNvPr id="546" name="Google Shape;546;p75"/>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pic>
        <p:nvPicPr>
          <p:cNvPr id="551" name="Google Shape;551;p7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52" name="Google Shape;552;p76"/>
          <p:cNvSpPr txBox="1"/>
          <p:nvPr/>
        </p:nvSpPr>
        <p:spPr>
          <a:xfrm>
            <a:off x="643800" y="1459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START</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pic>
        <p:nvPicPr>
          <p:cNvPr id="553" name="Google Shape;553;p76"/>
          <p:cNvPicPr preferRelativeResize="0"/>
          <p:nvPr/>
        </p:nvPicPr>
        <p:blipFill rotWithShape="1">
          <a:blip r:embed="rId4">
            <a:alphaModFix/>
          </a:blip>
          <a:srcRect/>
          <a:stretch/>
        </p:blipFill>
        <p:spPr>
          <a:xfrm>
            <a:off x="2386965" y="3040175"/>
            <a:ext cx="5018126" cy="1893250"/>
          </a:xfrm>
          <a:prstGeom prst="rect">
            <a:avLst/>
          </a:prstGeom>
          <a:noFill/>
          <a:ln>
            <a:noFill/>
          </a:ln>
        </p:spPr>
      </p:pic>
      <p:sp>
        <p:nvSpPr>
          <p:cNvPr id="554" name="Google Shape;554;p76"/>
          <p:cNvSpPr txBox="1"/>
          <p:nvPr/>
        </p:nvSpPr>
        <p:spPr>
          <a:xfrm>
            <a:off x="2386953" y="1699425"/>
            <a:ext cx="5018100" cy="11292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chemeClr val="dk1"/>
              </a:buClr>
              <a:buSzPts val="11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sp>
        <p:nvSpPr>
          <p:cNvPr id="555" name="Google Shape;555;p76"/>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560" name="Google Shape;560;p7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61" name="Google Shape;561;p77"/>
          <p:cNvSpPr txBox="1"/>
          <p:nvPr/>
        </p:nvSpPr>
        <p:spPr>
          <a:xfrm>
            <a:off x="643800" y="2513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END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62" name="Google Shape;562;p77"/>
          <p:cNvSpPr txBox="1"/>
          <p:nvPr/>
        </p:nvSpPr>
        <p:spPr>
          <a:xfrm>
            <a:off x="2443925" y="16994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63" name="Google Shape;563;p77"/>
          <p:cNvPicPr preferRelativeResize="0"/>
          <p:nvPr/>
        </p:nvPicPr>
        <p:blipFill rotWithShape="1">
          <a:blip r:embed="rId4">
            <a:alphaModFix/>
          </a:blip>
          <a:srcRect/>
          <a:stretch/>
        </p:blipFill>
        <p:spPr>
          <a:xfrm>
            <a:off x="2443925" y="3110730"/>
            <a:ext cx="5018100" cy="1822894"/>
          </a:xfrm>
          <a:prstGeom prst="rect">
            <a:avLst/>
          </a:prstGeom>
          <a:noFill/>
          <a:ln>
            <a:noFill/>
          </a:ln>
        </p:spPr>
      </p:pic>
      <p:sp>
        <p:nvSpPr>
          <p:cNvPr id="564" name="Google Shape;564;p77"/>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pic>
        <p:nvPicPr>
          <p:cNvPr id="569" name="Google Shape;569;p78"/>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70" name="Google Shape;570;p78"/>
          <p:cNvSpPr txBox="1"/>
          <p:nvPr/>
        </p:nvSpPr>
        <p:spPr>
          <a:xfrm>
            <a:off x="643800" y="2351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JUSTIFY-ITEMS: CENTER</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71" name="Google Shape;571;p78"/>
          <p:cNvSpPr txBox="1"/>
          <p:nvPr/>
        </p:nvSpPr>
        <p:spPr>
          <a:xfrm>
            <a:off x="2443925" y="17756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72" name="Google Shape;572;p78"/>
          <p:cNvPicPr preferRelativeResize="0"/>
          <p:nvPr/>
        </p:nvPicPr>
        <p:blipFill rotWithShape="1">
          <a:blip r:embed="rId4">
            <a:alphaModFix/>
          </a:blip>
          <a:srcRect/>
          <a:stretch/>
        </p:blipFill>
        <p:spPr>
          <a:xfrm>
            <a:off x="2443925" y="3092000"/>
            <a:ext cx="5018100" cy="1822900"/>
          </a:xfrm>
          <a:prstGeom prst="rect">
            <a:avLst/>
          </a:prstGeom>
          <a:noFill/>
          <a:ln>
            <a:noFill/>
          </a:ln>
        </p:spPr>
      </p:pic>
      <p:sp>
        <p:nvSpPr>
          <p:cNvPr id="573" name="Google Shape;573;p78"/>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7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79" name="Google Shape;579;p79"/>
          <p:cNvSpPr txBox="1"/>
          <p:nvPr/>
        </p:nvSpPr>
        <p:spPr>
          <a:xfrm>
            <a:off x="643800" y="1864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ALIGN-ITEMS: STRETCH</a:t>
            </a:r>
            <a:endParaRPr sz="3800" b="0" i="1" u="none" strike="noStrike" cap="none">
              <a:solidFill>
                <a:schemeClr val="dk1"/>
              </a:solidFill>
              <a:latin typeface="Anton"/>
              <a:ea typeface="Anton"/>
              <a:cs typeface="Anton"/>
              <a:sym typeface="Anton"/>
            </a:endParaRPr>
          </a:p>
        </p:txBody>
      </p:sp>
      <p:sp>
        <p:nvSpPr>
          <p:cNvPr id="580" name="Google Shape;580;p79"/>
          <p:cNvSpPr txBox="1"/>
          <p:nvPr/>
        </p:nvSpPr>
        <p:spPr>
          <a:xfrm>
            <a:off x="2443925" y="1470825"/>
            <a:ext cx="5018100" cy="1431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br>
              <a:rPr lang="en-GB" sz="1400" b="0" i="0" u="none" strike="noStrike" cap="none">
                <a:solidFill>
                  <a:schemeClr val="dk1"/>
                </a:solidFill>
                <a:latin typeface="Consolas"/>
                <a:ea typeface="Consolas"/>
                <a:cs typeface="Consolas"/>
                <a:sym typeface="Consolas"/>
              </a:rPr>
            </a:b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08000"/>
                </a:solidFill>
                <a:latin typeface="Consolas"/>
                <a:ea typeface="Consolas"/>
                <a:cs typeface="Consolas"/>
                <a:sym typeface="Consolas"/>
              </a:rPr>
              <a:t>/* predeterminado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81" name="Google Shape;581;p79"/>
          <p:cNvPicPr preferRelativeResize="0"/>
          <p:nvPr/>
        </p:nvPicPr>
        <p:blipFill rotWithShape="1">
          <a:blip r:embed="rId4">
            <a:alphaModFix/>
          </a:blip>
          <a:srcRect/>
          <a:stretch/>
        </p:blipFill>
        <p:spPr>
          <a:xfrm>
            <a:off x="2443925" y="3047209"/>
            <a:ext cx="5018101" cy="1867690"/>
          </a:xfrm>
          <a:prstGeom prst="rect">
            <a:avLst/>
          </a:prstGeom>
          <a:noFill/>
          <a:ln>
            <a:noFill/>
          </a:ln>
        </p:spPr>
      </p:pic>
      <p:sp>
        <p:nvSpPr>
          <p:cNvPr id="582" name="Google Shape;582;p79"/>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pic>
        <p:nvPicPr>
          <p:cNvPr id="587" name="Google Shape;587;p8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88" name="Google Shape;588;p80"/>
          <p:cNvSpPr txBox="1"/>
          <p:nvPr/>
        </p:nvSpPr>
        <p:spPr>
          <a:xfrm>
            <a:off x="643800" y="1621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ALIGN-ITEMS: START</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89" name="Google Shape;589;p80"/>
          <p:cNvSpPr txBox="1"/>
          <p:nvPr/>
        </p:nvSpPr>
        <p:spPr>
          <a:xfrm>
            <a:off x="2367725" y="17756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90" name="Google Shape;590;p80"/>
          <p:cNvPicPr preferRelativeResize="0"/>
          <p:nvPr/>
        </p:nvPicPr>
        <p:blipFill rotWithShape="1">
          <a:blip r:embed="rId4">
            <a:alphaModFix/>
          </a:blip>
          <a:srcRect/>
          <a:stretch/>
        </p:blipFill>
        <p:spPr>
          <a:xfrm>
            <a:off x="2367750" y="3008744"/>
            <a:ext cx="5018101" cy="1829406"/>
          </a:xfrm>
          <a:prstGeom prst="rect">
            <a:avLst/>
          </a:prstGeom>
          <a:noFill/>
          <a:ln>
            <a:noFill/>
          </a:ln>
        </p:spPr>
      </p:pic>
      <p:sp>
        <p:nvSpPr>
          <p:cNvPr id="591" name="Google Shape;591;p80"/>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pic>
        <p:nvPicPr>
          <p:cNvPr id="596" name="Google Shape;596;p8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597" name="Google Shape;597;p81"/>
          <p:cNvSpPr txBox="1"/>
          <p:nvPr/>
        </p:nvSpPr>
        <p:spPr>
          <a:xfrm>
            <a:off x="554550" y="2587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ALIGN-ITEMS: END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598" name="Google Shape;598;p81"/>
          <p:cNvSpPr txBox="1"/>
          <p:nvPr/>
        </p:nvSpPr>
        <p:spPr>
          <a:xfrm>
            <a:off x="2443925" y="17756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599" name="Google Shape;599;p81"/>
          <p:cNvPicPr preferRelativeResize="0"/>
          <p:nvPr/>
        </p:nvPicPr>
        <p:blipFill rotWithShape="1">
          <a:blip r:embed="rId4">
            <a:alphaModFix/>
          </a:blip>
          <a:srcRect/>
          <a:stretch/>
        </p:blipFill>
        <p:spPr>
          <a:xfrm>
            <a:off x="2443925" y="3120714"/>
            <a:ext cx="5018101" cy="1826636"/>
          </a:xfrm>
          <a:prstGeom prst="rect">
            <a:avLst/>
          </a:prstGeom>
          <a:noFill/>
          <a:ln>
            <a:noFill/>
          </a:ln>
        </p:spPr>
      </p:pic>
      <p:sp>
        <p:nvSpPr>
          <p:cNvPr id="600" name="Google Shape;600;p81"/>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8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06" name="Google Shape;606;p82"/>
          <p:cNvSpPr txBox="1"/>
          <p:nvPr/>
        </p:nvSpPr>
        <p:spPr>
          <a:xfrm>
            <a:off x="587000" y="3081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ALIGN-ITEMS: CENTER</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07" name="Google Shape;607;p82"/>
          <p:cNvSpPr txBox="1"/>
          <p:nvPr/>
        </p:nvSpPr>
        <p:spPr>
          <a:xfrm>
            <a:off x="2443925" y="1775625"/>
            <a:ext cx="5018100" cy="11196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align-items</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08" name="Google Shape;608;p82"/>
          <p:cNvPicPr preferRelativeResize="0"/>
          <p:nvPr/>
        </p:nvPicPr>
        <p:blipFill rotWithShape="1">
          <a:blip r:embed="rId4">
            <a:alphaModFix/>
          </a:blip>
          <a:srcRect/>
          <a:stretch/>
        </p:blipFill>
        <p:spPr>
          <a:xfrm>
            <a:off x="2443925" y="3119371"/>
            <a:ext cx="5018101" cy="1849854"/>
          </a:xfrm>
          <a:prstGeom prst="rect">
            <a:avLst/>
          </a:prstGeom>
          <a:noFill/>
          <a:ln>
            <a:noFill/>
          </a:ln>
        </p:spPr>
      </p:pic>
      <p:sp>
        <p:nvSpPr>
          <p:cNvPr id="609" name="Google Shape;609;p82"/>
          <p:cNvSpPr txBox="1"/>
          <p:nvPr/>
        </p:nvSpPr>
        <p:spPr>
          <a:xfrm>
            <a:off x="726050" y="1686800"/>
            <a:ext cx="1523700" cy="31518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el contenido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dentro </a:t>
            </a:r>
            <a:r>
              <a:rPr lang="en-GB" sz="1600" b="0" i="0" u="none" strike="noStrike" cap="none">
                <a:solidFill>
                  <a:srgbClr val="000000"/>
                </a:solidFill>
                <a:latin typeface="Helvetica Neue Light"/>
                <a:ea typeface="Helvetica Neue Light"/>
                <a:cs typeface="Helvetica Neue Light"/>
                <a:sym typeface="Helvetica Neue Light"/>
              </a:rPr>
              <a:t>de las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614" name="Google Shape;614;p8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15" name="Google Shape;615;p83"/>
          <p:cNvSpPr txBox="1"/>
          <p:nvPr/>
        </p:nvSpPr>
        <p:spPr>
          <a:xfrm>
            <a:off x="643800" y="2513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POSICIÓN DE ELEMENTOS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graphicFrame>
        <p:nvGraphicFramePr>
          <p:cNvPr id="616" name="Google Shape;616;p83"/>
          <p:cNvGraphicFramePr/>
          <p:nvPr/>
        </p:nvGraphicFramePr>
        <p:xfrm>
          <a:off x="722400" y="2591363"/>
          <a:ext cx="3000000" cy="3000000"/>
        </p:xfrm>
        <a:graphic>
          <a:graphicData uri="http://schemas.openxmlformats.org/drawingml/2006/table">
            <a:tbl>
              <a:tblPr>
                <a:noFill/>
                <a:tableStyleId>{DCF4F18A-EF1C-43F8-B6D9-6A3DD1FAA965}</a:tableStyleId>
              </a:tblPr>
              <a:tblGrid>
                <a:gridCol w="1572550"/>
                <a:gridCol w="4498625"/>
                <a:gridCol w="1628025"/>
              </a:tblGrid>
              <a:tr h="337125">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Propiedad</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Valores</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Afecta a</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r>
              <a:tr h="782850">
                <a:tc>
                  <a:txBody>
                    <a:bodyPr/>
                    <a:lstStyle/>
                    <a:p>
                      <a:pPr marL="0" marR="0" lvl="0" indent="0" algn="ctr" rtl="0">
                        <a:lnSpc>
                          <a:spcPct val="115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justify-content</a:t>
                      </a:r>
                      <a:r>
                        <a:rPr lang="en-GB" sz="1600" u="none" strike="noStrike" cap="none">
                          <a:latin typeface="Helvetica Neue Light"/>
                          <a:ea typeface="Helvetica Neue Light"/>
                          <a:cs typeface="Helvetica Neue Light"/>
                          <a:sym typeface="Helvetica Neue Light"/>
                        </a:rPr>
                        <a:t> </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start | end | center | stretch | space-around | space-between | space-evenly</a:t>
                      </a:r>
                      <a:endParaRPr sz="16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Eje </a:t>
                      </a:r>
                      <a:r>
                        <a:rPr lang="en-GB" sz="1600" u="none" strike="noStrike" cap="none">
                          <a:highlight>
                            <a:srgbClr val="E0FF00"/>
                          </a:highlight>
                          <a:latin typeface="Helvetica Neue Light"/>
                          <a:ea typeface="Helvetica Neue Light"/>
                          <a:cs typeface="Helvetica Neue Light"/>
                          <a:sym typeface="Helvetica Neue Light"/>
                        </a:rPr>
                        <a:t>horizontal</a:t>
                      </a:r>
                      <a:endParaRPr sz="1600" u="none" strike="noStrike" cap="none">
                        <a:highlight>
                          <a:srgbClr val="E0FF00"/>
                        </a:highlight>
                        <a:latin typeface="Helvetica Neue Light"/>
                        <a:ea typeface="Helvetica Neue Light"/>
                        <a:cs typeface="Helvetica Neue Light"/>
                        <a:sym typeface="Helvetica Neue Light"/>
                      </a:endParaRPr>
                    </a:p>
                  </a:txBody>
                  <a:tcPr marL="63500" marR="63500" marT="63500" marB="63500"/>
                </a:tc>
              </a:tr>
              <a:tr h="782850">
                <a:tc>
                  <a:txBody>
                    <a:bodyPr/>
                    <a:lstStyle/>
                    <a:p>
                      <a:pPr marL="0" marR="0" lvl="0" indent="0" algn="ctr" rtl="0">
                        <a:lnSpc>
                          <a:spcPct val="115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align-content</a:t>
                      </a:r>
                      <a:r>
                        <a:rPr lang="en-GB" sz="1600" u="none" strike="noStrike" cap="none">
                          <a:latin typeface="Helvetica Neue Light"/>
                          <a:ea typeface="Helvetica Neue Light"/>
                          <a:cs typeface="Helvetica Neue Light"/>
                          <a:sym typeface="Helvetica Neue Light"/>
                        </a:rPr>
                        <a:t> </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start | end | center | stretch | space-around | space-between | space-evenly</a:t>
                      </a:r>
                      <a:endParaRPr sz="16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Eje </a:t>
                      </a:r>
                      <a:r>
                        <a:rPr lang="en-GB" sz="1600" u="none" strike="noStrike" cap="none">
                          <a:highlight>
                            <a:srgbClr val="E0FF00"/>
                          </a:highlight>
                          <a:latin typeface="Helvetica Neue Light"/>
                          <a:ea typeface="Helvetica Neue Light"/>
                          <a:cs typeface="Helvetica Neue Light"/>
                          <a:sym typeface="Helvetica Neue Light"/>
                        </a:rPr>
                        <a:t>vertical</a:t>
                      </a:r>
                      <a:endParaRPr sz="1600" u="none" strike="noStrike" cap="none">
                        <a:highlight>
                          <a:srgbClr val="E0FF00"/>
                        </a:highlight>
                        <a:latin typeface="Helvetica Neue Light"/>
                        <a:ea typeface="Helvetica Neue Light"/>
                        <a:cs typeface="Helvetica Neue Light"/>
                        <a:sym typeface="Helvetica Neue Light"/>
                      </a:endParaRPr>
                    </a:p>
                  </a:txBody>
                  <a:tcPr marL="63500" marR="63500" marT="63500" marB="63500"/>
                </a:tc>
              </a:tr>
            </a:tbl>
          </a:graphicData>
        </a:graphic>
      </p:graphicFrame>
      <p:sp>
        <p:nvSpPr>
          <p:cNvPr id="617" name="Google Shape;617;p83"/>
          <p:cNvSpPr txBox="1"/>
          <p:nvPr/>
        </p:nvSpPr>
        <p:spPr>
          <a:xfrm>
            <a:off x="643800" y="1462938"/>
            <a:ext cx="7856400" cy="10005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Es posible utilizar las propiedades </a:t>
            </a:r>
            <a:r>
              <a:rPr lang="en-GB" sz="1800" b="0" i="1" u="none" strike="noStrike" cap="none">
                <a:solidFill>
                  <a:srgbClr val="000000"/>
                </a:solidFill>
                <a:latin typeface="Helvetica Neue Light"/>
                <a:ea typeface="Helvetica Neue Light"/>
                <a:cs typeface="Helvetica Neue Light"/>
                <a:sym typeface="Helvetica Neue Light"/>
              </a:rPr>
              <a:t>justify-content</a:t>
            </a:r>
            <a:r>
              <a:rPr lang="en-GB" sz="1800" b="0" i="0" u="none" strike="noStrike" cap="none">
                <a:solidFill>
                  <a:srgbClr val="000000"/>
                </a:solidFill>
                <a:latin typeface="Helvetica Neue Light"/>
                <a:ea typeface="Helvetica Neue Light"/>
                <a:cs typeface="Helvetica Neue Light"/>
                <a:sym typeface="Helvetica Neue Light"/>
              </a:rPr>
              <a:t> o </a:t>
            </a:r>
            <a:r>
              <a:rPr lang="en-GB" sz="1800" b="0" i="1" u="none" strike="noStrike" cap="none">
                <a:solidFill>
                  <a:srgbClr val="000000"/>
                </a:solidFill>
                <a:latin typeface="Helvetica Neue Light"/>
                <a:ea typeface="Helvetica Neue Light"/>
                <a:cs typeface="Helvetica Neue Light"/>
                <a:sym typeface="Helvetica Neue Light"/>
              </a:rPr>
              <a:t>align-content</a:t>
            </a:r>
            <a:r>
              <a:rPr lang="en-GB" sz="1800" b="0" i="0" u="none" strike="noStrike" cap="none">
                <a:solidFill>
                  <a:srgbClr val="000000"/>
                </a:solidFill>
                <a:latin typeface="Helvetica Neue Light"/>
                <a:ea typeface="Helvetica Neue Light"/>
                <a:cs typeface="Helvetica Neue Light"/>
                <a:sym typeface="Helvetica Neue Light"/>
              </a:rPr>
              <a:t> para cambiar la distribución de todo el contenido en su conjunto. Puedes hacer pruebas en </a:t>
            </a:r>
            <a:r>
              <a:rPr lang="en-GB" sz="1800" b="0" i="0" u="sng" strike="noStrike" cap="none">
                <a:solidFill>
                  <a:schemeClr val="hlink"/>
                </a:solidFill>
                <a:latin typeface="Helvetica Neue Light"/>
                <a:ea typeface="Helvetica Neue Light"/>
                <a:cs typeface="Helvetica Neue Light"/>
                <a:sym typeface="Helvetica Neue Light"/>
                <a:hlinkClick r:id="rId4"/>
              </a:rPr>
              <a:t>este enlace</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p8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23" name="Google Shape;623;p84"/>
          <p:cNvSpPr txBox="1"/>
          <p:nvPr/>
        </p:nvSpPr>
        <p:spPr>
          <a:xfrm>
            <a:off x="643800" y="1864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START</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24" name="Google Shape;624;p84"/>
          <p:cNvSpPr txBox="1"/>
          <p:nvPr/>
        </p:nvSpPr>
        <p:spPr>
          <a:xfrm>
            <a:off x="1796750" y="13671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25" name="Google Shape;625;p84"/>
          <p:cNvPicPr preferRelativeResize="0"/>
          <p:nvPr/>
        </p:nvPicPr>
        <p:blipFill rotWithShape="1">
          <a:blip r:embed="rId4">
            <a:alphaModFix/>
          </a:blip>
          <a:srcRect/>
          <a:stretch/>
        </p:blipFill>
        <p:spPr>
          <a:xfrm>
            <a:off x="3983979" y="2686675"/>
            <a:ext cx="3404696" cy="1972950"/>
          </a:xfrm>
          <a:prstGeom prst="rect">
            <a:avLst/>
          </a:prstGeom>
          <a:noFill/>
          <a:ln>
            <a:noFill/>
          </a:ln>
        </p:spPr>
      </p:pic>
      <p:sp>
        <p:nvSpPr>
          <p:cNvPr id="626" name="Google Shape;626;p84"/>
          <p:cNvSpPr txBox="1"/>
          <p:nvPr/>
        </p:nvSpPr>
        <p:spPr>
          <a:xfrm>
            <a:off x="8257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pic>
        <p:nvPicPr>
          <p:cNvPr id="631" name="Google Shape;631;p8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32" name="Google Shape;632;p85"/>
          <p:cNvSpPr txBox="1"/>
          <p:nvPr/>
        </p:nvSpPr>
        <p:spPr>
          <a:xfrm>
            <a:off x="643800" y="2108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END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33" name="Google Shape;633;p85"/>
          <p:cNvSpPr txBox="1"/>
          <p:nvPr/>
        </p:nvSpPr>
        <p:spPr>
          <a:xfrm>
            <a:off x="2062925" y="1394625"/>
            <a:ext cx="37908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34" name="Google Shape;634;p85"/>
          <p:cNvPicPr preferRelativeResize="0"/>
          <p:nvPr/>
        </p:nvPicPr>
        <p:blipFill rotWithShape="1">
          <a:blip r:embed="rId4">
            <a:alphaModFix/>
          </a:blip>
          <a:srcRect/>
          <a:stretch/>
        </p:blipFill>
        <p:spPr>
          <a:xfrm>
            <a:off x="3862550" y="2647400"/>
            <a:ext cx="3704839" cy="2164876"/>
          </a:xfrm>
          <a:prstGeom prst="rect">
            <a:avLst/>
          </a:prstGeom>
          <a:noFill/>
          <a:ln>
            <a:noFill/>
          </a:ln>
        </p:spPr>
      </p:pic>
      <p:sp>
        <p:nvSpPr>
          <p:cNvPr id="635" name="Google Shape;635;p85"/>
          <p:cNvSpPr txBox="1"/>
          <p:nvPr/>
        </p:nvSpPr>
        <p:spPr>
          <a:xfrm>
            <a:off x="8257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pic>
        <p:nvPicPr>
          <p:cNvPr id="640" name="Google Shape;640;p8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41" name="Google Shape;641;p86"/>
          <p:cNvSpPr txBox="1"/>
          <p:nvPr/>
        </p:nvSpPr>
        <p:spPr>
          <a:xfrm>
            <a:off x="643775" y="2189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CENTER</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42" name="Google Shape;642;p86"/>
          <p:cNvSpPr txBox="1"/>
          <p:nvPr/>
        </p:nvSpPr>
        <p:spPr>
          <a:xfrm>
            <a:off x="2062925" y="1394625"/>
            <a:ext cx="50181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43" name="Google Shape;643;p86"/>
          <p:cNvPicPr preferRelativeResize="0"/>
          <p:nvPr/>
        </p:nvPicPr>
        <p:blipFill rotWithShape="1">
          <a:blip r:embed="rId4">
            <a:alphaModFix/>
          </a:blip>
          <a:srcRect/>
          <a:stretch/>
        </p:blipFill>
        <p:spPr>
          <a:xfrm>
            <a:off x="3694775" y="2630225"/>
            <a:ext cx="3735899" cy="2083775"/>
          </a:xfrm>
          <a:prstGeom prst="rect">
            <a:avLst/>
          </a:prstGeom>
          <a:noFill/>
          <a:ln>
            <a:noFill/>
          </a:ln>
        </p:spPr>
      </p:pic>
      <p:sp>
        <p:nvSpPr>
          <p:cNvPr id="644" name="Google Shape;644;p86"/>
          <p:cNvSpPr txBox="1"/>
          <p:nvPr/>
        </p:nvSpPr>
        <p:spPr>
          <a:xfrm>
            <a:off x="8257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pic>
        <p:nvPicPr>
          <p:cNvPr id="649" name="Google Shape;649;p8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50" name="Google Shape;650;p87"/>
          <p:cNvSpPr txBox="1"/>
          <p:nvPr/>
        </p:nvSpPr>
        <p:spPr>
          <a:xfrm>
            <a:off x="643800" y="2270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STRETCH</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51" name="Google Shape;651;p87"/>
          <p:cNvSpPr txBox="1"/>
          <p:nvPr/>
        </p:nvSpPr>
        <p:spPr>
          <a:xfrm>
            <a:off x="2062925" y="1394625"/>
            <a:ext cx="37359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52" name="Google Shape;652;p87"/>
          <p:cNvPicPr preferRelativeResize="0"/>
          <p:nvPr/>
        </p:nvPicPr>
        <p:blipFill rotWithShape="1">
          <a:blip r:embed="rId4">
            <a:alphaModFix/>
          </a:blip>
          <a:srcRect/>
          <a:stretch/>
        </p:blipFill>
        <p:spPr>
          <a:xfrm>
            <a:off x="3694650" y="2602775"/>
            <a:ext cx="3735899" cy="2104735"/>
          </a:xfrm>
          <a:prstGeom prst="rect">
            <a:avLst/>
          </a:prstGeom>
          <a:noFill/>
          <a:ln>
            <a:noFill/>
          </a:ln>
        </p:spPr>
      </p:pic>
      <p:sp>
        <p:nvSpPr>
          <p:cNvPr id="653" name="Google Shape;653;p87"/>
          <p:cNvSpPr txBox="1"/>
          <p:nvPr/>
        </p:nvSpPr>
        <p:spPr>
          <a:xfrm>
            <a:off x="8257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pic>
        <p:nvPicPr>
          <p:cNvPr id="658" name="Google Shape;658;p88"/>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59" name="Google Shape;659;p88"/>
          <p:cNvSpPr txBox="1"/>
          <p:nvPr/>
        </p:nvSpPr>
        <p:spPr>
          <a:xfrm>
            <a:off x="643800" y="1864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SPACE-AROUND</a:t>
            </a:r>
            <a:endParaRPr sz="3800" b="0" i="1" u="none" strike="noStrike" cap="none">
              <a:solidFill>
                <a:schemeClr val="dk1"/>
              </a:solidFill>
              <a:latin typeface="Anton"/>
              <a:ea typeface="Anton"/>
              <a:cs typeface="Anton"/>
              <a:sym typeface="Anton"/>
            </a:endParaRPr>
          </a:p>
        </p:txBody>
      </p:sp>
      <p:sp>
        <p:nvSpPr>
          <p:cNvPr id="660" name="Google Shape;660;p88"/>
          <p:cNvSpPr txBox="1"/>
          <p:nvPr/>
        </p:nvSpPr>
        <p:spPr>
          <a:xfrm>
            <a:off x="2062925" y="1394625"/>
            <a:ext cx="43785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space-around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61" name="Google Shape;661;p88"/>
          <p:cNvPicPr preferRelativeResize="0"/>
          <p:nvPr/>
        </p:nvPicPr>
        <p:blipFill rotWithShape="1">
          <a:blip r:embed="rId4">
            <a:alphaModFix/>
          </a:blip>
          <a:srcRect/>
          <a:stretch/>
        </p:blipFill>
        <p:spPr>
          <a:xfrm>
            <a:off x="3194800" y="2602775"/>
            <a:ext cx="4278410" cy="2164875"/>
          </a:xfrm>
          <a:prstGeom prst="rect">
            <a:avLst/>
          </a:prstGeom>
          <a:noFill/>
          <a:ln>
            <a:noFill/>
          </a:ln>
        </p:spPr>
      </p:pic>
      <p:sp>
        <p:nvSpPr>
          <p:cNvPr id="662" name="Google Shape;662;p88"/>
          <p:cNvSpPr txBox="1"/>
          <p:nvPr/>
        </p:nvSpPr>
        <p:spPr>
          <a:xfrm>
            <a:off x="2923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pic>
        <p:nvPicPr>
          <p:cNvPr id="667" name="Google Shape;667;p8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68" name="Google Shape;668;p89"/>
          <p:cNvSpPr txBox="1"/>
          <p:nvPr/>
        </p:nvSpPr>
        <p:spPr>
          <a:xfrm>
            <a:off x="643800" y="1621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SPACE-BETWEEN</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69" name="Google Shape;669;p89"/>
          <p:cNvSpPr txBox="1"/>
          <p:nvPr/>
        </p:nvSpPr>
        <p:spPr>
          <a:xfrm>
            <a:off x="2062925" y="1394625"/>
            <a:ext cx="40689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space-between</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70" name="Google Shape;670;p89"/>
          <p:cNvPicPr preferRelativeResize="0"/>
          <p:nvPr/>
        </p:nvPicPr>
        <p:blipFill rotWithShape="1">
          <a:blip r:embed="rId4">
            <a:alphaModFix/>
          </a:blip>
          <a:srcRect/>
          <a:stretch/>
        </p:blipFill>
        <p:spPr>
          <a:xfrm>
            <a:off x="3186300" y="2572075"/>
            <a:ext cx="4295388" cy="2164875"/>
          </a:xfrm>
          <a:prstGeom prst="rect">
            <a:avLst/>
          </a:prstGeom>
          <a:noFill/>
          <a:ln>
            <a:noFill/>
          </a:ln>
        </p:spPr>
      </p:pic>
      <p:sp>
        <p:nvSpPr>
          <p:cNvPr id="671" name="Google Shape;671;p89"/>
          <p:cNvSpPr txBox="1"/>
          <p:nvPr/>
        </p:nvSpPr>
        <p:spPr>
          <a:xfrm>
            <a:off x="3685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pic>
        <p:nvPicPr>
          <p:cNvPr id="676" name="Google Shape;676;p9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77" name="Google Shape;677;p90"/>
          <p:cNvSpPr txBox="1"/>
          <p:nvPr/>
        </p:nvSpPr>
        <p:spPr>
          <a:xfrm>
            <a:off x="643800" y="1025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JUSTIFY-CONTENT: SPACE-EVENLY</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78" name="Google Shape;678;p90"/>
          <p:cNvSpPr txBox="1"/>
          <p:nvPr/>
        </p:nvSpPr>
        <p:spPr>
          <a:xfrm>
            <a:off x="2062925" y="1394625"/>
            <a:ext cx="3857700" cy="10707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space-evenly</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79" name="Google Shape;679;p90"/>
          <p:cNvPicPr preferRelativeResize="0"/>
          <p:nvPr/>
        </p:nvPicPr>
        <p:blipFill rotWithShape="1">
          <a:blip r:embed="rId4">
            <a:alphaModFix/>
          </a:blip>
          <a:srcRect/>
          <a:stretch/>
        </p:blipFill>
        <p:spPr>
          <a:xfrm>
            <a:off x="3177688" y="2602775"/>
            <a:ext cx="4312569" cy="2164875"/>
          </a:xfrm>
          <a:prstGeom prst="rect">
            <a:avLst/>
          </a:prstGeom>
          <a:noFill/>
          <a:ln>
            <a:noFill/>
          </a:ln>
        </p:spPr>
      </p:pic>
      <p:sp>
        <p:nvSpPr>
          <p:cNvPr id="680" name="Google Shape;680;p90"/>
          <p:cNvSpPr txBox="1"/>
          <p:nvPr/>
        </p:nvSpPr>
        <p:spPr>
          <a:xfrm>
            <a:off x="368525" y="2686675"/>
            <a:ext cx="2885400" cy="1972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Alineando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600" b="0" i="0" u="none" strike="noStrike" cap="none">
                <a:solidFill>
                  <a:srgbClr val="000000"/>
                </a:solidFill>
                <a:latin typeface="Helvetica Neue Light"/>
                <a:ea typeface="Helvetica Neue Light"/>
                <a:cs typeface="Helvetica Neue Light"/>
                <a:sym typeface="Helvetica Neue Light"/>
              </a:rPr>
              <a:t>el conjunto de celdas, de forma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600" b="0" i="0" u="none" strike="noStrike" cap="none">
                <a:solidFill>
                  <a:srgbClr val="000000"/>
                </a:solidFill>
                <a:latin typeface="Helvetica Neue Light"/>
                <a:ea typeface="Helvetica Neue Light"/>
                <a:cs typeface="Helvetica Neue Light"/>
                <a:sym typeface="Helvetica Neue Light"/>
              </a:rPr>
              <a:t>.</a:t>
            </a:r>
            <a:br>
              <a:rPr lang="en-GB" sz="1600" b="0" i="0" u="none" strike="noStrike" cap="none">
                <a:solidFill>
                  <a:srgbClr val="000000"/>
                </a:solidFill>
                <a:latin typeface="Helvetica Neue Light"/>
                <a:ea typeface="Helvetica Neue Light"/>
                <a:cs typeface="Helvetica Neue Light"/>
                <a:sym typeface="Helvetica Neue Light"/>
              </a:rPr>
            </a:br>
            <a:endParaRPr sz="16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Helvetica Neue Light"/>
                <a:ea typeface="Helvetica Neue Light"/>
                <a:cs typeface="Helvetica Neue Light"/>
                <a:sym typeface="Helvetica Neue Light"/>
              </a:rPr>
              <a:t>Dentro de su “</a:t>
            </a:r>
            <a:r>
              <a:rPr lang="en-GB" sz="1600" b="0" i="1" u="none" strike="noStrike" cap="none">
                <a:solidFill>
                  <a:srgbClr val="000000"/>
                </a:solidFill>
                <a:latin typeface="Helvetica Neue Light"/>
                <a:ea typeface="Helvetica Neue Light"/>
                <a:cs typeface="Helvetica Neue Light"/>
                <a:sym typeface="Helvetica Neue Light"/>
              </a:rPr>
              <a:t>padre</a:t>
            </a:r>
            <a:r>
              <a:rPr lang="en-GB" sz="1600" b="0" i="0" u="none" strike="noStrike" cap="none">
                <a:solidFill>
                  <a:srgbClr val="000000"/>
                </a:solidFill>
                <a:latin typeface="Helvetica Neue Light"/>
                <a:ea typeface="Helvetica Neue Light"/>
                <a:cs typeface="Helvetica Neue Light"/>
                <a:sym typeface="Helvetica Neue Light"/>
              </a:rPr>
              <a:t>” (es requisito que tenga </a:t>
            </a:r>
            <a:r>
              <a:rPr lang="en-GB" sz="1600" b="0" i="0" u="none" strike="noStrike" cap="none">
                <a:solidFill>
                  <a:srgbClr val="000000"/>
                </a:solidFill>
                <a:highlight>
                  <a:srgbClr val="E0FF00"/>
                </a:highlight>
                <a:latin typeface="Helvetica Neue Light"/>
                <a:ea typeface="Helvetica Neue Light"/>
                <a:cs typeface="Helvetica Neue Light"/>
                <a:sym typeface="Helvetica Neue Light"/>
              </a:rPr>
              <a:t>ancho</a:t>
            </a:r>
            <a:r>
              <a:rPr lang="en-GB" sz="1600" b="0" i="0" u="none" strike="noStrike" cap="none">
                <a:solidFill>
                  <a:srgbClr val="000000"/>
                </a:solidFill>
                <a:latin typeface="Helvetica Neue Light"/>
                <a:ea typeface="Helvetica Neue Light"/>
                <a:cs typeface="Helvetica Neue Light"/>
                <a:sym typeface="Helvetica Neue Light"/>
              </a:rPr>
              <a:t>).</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pic>
        <p:nvPicPr>
          <p:cNvPr id="685" name="Google Shape;685;p9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86" name="Google Shape;686;p91"/>
          <p:cNvSpPr txBox="1"/>
          <p:nvPr/>
        </p:nvSpPr>
        <p:spPr>
          <a:xfrm>
            <a:off x="643800" y="2270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START</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87" name="Google Shape;687;p91"/>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88" name="Google Shape;688;p91"/>
          <p:cNvPicPr preferRelativeResize="0"/>
          <p:nvPr/>
        </p:nvPicPr>
        <p:blipFill rotWithShape="1">
          <a:blip r:embed="rId4">
            <a:alphaModFix/>
          </a:blip>
          <a:srcRect/>
          <a:stretch/>
        </p:blipFill>
        <p:spPr>
          <a:xfrm>
            <a:off x="4828225" y="1257175"/>
            <a:ext cx="3584171" cy="3275450"/>
          </a:xfrm>
          <a:prstGeom prst="rect">
            <a:avLst/>
          </a:prstGeom>
          <a:noFill/>
          <a:ln>
            <a:noFill/>
          </a:ln>
        </p:spPr>
      </p:pic>
      <p:sp>
        <p:nvSpPr>
          <p:cNvPr id="689" name="Google Shape;689;p91"/>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pic>
        <p:nvPicPr>
          <p:cNvPr id="694" name="Google Shape;694;p9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695" name="Google Shape;695;p92"/>
          <p:cNvSpPr txBox="1"/>
          <p:nvPr/>
        </p:nvSpPr>
        <p:spPr>
          <a:xfrm>
            <a:off x="643800" y="1864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END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696" name="Google Shape;696;p92"/>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697" name="Google Shape;697;p92"/>
          <p:cNvPicPr preferRelativeResize="0"/>
          <p:nvPr/>
        </p:nvPicPr>
        <p:blipFill rotWithShape="1">
          <a:blip r:embed="rId4">
            <a:alphaModFix/>
          </a:blip>
          <a:srcRect/>
          <a:stretch/>
        </p:blipFill>
        <p:spPr>
          <a:xfrm>
            <a:off x="4754725" y="1257185"/>
            <a:ext cx="3584101" cy="3267191"/>
          </a:xfrm>
          <a:prstGeom prst="rect">
            <a:avLst/>
          </a:prstGeom>
          <a:noFill/>
          <a:ln>
            <a:noFill/>
          </a:ln>
        </p:spPr>
      </p:pic>
      <p:sp>
        <p:nvSpPr>
          <p:cNvPr id="698" name="Google Shape;698;p92"/>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pic>
        <p:nvPicPr>
          <p:cNvPr id="703" name="Google Shape;703;p9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04" name="Google Shape;704;p93"/>
          <p:cNvSpPr txBox="1"/>
          <p:nvPr/>
        </p:nvSpPr>
        <p:spPr>
          <a:xfrm>
            <a:off x="643800" y="2270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CENTER</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05" name="Google Shape;705;p93"/>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06" name="Google Shape;706;p93"/>
          <p:cNvPicPr preferRelativeResize="0"/>
          <p:nvPr/>
        </p:nvPicPr>
        <p:blipFill rotWithShape="1">
          <a:blip r:embed="rId4">
            <a:alphaModFix/>
          </a:blip>
          <a:srcRect/>
          <a:stretch/>
        </p:blipFill>
        <p:spPr>
          <a:xfrm>
            <a:off x="4938696" y="1257175"/>
            <a:ext cx="3615778" cy="3275374"/>
          </a:xfrm>
          <a:prstGeom prst="rect">
            <a:avLst/>
          </a:prstGeom>
          <a:noFill/>
          <a:ln>
            <a:noFill/>
          </a:ln>
        </p:spPr>
      </p:pic>
      <p:sp>
        <p:nvSpPr>
          <p:cNvPr id="707" name="Google Shape;707;p93"/>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pic>
        <p:nvPicPr>
          <p:cNvPr id="712" name="Google Shape;712;p9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13" name="Google Shape;713;p94"/>
          <p:cNvSpPr txBox="1"/>
          <p:nvPr/>
        </p:nvSpPr>
        <p:spPr>
          <a:xfrm>
            <a:off x="643800" y="2108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STRETCH</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14" name="Google Shape;714;p94"/>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15" name="Google Shape;715;p94"/>
          <p:cNvPicPr preferRelativeResize="0"/>
          <p:nvPr/>
        </p:nvPicPr>
        <p:blipFill rotWithShape="1">
          <a:blip r:embed="rId4">
            <a:alphaModFix/>
          </a:blip>
          <a:srcRect/>
          <a:stretch/>
        </p:blipFill>
        <p:spPr>
          <a:xfrm>
            <a:off x="5085825" y="1461525"/>
            <a:ext cx="3353419" cy="3071026"/>
          </a:xfrm>
          <a:prstGeom prst="rect">
            <a:avLst/>
          </a:prstGeom>
          <a:noFill/>
          <a:ln>
            <a:noFill/>
          </a:ln>
        </p:spPr>
      </p:pic>
      <p:sp>
        <p:nvSpPr>
          <p:cNvPr id="716" name="Google Shape;716;p94"/>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pic>
        <p:nvPicPr>
          <p:cNvPr id="721" name="Google Shape;721;p9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22" name="Google Shape;722;p95"/>
          <p:cNvSpPr txBox="1"/>
          <p:nvPr/>
        </p:nvSpPr>
        <p:spPr>
          <a:xfrm>
            <a:off x="643800" y="2108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SPACE-AROUND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23" name="Google Shape;723;p95"/>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space-around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24" name="Google Shape;724;p95"/>
          <p:cNvPicPr preferRelativeResize="0"/>
          <p:nvPr/>
        </p:nvPicPr>
        <p:blipFill rotWithShape="1">
          <a:blip r:embed="rId4">
            <a:alphaModFix/>
          </a:blip>
          <a:srcRect/>
          <a:stretch/>
        </p:blipFill>
        <p:spPr>
          <a:xfrm>
            <a:off x="5136774" y="1571050"/>
            <a:ext cx="3278295" cy="2961500"/>
          </a:xfrm>
          <a:prstGeom prst="rect">
            <a:avLst/>
          </a:prstGeom>
          <a:noFill/>
          <a:ln>
            <a:noFill/>
          </a:ln>
        </p:spPr>
      </p:pic>
      <p:sp>
        <p:nvSpPr>
          <p:cNvPr id="725" name="Google Shape;725;p95"/>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pic>
        <p:nvPicPr>
          <p:cNvPr id="730" name="Google Shape;730;p9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31" name="Google Shape;731;p96"/>
          <p:cNvSpPr txBox="1"/>
          <p:nvPr/>
        </p:nvSpPr>
        <p:spPr>
          <a:xfrm>
            <a:off x="643800" y="2757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SPACE-AROUND</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32" name="Google Shape;732;p96"/>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space-between</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33" name="Google Shape;733;p96"/>
          <p:cNvPicPr preferRelativeResize="0"/>
          <p:nvPr/>
        </p:nvPicPr>
        <p:blipFill rotWithShape="1">
          <a:blip r:embed="rId4">
            <a:alphaModFix/>
          </a:blip>
          <a:srcRect/>
          <a:stretch/>
        </p:blipFill>
        <p:spPr>
          <a:xfrm>
            <a:off x="5216650" y="1571050"/>
            <a:ext cx="3298986" cy="2961500"/>
          </a:xfrm>
          <a:prstGeom prst="rect">
            <a:avLst/>
          </a:prstGeom>
          <a:noFill/>
          <a:ln>
            <a:noFill/>
          </a:ln>
        </p:spPr>
      </p:pic>
      <p:sp>
        <p:nvSpPr>
          <p:cNvPr id="734" name="Google Shape;734;p96"/>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pic>
        <p:nvPicPr>
          <p:cNvPr id="739" name="Google Shape;739;p9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40" name="Google Shape;740;p97"/>
          <p:cNvSpPr txBox="1"/>
          <p:nvPr/>
        </p:nvSpPr>
        <p:spPr>
          <a:xfrm>
            <a:off x="643800" y="18647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ALIGN-CONTENT: SPACE-EVENLY</a:t>
            </a:r>
            <a:endParaRPr sz="30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41" name="Google Shape;741;p97"/>
          <p:cNvSpPr txBox="1"/>
          <p:nvPr/>
        </p:nvSpPr>
        <p:spPr>
          <a:xfrm>
            <a:off x="873000" y="3310650"/>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.padre</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align-content</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space-evenly</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42" name="Google Shape;742;p97"/>
          <p:cNvPicPr preferRelativeResize="0"/>
          <p:nvPr/>
        </p:nvPicPr>
        <p:blipFill rotWithShape="1">
          <a:blip r:embed="rId4">
            <a:alphaModFix/>
          </a:blip>
          <a:srcRect/>
          <a:stretch/>
        </p:blipFill>
        <p:spPr>
          <a:xfrm>
            <a:off x="5158600" y="1571050"/>
            <a:ext cx="3278300" cy="2961500"/>
          </a:xfrm>
          <a:prstGeom prst="rect">
            <a:avLst/>
          </a:prstGeom>
          <a:noFill/>
          <a:ln>
            <a:noFill/>
          </a:ln>
        </p:spPr>
      </p:pic>
      <p:sp>
        <p:nvSpPr>
          <p:cNvPr id="743" name="Google Shape;743;p97"/>
          <p:cNvSpPr txBox="1"/>
          <p:nvPr/>
        </p:nvSpPr>
        <p:spPr>
          <a:xfrm>
            <a:off x="883400" y="1571052"/>
            <a:ext cx="3584100" cy="156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Alineando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todo </a:t>
            </a:r>
            <a:r>
              <a:rPr lang="en-GB" sz="1800" b="0" i="0" u="none" strike="noStrike" cap="none">
                <a:solidFill>
                  <a:srgbClr val="000000"/>
                </a:solidFill>
                <a:latin typeface="Helvetica Neue Light"/>
                <a:ea typeface="Helvetica Neue Light"/>
                <a:cs typeface="Helvetica Neue Light"/>
                <a:sym typeface="Helvetica Neue Light"/>
              </a:rPr>
              <a:t>el conjunto de celdas,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br>
              <a:rPr lang="en-GB" sz="1800" b="0" i="0" u="none" strike="noStrike" cap="none">
                <a:solidFill>
                  <a:srgbClr val="000000"/>
                </a:solidFill>
                <a:latin typeface="Helvetica Neue Light"/>
                <a:ea typeface="Helvetica Neue Light"/>
                <a:cs typeface="Helvetica Neue Light"/>
                <a:sym typeface="Helvetica Neue Light"/>
              </a:rPr>
            </a:br>
            <a:endParaRPr sz="18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Dentro de su “</a:t>
            </a:r>
            <a:r>
              <a:rPr lang="en-GB" sz="1800" b="0" i="1" u="none" strike="noStrike" cap="none">
                <a:solidFill>
                  <a:srgbClr val="000000"/>
                </a:solidFill>
                <a:latin typeface="Helvetica Neue Light"/>
                <a:ea typeface="Helvetica Neue Light"/>
                <a:cs typeface="Helvetica Neue Light"/>
                <a:sym typeface="Helvetica Neue Light"/>
              </a:rPr>
              <a:t>padre</a:t>
            </a:r>
            <a:r>
              <a:rPr lang="en-GB" sz="1800" b="0" i="0" u="none" strike="noStrike" cap="none">
                <a:solidFill>
                  <a:srgbClr val="000000"/>
                </a:solidFill>
                <a:latin typeface="Helvetica Neue Light"/>
                <a:ea typeface="Helvetica Neue Light"/>
                <a:cs typeface="Helvetica Neue Light"/>
                <a:sym typeface="Helvetica Neue Light"/>
              </a:rPr>
              <a:t>” (es requisito que tenga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altura</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747"/>
        <p:cNvGrpSpPr/>
        <p:nvPr/>
      </p:nvGrpSpPr>
      <p:grpSpPr>
        <a:xfrm>
          <a:off x="0" y="0"/>
          <a:ext cx="0" cy="0"/>
          <a:chOff x="0" y="0"/>
          <a:chExt cx="0" cy="0"/>
        </a:xfrm>
      </p:grpSpPr>
      <p:pic>
        <p:nvPicPr>
          <p:cNvPr id="748" name="Google Shape;748;p98"/>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749" name="Google Shape;749;p98"/>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750" name="Google Shape;750;p98"/>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pic>
        <p:nvPicPr>
          <p:cNvPr id="755" name="Google Shape;755;p9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56" name="Google Shape;756;p99"/>
          <p:cNvSpPr txBox="1"/>
          <p:nvPr/>
        </p:nvSpPr>
        <p:spPr>
          <a:xfrm>
            <a:off x="643801" y="232575"/>
            <a:ext cx="78564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3800" b="0" i="1" u="none" strike="noStrike" cap="none">
                <a:solidFill>
                  <a:schemeClr val="dk1"/>
                </a:solidFill>
                <a:latin typeface="Anton"/>
                <a:ea typeface="Anton"/>
                <a:cs typeface="Anton"/>
                <a:sym typeface="Anton"/>
              </a:rPr>
              <a:t>ITEMS PROPIEDADES</a:t>
            </a:r>
            <a:endParaRPr sz="3800" b="0" i="1" u="none" strike="noStrike" cap="none">
              <a:solidFill>
                <a:schemeClr val="dk1"/>
              </a:solidFill>
              <a:latin typeface="Anton"/>
              <a:ea typeface="Anton"/>
              <a:cs typeface="Anton"/>
              <a:sym typeface="Anton"/>
            </a:endParaRPr>
          </a:p>
          <a:p>
            <a:pPr marL="0" marR="0" lvl="0" indent="0" algn="l" rtl="0">
              <a:lnSpc>
                <a:spcPct val="115000"/>
              </a:lnSpc>
              <a:spcBef>
                <a:spcPts val="2000"/>
              </a:spcBef>
              <a:spcAft>
                <a:spcPts val="1200"/>
              </a:spcAft>
              <a:buClr>
                <a:schemeClr val="dk1"/>
              </a:buClr>
              <a:buSzPts val="1100"/>
              <a:buFont typeface="Arial"/>
              <a:buNone/>
            </a:pPr>
            <a:endParaRPr sz="3800" b="0" i="1" u="none" strike="noStrike" cap="none">
              <a:solidFill>
                <a:schemeClr val="dk1"/>
              </a:solidFill>
              <a:latin typeface="Anton"/>
              <a:ea typeface="Anton"/>
              <a:cs typeface="Anton"/>
              <a:sym typeface="Anton"/>
            </a:endParaRPr>
          </a:p>
        </p:txBody>
      </p:sp>
      <p:sp>
        <p:nvSpPr>
          <p:cNvPr id="757" name="Google Shape;757;p99"/>
          <p:cNvSpPr txBox="1"/>
          <p:nvPr/>
        </p:nvSpPr>
        <p:spPr>
          <a:xfrm>
            <a:off x="1001225" y="1296600"/>
            <a:ext cx="7275900" cy="14124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GB" sz="1700" b="0" i="0" u="none" strike="noStrike" cap="none">
                <a:solidFill>
                  <a:schemeClr val="dk1"/>
                </a:solidFill>
                <a:latin typeface="Helvetica Neue Light"/>
                <a:ea typeface="Helvetica Neue Light"/>
                <a:cs typeface="Helvetica Neue Light"/>
                <a:sym typeface="Helvetica Neue Light"/>
              </a:rPr>
              <a:t>Hasta ahora hemos visto propiedades CSS que se aplican solamente al contenedor padre de una cuadrícula. Ahora vamos a ver ciertas propiedades que se aplican a cada ítem hijo de la cuadrícula, para alterar o cambiar el comportamiento específico de dicho elemento.</a:t>
            </a:r>
            <a:endParaRPr sz="17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chemeClr val="dk1"/>
              </a:buClr>
              <a:buSzPts val="1100"/>
              <a:buFont typeface="Arial"/>
              <a:buNone/>
            </a:pPr>
            <a:r>
              <a:rPr lang="en-GB" sz="1700" b="0" i="0" u="none" strike="noStrike" cap="none">
                <a:solidFill>
                  <a:schemeClr val="dk1"/>
                </a:solidFill>
                <a:latin typeface="Helvetica Neue Light"/>
                <a:ea typeface="Helvetica Neue Light"/>
                <a:cs typeface="Helvetica Neue Light"/>
                <a:sym typeface="Helvetica Neue Light"/>
              </a:rPr>
              <a:t>Prueba sus propiedades </a:t>
            </a:r>
            <a:r>
              <a:rPr lang="en-GB" sz="1700" b="0" i="0" u="sng" strike="noStrike" cap="none">
                <a:solidFill>
                  <a:schemeClr val="hlink"/>
                </a:solidFill>
                <a:latin typeface="Helvetica Neue Light"/>
                <a:ea typeface="Helvetica Neue Light"/>
                <a:cs typeface="Helvetica Neue Light"/>
                <a:sym typeface="Helvetica Neue Light"/>
                <a:hlinkClick r:id="rId4"/>
              </a:rPr>
              <a:t>aquí</a:t>
            </a:r>
            <a:r>
              <a:rPr lang="en-GB" sz="1700" b="0" i="0" u="none" strike="noStrike" cap="none">
                <a:solidFill>
                  <a:schemeClr val="dk1"/>
                </a:solidFill>
                <a:latin typeface="Helvetica Neue Light"/>
                <a:ea typeface="Helvetica Neue Light"/>
                <a:cs typeface="Helvetica Neue Light"/>
                <a:sym typeface="Helvetica Neue Light"/>
              </a:rPr>
              <a:t>.</a:t>
            </a:r>
            <a:endParaRPr sz="1700" b="0" i="0" u="none" strike="noStrike" cap="none">
              <a:solidFill>
                <a:schemeClr val="dk1"/>
              </a:solidFill>
              <a:latin typeface="Helvetica Neue Light"/>
              <a:ea typeface="Helvetica Neue Light"/>
              <a:cs typeface="Helvetica Neue Light"/>
              <a:sym typeface="Helvetica Neue Light"/>
            </a:endParaRPr>
          </a:p>
        </p:txBody>
      </p:sp>
      <p:graphicFrame>
        <p:nvGraphicFramePr>
          <p:cNvPr id="758" name="Google Shape;758;p99"/>
          <p:cNvGraphicFramePr/>
          <p:nvPr/>
        </p:nvGraphicFramePr>
        <p:xfrm>
          <a:off x="1001200" y="2954600"/>
          <a:ext cx="3000000" cy="3000000"/>
        </p:xfrm>
        <a:graphic>
          <a:graphicData uri="http://schemas.openxmlformats.org/drawingml/2006/table">
            <a:tbl>
              <a:tblPr>
                <a:noFill/>
                <a:tableStyleId>{DCF4F18A-EF1C-43F8-B6D9-6A3DD1FAA965}</a:tableStyleId>
              </a:tblPr>
              <a:tblGrid>
                <a:gridCol w="1164150"/>
                <a:gridCol w="6111725"/>
              </a:tblGrid>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Propiedad</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b="1" u="none" strike="noStrike" cap="none">
                          <a:latin typeface="Helvetica Neue"/>
                          <a:ea typeface="Helvetica Neue"/>
                          <a:cs typeface="Helvetica Neue"/>
                          <a:sym typeface="Helvetica Neue"/>
                        </a:rPr>
                        <a:t>Descripción</a:t>
                      </a:r>
                      <a:endParaRPr sz="1600" b="1" u="none" strike="noStrike" cap="none">
                        <a:latin typeface="Helvetica Neue"/>
                        <a:ea typeface="Helvetica Neue"/>
                        <a:cs typeface="Helvetica Neue"/>
                        <a:sym typeface="Helvetica Neue"/>
                      </a:endParaRPr>
                    </a:p>
                  </a:txBody>
                  <a:tcPr marL="63500" marR="63500" marT="63500" marB="63500">
                    <a:solidFill>
                      <a:srgbClr val="D9D9D9"/>
                    </a:solidFill>
                  </a:tcPr>
                </a:tc>
              </a:tr>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justify-self</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Altera la justificación del ítem hijo en el eje </a:t>
                      </a:r>
                      <a:r>
                        <a:rPr lang="en-GB" sz="1600" u="none" strike="noStrike" cap="none">
                          <a:highlight>
                            <a:srgbClr val="E0FF00"/>
                          </a:highlight>
                          <a:latin typeface="Helvetica Neue Light"/>
                          <a:ea typeface="Helvetica Neue Light"/>
                          <a:cs typeface="Helvetica Neue Light"/>
                          <a:sym typeface="Helvetica Neue Light"/>
                        </a:rPr>
                        <a:t>horizontal</a:t>
                      </a:r>
                      <a:r>
                        <a:rPr lang="en-GB" sz="1600" u="none" strike="noStrike" cap="none">
                          <a:latin typeface="Helvetica Neue Light"/>
                          <a:ea typeface="Helvetica Neue Light"/>
                          <a:cs typeface="Helvetica Neue Light"/>
                          <a:sym typeface="Helvetica Neue Light"/>
                        </a:rPr>
                        <a:t>.</a:t>
                      </a:r>
                      <a:endParaRPr sz="16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align-self</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Altera la alineación del ítem hijo en el eje </a:t>
                      </a:r>
                      <a:r>
                        <a:rPr lang="en-GB" sz="1600" u="none" strike="noStrike" cap="none">
                          <a:highlight>
                            <a:srgbClr val="E0FF00"/>
                          </a:highlight>
                          <a:latin typeface="Helvetica Neue Light"/>
                          <a:ea typeface="Helvetica Neue Light"/>
                          <a:cs typeface="Helvetica Neue Light"/>
                          <a:sym typeface="Helvetica Neue Light"/>
                        </a:rPr>
                        <a:t>vertical</a:t>
                      </a:r>
                      <a:r>
                        <a:rPr lang="en-GB" sz="1600" u="none" strike="noStrike" cap="none">
                          <a:latin typeface="Helvetica Neue Light"/>
                          <a:ea typeface="Helvetica Neue Light"/>
                          <a:cs typeface="Helvetica Neue Light"/>
                          <a:sym typeface="Helvetica Neue Light"/>
                        </a:rPr>
                        <a:t>.</a:t>
                      </a:r>
                      <a:endParaRPr sz="16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600"/>
                        <a:buFont typeface="Arial"/>
                        <a:buNone/>
                      </a:pPr>
                      <a:r>
                        <a:rPr lang="en-GB" sz="1600" i="1" u="none" strike="noStrike" cap="none">
                          <a:latin typeface="Helvetica Neue Light"/>
                          <a:ea typeface="Helvetica Neue Light"/>
                          <a:cs typeface="Helvetica Neue Light"/>
                          <a:sym typeface="Helvetica Neue Light"/>
                        </a:rPr>
                        <a:t>grid-area</a:t>
                      </a:r>
                      <a:endParaRPr sz="1600" i="1"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Helvetica Neue Light"/>
                          <a:ea typeface="Helvetica Neue Light"/>
                          <a:cs typeface="Helvetica Neue Light"/>
                          <a:sym typeface="Helvetica Neue Light"/>
                        </a:rPr>
                        <a:t>Indica un nombre al área especificada, </a:t>
                      </a:r>
                      <a:r>
                        <a:rPr lang="en-GB" sz="1600" u="none" strike="noStrike" cap="none">
                          <a:highlight>
                            <a:srgbClr val="E0FF00"/>
                          </a:highlight>
                          <a:latin typeface="Helvetica Neue Light"/>
                          <a:ea typeface="Helvetica Neue Light"/>
                          <a:cs typeface="Helvetica Neue Light"/>
                          <a:sym typeface="Helvetica Neue Light"/>
                        </a:rPr>
                        <a:t>para su utilización con </a:t>
                      </a:r>
                      <a:r>
                        <a:rPr lang="en-GB" sz="1600" i="1" u="none" strike="noStrike" cap="none">
                          <a:highlight>
                            <a:srgbClr val="E0FF00"/>
                          </a:highlight>
                          <a:latin typeface="Helvetica Neue Light"/>
                          <a:ea typeface="Helvetica Neue Light"/>
                          <a:cs typeface="Helvetica Neue Light"/>
                          <a:sym typeface="Helvetica Neue Light"/>
                        </a:rPr>
                        <a:t>grid-template-areas.</a:t>
                      </a:r>
                      <a:endParaRPr sz="1600" i="1" u="none" strike="noStrike" cap="none">
                        <a:highlight>
                          <a:srgbClr val="E0FF00"/>
                        </a:highlight>
                        <a:latin typeface="Helvetica Neue Light"/>
                        <a:ea typeface="Helvetica Neue Light"/>
                        <a:cs typeface="Helvetica Neue Light"/>
                        <a:sym typeface="Helvetica Neue Light"/>
                      </a:endParaRPr>
                    </a:p>
                  </a:txBody>
                  <a:tcPr marL="63500" marR="63500" marT="63500" marB="63500"/>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pic>
        <p:nvPicPr>
          <p:cNvPr id="763" name="Google Shape;763;p10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64" name="Google Shape;764;p100"/>
          <p:cNvSpPr txBox="1"/>
          <p:nvPr/>
        </p:nvSpPr>
        <p:spPr>
          <a:xfrm>
            <a:off x="643800" y="1772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JUSTIFY-SELF: START</a:t>
            </a:r>
            <a:endParaRPr sz="3800" b="0" i="1" u="none" strike="noStrike" cap="none">
              <a:solidFill>
                <a:schemeClr val="dk1"/>
              </a:solidFill>
              <a:latin typeface="Anton"/>
              <a:ea typeface="Anton"/>
              <a:cs typeface="Anton"/>
              <a:sym typeface="Anton"/>
            </a:endParaRPr>
          </a:p>
        </p:txBody>
      </p:sp>
      <p:sp>
        <p:nvSpPr>
          <p:cNvPr id="765" name="Google Shape;765;p100"/>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66" name="Google Shape;766;p100"/>
          <p:cNvPicPr preferRelativeResize="0"/>
          <p:nvPr/>
        </p:nvPicPr>
        <p:blipFill rotWithShape="1">
          <a:blip r:embed="rId4">
            <a:alphaModFix/>
          </a:blip>
          <a:srcRect/>
          <a:stretch/>
        </p:blipFill>
        <p:spPr>
          <a:xfrm>
            <a:off x="2157275" y="3072525"/>
            <a:ext cx="5263224" cy="1917775"/>
          </a:xfrm>
          <a:prstGeom prst="rect">
            <a:avLst/>
          </a:prstGeom>
          <a:noFill/>
          <a:ln>
            <a:noFill/>
          </a:ln>
        </p:spPr>
      </p:pic>
      <p:sp>
        <p:nvSpPr>
          <p:cNvPr id="767" name="Google Shape;767;p100"/>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pic>
        <p:nvPicPr>
          <p:cNvPr id="772" name="Google Shape;772;p10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73" name="Google Shape;773;p101"/>
          <p:cNvSpPr txBox="1"/>
          <p:nvPr/>
        </p:nvSpPr>
        <p:spPr>
          <a:xfrm>
            <a:off x="643800" y="2418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JUSTIFY-SELF: END</a:t>
            </a:r>
            <a:endParaRPr sz="3800" b="0" i="1" u="none" strike="noStrike" cap="none">
              <a:solidFill>
                <a:schemeClr val="dk1"/>
              </a:solidFill>
              <a:latin typeface="Anton"/>
              <a:ea typeface="Anton"/>
              <a:cs typeface="Anton"/>
              <a:sym typeface="Anton"/>
            </a:endParaRPr>
          </a:p>
        </p:txBody>
      </p:sp>
      <p:pic>
        <p:nvPicPr>
          <p:cNvPr id="774" name="Google Shape;774;p101"/>
          <p:cNvPicPr preferRelativeResize="0"/>
          <p:nvPr/>
        </p:nvPicPr>
        <p:blipFill rotWithShape="1">
          <a:blip r:embed="rId4">
            <a:alphaModFix/>
          </a:blip>
          <a:srcRect/>
          <a:stretch/>
        </p:blipFill>
        <p:spPr>
          <a:xfrm>
            <a:off x="2399025" y="3078450"/>
            <a:ext cx="5055375" cy="1829875"/>
          </a:xfrm>
          <a:prstGeom prst="rect">
            <a:avLst/>
          </a:prstGeom>
          <a:noFill/>
          <a:ln>
            <a:noFill/>
          </a:ln>
        </p:spPr>
      </p:pic>
      <p:sp>
        <p:nvSpPr>
          <p:cNvPr id="775" name="Google Shape;775;p101"/>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sp>
        <p:nvSpPr>
          <p:cNvPr id="776" name="Google Shape;776;p101"/>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pic>
        <p:nvPicPr>
          <p:cNvPr id="781" name="Google Shape;781;p10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82" name="Google Shape;782;p102"/>
          <p:cNvSpPr txBox="1"/>
          <p:nvPr/>
        </p:nvSpPr>
        <p:spPr>
          <a:xfrm>
            <a:off x="643800" y="2233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JUSTIFY-SELF: CENTER</a:t>
            </a:r>
            <a:endParaRPr sz="3800" b="0" i="1" u="none" strike="noStrike" cap="none">
              <a:solidFill>
                <a:schemeClr val="dk1"/>
              </a:solidFill>
              <a:latin typeface="Anton"/>
              <a:ea typeface="Anton"/>
              <a:cs typeface="Anton"/>
              <a:sym typeface="Anton"/>
            </a:endParaRPr>
          </a:p>
        </p:txBody>
      </p:sp>
      <p:sp>
        <p:nvSpPr>
          <p:cNvPr id="783" name="Google Shape;783;p102"/>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84" name="Google Shape;784;p102"/>
          <p:cNvPicPr preferRelativeResize="0"/>
          <p:nvPr/>
        </p:nvPicPr>
        <p:blipFill rotWithShape="1">
          <a:blip r:embed="rId4">
            <a:alphaModFix/>
          </a:blip>
          <a:srcRect/>
          <a:stretch/>
        </p:blipFill>
        <p:spPr>
          <a:xfrm>
            <a:off x="2220125" y="3039175"/>
            <a:ext cx="5239651" cy="1902425"/>
          </a:xfrm>
          <a:prstGeom prst="rect">
            <a:avLst/>
          </a:prstGeom>
          <a:noFill/>
          <a:ln>
            <a:noFill/>
          </a:ln>
        </p:spPr>
      </p:pic>
      <p:sp>
        <p:nvSpPr>
          <p:cNvPr id="785" name="Google Shape;785;p102"/>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pic>
        <p:nvPicPr>
          <p:cNvPr id="790" name="Google Shape;790;p10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791" name="Google Shape;791;p103"/>
          <p:cNvSpPr txBox="1"/>
          <p:nvPr/>
        </p:nvSpPr>
        <p:spPr>
          <a:xfrm>
            <a:off x="643800" y="214125"/>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JUSTIFY-SELF: STRETCH</a:t>
            </a:r>
            <a:endParaRPr sz="3800" b="0" i="1" u="none" strike="noStrike" cap="none">
              <a:solidFill>
                <a:schemeClr val="dk1"/>
              </a:solidFill>
              <a:latin typeface="Anton"/>
              <a:ea typeface="Anton"/>
              <a:cs typeface="Anton"/>
              <a:sym typeface="Anton"/>
            </a:endParaRPr>
          </a:p>
        </p:txBody>
      </p:sp>
      <p:sp>
        <p:nvSpPr>
          <p:cNvPr id="792" name="Google Shape;792;p103"/>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justify-self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793" name="Google Shape;793;p103"/>
          <p:cNvPicPr preferRelativeResize="0"/>
          <p:nvPr/>
        </p:nvPicPr>
        <p:blipFill rotWithShape="1">
          <a:blip r:embed="rId4">
            <a:alphaModFix/>
          </a:blip>
          <a:srcRect/>
          <a:stretch/>
        </p:blipFill>
        <p:spPr>
          <a:xfrm>
            <a:off x="2187900" y="3045800"/>
            <a:ext cx="5315024" cy="1944500"/>
          </a:xfrm>
          <a:prstGeom prst="rect">
            <a:avLst/>
          </a:prstGeom>
          <a:noFill/>
          <a:ln>
            <a:noFill/>
          </a:ln>
        </p:spPr>
      </p:pic>
      <p:sp>
        <p:nvSpPr>
          <p:cNvPr id="794" name="Google Shape;794;p103"/>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horizontal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pic>
        <p:nvPicPr>
          <p:cNvPr id="799" name="Google Shape;799;p10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00" name="Google Shape;800;p104"/>
          <p:cNvSpPr txBox="1"/>
          <p:nvPr/>
        </p:nvSpPr>
        <p:spPr>
          <a:xfrm>
            <a:off x="643800" y="1496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ALIGN-SELF: START</a:t>
            </a:r>
            <a:endParaRPr sz="3800" b="0" i="1" u="none" strike="noStrike" cap="none">
              <a:solidFill>
                <a:schemeClr val="dk1"/>
              </a:solidFill>
              <a:latin typeface="Anton"/>
              <a:ea typeface="Anton"/>
              <a:cs typeface="Anton"/>
              <a:sym typeface="Anton"/>
            </a:endParaRPr>
          </a:p>
        </p:txBody>
      </p:sp>
      <p:sp>
        <p:nvSpPr>
          <p:cNvPr id="801" name="Google Shape;801;p104"/>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start</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802" name="Google Shape;802;p104"/>
          <p:cNvPicPr preferRelativeResize="0"/>
          <p:nvPr/>
        </p:nvPicPr>
        <p:blipFill rotWithShape="1">
          <a:blip r:embed="rId4">
            <a:alphaModFix/>
          </a:blip>
          <a:srcRect/>
          <a:stretch/>
        </p:blipFill>
        <p:spPr>
          <a:xfrm>
            <a:off x="1925390" y="2985275"/>
            <a:ext cx="5570759" cy="2005025"/>
          </a:xfrm>
          <a:prstGeom prst="rect">
            <a:avLst/>
          </a:prstGeom>
          <a:noFill/>
          <a:ln>
            <a:noFill/>
          </a:ln>
        </p:spPr>
      </p:pic>
      <p:sp>
        <p:nvSpPr>
          <p:cNvPr id="803" name="Google Shape;803;p104"/>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pic>
        <p:nvPicPr>
          <p:cNvPr id="808" name="Google Shape;808;p10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09" name="Google Shape;809;p105"/>
          <p:cNvSpPr txBox="1"/>
          <p:nvPr/>
        </p:nvSpPr>
        <p:spPr>
          <a:xfrm>
            <a:off x="643800" y="25100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ALIGN-SELF: END</a:t>
            </a:r>
            <a:endParaRPr sz="3800" b="0" i="1" u="none" strike="noStrike" cap="none">
              <a:solidFill>
                <a:schemeClr val="dk1"/>
              </a:solidFill>
              <a:latin typeface="Anton"/>
              <a:ea typeface="Anton"/>
              <a:cs typeface="Anton"/>
              <a:sym typeface="Anton"/>
            </a:endParaRPr>
          </a:p>
        </p:txBody>
      </p:sp>
      <p:sp>
        <p:nvSpPr>
          <p:cNvPr id="810" name="Google Shape;810;p105"/>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end</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811" name="Google Shape;811;p105"/>
          <p:cNvPicPr preferRelativeResize="0"/>
          <p:nvPr/>
        </p:nvPicPr>
        <p:blipFill rotWithShape="1">
          <a:blip r:embed="rId4">
            <a:alphaModFix/>
          </a:blip>
          <a:srcRect/>
          <a:stretch/>
        </p:blipFill>
        <p:spPr>
          <a:xfrm>
            <a:off x="2186813" y="2985275"/>
            <a:ext cx="5331137" cy="1920950"/>
          </a:xfrm>
          <a:prstGeom prst="rect">
            <a:avLst/>
          </a:prstGeom>
          <a:noFill/>
          <a:ln>
            <a:noFill/>
          </a:ln>
        </p:spPr>
      </p:pic>
      <p:sp>
        <p:nvSpPr>
          <p:cNvPr id="812" name="Google Shape;812;p105"/>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pic>
        <p:nvPicPr>
          <p:cNvPr id="817" name="Google Shape;817;p10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18" name="Google Shape;818;p106"/>
          <p:cNvSpPr txBox="1"/>
          <p:nvPr/>
        </p:nvSpPr>
        <p:spPr>
          <a:xfrm>
            <a:off x="643800" y="2233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ALIGN-SELF: CENTER</a:t>
            </a:r>
            <a:endParaRPr sz="3800" b="0" i="1" u="none" strike="noStrike" cap="none">
              <a:solidFill>
                <a:schemeClr val="dk1"/>
              </a:solidFill>
              <a:latin typeface="Anton"/>
              <a:ea typeface="Anton"/>
              <a:cs typeface="Anton"/>
              <a:sym typeface="Anton"/>
            </a:endParaRPr>
          </a:p>
        </p:txBody>
      </p:sp>
      <p:sp>
        <p:nvSpPr>
          <p:cNvPr id="819" name="Google Shape;819;p106"/>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center</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820" name="Google Shape;820;p106"/>
          <p:cNvPicPr preferRelativeResize="0"/>
          <p:nvPr/>
        </p:nvPicPr>
        <p:blipFill rotWithShape="1">
          <a:blip r:embed="rId4">
            <a:alphaModFix/>
          </a:blip>
          <a:srcRect/>
          <a:stretch/>
        </p:blipFill>
        <p:spPr>
          <a:xfrm>
            <a:off x="1989795" y="2985275"/>
            <a:ext cx="5480430" cy="2005025"/>
          </a:xfrm>
          <a:prstGeom prst="rect">
            <a:avLst/>
          </a:prstGeom>
          <a:noFill/>
          <a:ln>
            <a:noFill/>
          </a:ln>
        </p:spPr>
      </p:pic>
      <p:sp>
        <p:nvSpPr>
          <p:cNvPr id="821" name="Google Shape;821;p106"/>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pic>
        <p:nvPicPr>
          <p:cNvPr id="826" name="Google Shape;826;p10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27" name="Google Shape;827;p107"/>
          <p:cNvSpPr txBox="1"/>
          <p:nvPr/>
        </p:nvSpPr>
        <p:spPr>
          <a:xfrm>
            <a:off x="643800" y="177250"/>
            <a:ext cx="7856400" cy="1070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3800" b="0" i="1" u="none" strike="noStrike" cap="none">
                <a:solidFill>
                  <a:schemeClr val="dk1"/>
                </a:solidFill>
                <a:latin typeface="Anton"/>
                <a:ea typeface="Anton"/>
                <a:cs typeface="Anton"/>
                <a:sym typeface="Anton"/>
              </a:rPr>
              <a:t>ALIGN-SELF: STRETCH</a:t>
            </a:r>
            <a:endParaRPr sz="3800" b="0" i="1" u="none" strike="noStrike" cap="none">
              <a:solidFill>
                <a:schemeClr val="dk1"/>
              </a:solidFill>
              <a:latin typeface="Anton"/>
              <a:ea typeface="Anton"/>
              <a:cs typeface="Anton"/>
              <a:sym typeface="Anton"/>
            </a:endParaRPr>
          </a:p>
        </p:txBody>
      </p:sp>
      <p:sp>
        <p:nvSpPr>
          <p:cNvPr id="828" name="Google Shape;828;p107"/>
          <p:cNvSpPr txBox="1"/>
          <p:nvPr/>
        </p:nvSpPr>
        <p:spPr>
          <a:xfrm>
            <a:off x="3769425" y="1622825"/>
            <a:ext cx="3584100" cy="1221900"/>
          </a:xfrm>
          <a:prstGeom prst="rect">
            <a:avLst/>
          </a:prstGeom>
          <a:solidFill>
            <a:srgbClr val="F3F3F3"/>
          </a:solid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rgbClr val="800000"/>
                </a:solidFill>
                <a:latin typeface="Consolas"/>
                <a:ea typeface="Consolas"/>
                <a:cs typeface="Consolas"/>
                <a:sym typeface="Consolas"/>
              </a:rPr>
              <a:t>.hijo</a:t>
            </a:r>
            <a:r>
              <a:rPr lang="en-GB" sz="1400" b="0" i="0" u="none" strike="noStrike" cap="none">
                <a:solidFill>
                  <a:schemeClr val="dk1"/>
                </a:solidFill>
                <a:latin typeface="Consolas"/>
                <a:ea typeface="Consolas"/>
                <a:cs typeface="Consolas"/>
                <a:sym typeface="Consolas"/>
              </a:rPr>
              <a:t> {</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FF0000"/>
                </a:solidFill>
                <a:latin typeface="Consolas"/>
                <a:ea typeface="Consolas"/>
                <a:cs typeface="Consolas"/>
                <a:sym typeface="Consolas"/>
              </a:rPr>
              <a:t>align-self</a:t>
            </a:r>
            <a:r>
              <a:rPr lang="en-GB" sz="1400" b="0" i="0" u="none" strike="noStrike" cap="none">
                <a:solidFill>
                  <a:schemeClr val="dk1"/>
                </a:solidFill>
                <a:latin typeface="Consolas"/>
                <a:ea typeface="Consolas"/>
                <a:cs typeface="Consolas"/>
                <a:sym typeface="Consolas"/>
              </a:rPr>
              <a:t>: </a:t>
            </a:r>
            <a:r>
              <a:rPr lang="en-GB" sz="1400" b="0" i="0" u="none" strike="noStrike" cap="none">
                <a:solidFill>
                  <a:srgbClr val="0451A5"/>
                </a:solidFill>
                <a:latin typeface="Consolas"/>
                <a:ea typeface="Consolas"/>
                <a:cs typeface="Consolas"/>
                <a:sym typeface="Consolas"/>
              </a:rPr>
              <a:t>stretch</a:t>
            </a:r>
            <a:r>
              <a:rPr lang="en-GB" sz="1400" b="0" i="0" u="none" strike="noStrike" cap="none">
                <a:solidFill>
                  <a:schemeClr val="dk1"/>
                </a:solidFill>
                <a:latin typeface="Consolas"/>
                <a:ea typeface="Consolas"/>
                <a:cs typeface="Consolas"/>
                <a:sym typeface="Consolas"/>
              </a:rPr>
              <a:t>;</a:t>
            </a:r>
            <a:endParaRPr sz="1400" b="0" i="0" u="none" strike="noStrike" cap="none">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GB" sz="1400" b="0" i="0" u="none" strike="noStrike" cap="none">
                <a:solidFill>
                  <a:schemeClr val="dk1"/>
                </a:solidFill>
                <a:latin typeface="Consolas"/>
                <a:ea typeface="Consolas"/>
                <a:cs typeface="Consolas"/>
                <a:sym typeface="Consolas"/>
              </a:rPr>
              <a:t>}</a:t>
            </a:r>
            <a:endParaRPr sz="1400" b="0" i="0" u="none" strike="noStrike" cap="none">
              <a:solidFill>
                <a:srgbClr val="F5D67B"/>
              </a:solidFill>
              <a:latin typeface="Consolas"/>
              <a:ea typeface="Consolas"/>
              <a:cs typeface="Consolas"/>
              <a:sym typeface="Consolas"/>
            </a:endParaRPr>
          </a:p>
        </p:txBody>
      </p:sp>
      <p:pic>
        <p:nvPicPr>
          <p:cNvPr id="829" name="Google Shape;829;p107"/>
          <p:cNvPicPr preferRelativeResize="0"/>
          <p:nvPr/>
        </p:nvPicPr>
        <p:blipFill rotWithShape="1">
          <a:blip r:embed="rId4">
            <a:alphaModFix/>
          </a:blip>
          <a:srcRect/>
          <a:stretch/>
        </p:blipFill>
        <p:spPr>
          <a:xfrm>
            <a:off x="1936747" y="2985275"/>
            <a:ext cx="5461178" cy="2005025"/>
          </a:xfrm>
          <a:prstGeom prst="rect">
            <a:avLst/>
          </a:prstGeom>
          <a:noFill/>
          <a:ln>
            <a:noFill/>
          </a:ln>
        </p:spPr>
      </p:pic>
      <p:sp>
        <p:nvSpPr>
          <p:cNvPr id="830" name="Google Shape;830;p107"/>
          <p:cNvSpPr txBox="1"/>
          <p:nvPr/>
        </p:nvSpPr>
        <p:spPr>
          <a:xfrm>
            <a:off x="726050" y="1482275"/>
            <a:ext cx="2965800" cy="150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Alinea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específicamente </a:t>
            </a:r>
            <a:r>
              <a:rPr lang="en-GB" sz="1800" b="0" i="0" u="none" strike="noStrike" cap="none">
                <a:solidFill>
                  <a:srgbClr val="000000"/>
                </a:solidFill>
                <a:latin typeface="Helvetica Neue Light"/>
                <a:ea typeface="Helvetica Neue Light"/>
                <a:cs typeface="Helvetica Neue Light"/>
                <a:sym typeface="Helvetica Neue Light"/>
              </a:rPr>
              <a:t>a la celda (item, hijo) que necesites, de forma </a:t>
            </a:r>
            <a:r>
              <a:rPr lang="en-GB" sz="1800" b="0" i="0" u="none" strike="noStrike" cap="none">
                <a:solidFill>
                  <a:srgbClr val="000000"/>
                </a:solidFill>
                <a:highlight>
                  <a:srgbClr val="E0FF00"/>
                </a:highlight>
                <a:latin typeface="Helvetica Neue Light"/>
                <a:ea typeface="Helvetica Neue Light"/>
                <a:cs typeface="Helvetica Neue Light"/>
                <a:sym typeface="Helvetica Neue Light"/>
              </a:rPr>
              <a:t>vertical</a:t>
            </a:r>
            <a:r>
              <a:rPr lang="en-GB" sz="1800" b="0" i="0" u="none" strike="noStrike" cap="none">
                <a:solidFill>
                  <a:srgbClr val="000000"/>
                </a:solidFill>
                <a:latin typeface="Helvetica Neue Light"/>
                <a:ea typeface="Helvetica Neue Light"/>
                <a:cs typeface="Helvetica Neue Light"/>
                <a:sym typeface="Helvetica Neue Light"/>
              </a:rPr>
              <a:t>:</a:t>
            </a:r>
            <a:endParaRPr sz="18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gradFill>
          <a:gsLst>
            <a:gs pos="0">
              <a:srgbClr val="E0FF00"/>
            </a:gs>
            <a:gs pos="100000">
              <a:srgbClr val="3CEFAB"/>
            </a:gs>
          </a:gsLst>
          <a:lin ang="10800025" scaled="0"/>
        </a:gradFill>
        <a:effectLst/>
      </p:bgPr>
    </p:bg>
    <p:spTree>
      <p:nvGrpSpPr>
        <p:cNvPr id="1" name="Shape 834"/>
        <p:cNvGrpSpPr/>
        <p:nvPr/>
      </p:nvGrpSpPr>
      <p:grpSpPr>
        <a:xfrm>
          <a:off x="0" y="0"/>
          <a:ext cx="0" cy="0"/>
          <a:chOff x="0" y="0"/>
          <a:chExt cx="0" cy="0"/>
        </a:xfrm>
      </p:grpSpPr>
      <p:pic>
        <p:nvPicPr>
          <p:cNvPr id="835" name="Google Shape;835;p108"/>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836" name="Google Shape;836;p108"/>
          <p:cNvPicPr preferRelativeResize="0"/>
          <p:nvPr/>
        </p:nvPicPr>
        <p:blipFill rotWithShape="1">
          <a:blip r:embed="rId4">
            <a:alphaModFix/>
          </a:blip>
          <a:srcRect/>
          <a:stretch/>
        </p:blipFill>
        <p:spPr>
          <a:xfrm>
            <a:off x="7120275" y="228143"/>
            <a:ext cx="1634174" cy="639850"/>
          </a:xfrm>
          <a:prstGeom prst="rect">
            <a:avLst/>
          </a:prstGeom>
          <a:noFill/>
          <a:ln>
            <a:noFill/>
          </a:ln>
        </p:spPr>
      </p:pic>
      <p:sp>
        <p:nvSpPr>
          <p:cNvPr id="837" name="Google Shape;837;p108"/>
          <p:cNvSpPr txBox="1"/>
          <p:nvPr/>
        </p:nvSpPr>
        <p:spPr>
          <a:xfrm>
            <a:off x="1828950" y="2077200"/>
            <a:ext cx="54861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000000"/>
                </a:solidFill>
                <a:latin typeface="Anton"/>
                <a:ea typeface="Anton"/>
                <a:cs typeface="Anton"/>
                <a:sym typeface="Anton"/>
              </a:rPr>
              <a:t>¡VAMOS A PRACTICAR LO VISTO!</a:t>
            </a:r>
            <a:endParaRPr sz="3600" b="0" i="1" u="none" strike="noStrike" cap="none">
              <a:solidFill>
                <a:srgbClr val="000000"/>
              </a:solidFill>
              <a:latin typeface="Anton"/>
              <a:ea typeface="Anton"/>
              <a:cs typeface="Anton"/>
              <a:sym typeface="Anto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1"/>
        <p:cNvGrpSpPr/>
        <p:nvPr/>
      </p:nvGrpSpPr>
      <p:grpSpPr>
        <a:xfrm>
          <a:off x="0" y="0"/>
          <a:ext cx="0" cy="0"/>
          <a:chOff x="0" y="0"/>
          <a:chExt cx="0" cy="0"/>
        </a:xfrm>
      </p:grpSpPr>
      <p:sp>
        <p:nvSpPr>
          <p:cNvPr id="842" name="Google Shape;842;p109"/>
          <p:cNvSpPr txBox="1"/>
          <p:nvPr/>
        </p:nvSpPr>
        <p:spPr>
          <a:xfrm>
            <a:off x="1398000" y="1656150"/>
            <a:ext cx="63480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E0FF00"/>
                </a:solidFill>
                <a:latin typeface="Anton"/>
                <a:ea typeface="Anton"/>
                <a:cs typeface="Anton"/>
                <a:sym typeface="Anton"/>
              </a:rPr>
              <a:t>GRIDS MOBILE FIRST</a:t>
            </a:r>
            <a:endParaRPr sz="3600" b="0" i="1" u="none" strike="noStrike" cap="none">
              <a:solidFill>
                <a:srgbClr val="E0FF00"/>
              </a:solidFill>
              <a:latin typeface="Anton"/>
              <a:ea typeface="Anton"/>
              <a:cs typeface="Anton"/>
              <a:sym typeface="Anto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pic>
        <p:nvPicPr>
          <p:cNvPr id="847" name="Google Shape;847;p11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48" name="Google Shape;848;p110"/>
          <p:cNvSpPr txBox="1"/>
          <p:nvPr/>
        </p:nvSpPr>
        <p:spPr>
          <a:xfrm>
            <a:off x="1009200" y="3396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MOBILE FIRST</a:t>
            </a:r>
            <a:endParaRPr sz="4000" b="0" i="1" u="none" strike="noStrike" cap="none">
              <a:solidFill>
                <a:srgbClr val="000000"/>
              </a:solidFill>
              <a:latin typeface="Anton"/>
              <a:ea typeface="Anton"/>
              <a:cs typeface="Anton"/>
              <a:sym typeface="Anton"/>
            </a:endParaRPr>
          </a:p>
        </p:txBody>
      </p:sp>
      <p:pic>
        <p:nvPicPr>
          <p:cNvPr id="849" name="Google Shape;849;p110"/>
          <p:cNvPicPr preferRelativeResize="0"/>
          <p:nvPr/>
        </p:nvPicPr>
        <p:blipFill rotWithShape="1">
          <a:blip r:embed="rId4">
            <a:alphaModFix/>
          </a:blip>
          <a:srcRect/>
          <a:stretch/>
        </p:blipFill>
        <p:spPr>
          <a:xfrm>
            <a:off x="5209630" y="1687650"/>
            <a:ext cx="3114295" cy="2755300"/>
          </a:xfrm>
          <a:prstGeom prst="rect">
            <a:avLst/>
          </a:prstGeom>
          <a:noFill/>
          <a:ln>
            <a:noFill/>
          </a:ln>
        </p:spPr>
      </p:pic>
      <p:pic>
        <p:nvPicPr>
          <p:cNvPr id="850" name="Google Shape;850;p110"/>
          <p:cNvPicPr preferRelativeResize="0"/>
          <p:nvPr/>
        </p:nvPicPr>
        <p:blipFill rotWithShape="1">
          <a:blip r:embed="rId5">
            <a:alphaModFix/>
          </a:blip>
          <a:srcRect/>
          <a:stretch/>
        </p:blipFill>
        <p:spPr>
          <a:xfrm>
            <a:off x="2025775" y="2055075"/>
            <a:ext cx="2549300" cy="1881000"/>
          </a:xfrm>
          <a:prstGeom prst="rect">
            <a:avLst/>
          </a:prstGeom>
          <a:noFill/>
          <a:ln>
            <a:noFill/>
          </a:ln>
        </p:spPr>
      </p:pic>
      <p:pic>
        <p:nvPicPr>
          <p:cNvPr id="851" name="Google Shape;851;p110"/>
          <p:cNvPicPr preferRelativeResize="0"/>
          <p:nvPr/>
        </p:nvPicPr>
        <p:blipFill rotWithShape="1">
          <a:blip r:embed="rId6">
            <a:alphaModFix/>
          </a:blip>
          <a:srcRect/>
          <a:stretch/>
        </p:blipFill>
        <p:spPr>
          <a:xfrm>
            <a:off x="567350" y="2437923"/>
            <a:ext cx="1388100" cy="125474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pic>
        <p:nvPicPr>
          <p:cNvPr id="856" name="Google Shape;856;p11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57" name="Google Shape;857;p111"/>
          <p:cNvSpPr txBox="1"/>
          <p:nvPr/>
        </p:nvSpPr>
        <p:spPr>
          <a:xfrm>
            <a:off x="1009200" y="3212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MOBILE FIRST</a:t>
            </a:r>
            <a:endParaRPr sz="4000" b="0" i="1" u="none" strike="noStrike" cap="none">
              <a:solidFill>
                <a:srgbClr val="000000"/>
              </a:solidFill>
              <a:latin typeface="Anton"/>
              <a:ea typeface="Anton"/>
              <a:cs typeface="Anton"/>
              <a:sym typeface="Anton"/>
            </a:endParaRPr>
          </a:p>
        </p:txBody>
      </p:sp>
      <p:sp>
        <p:nvSpPr>
          <p:cNvPr id="858" name="Google Shape;858;p111"/>
          <p:cNvSpPr txBox="1"/>
          <p:nvPr/>
        </p:nvSpPr>
        <p:spPr>
          <a:xfrm>
            <a:off x="348750" y="1942225"/>
            <a:ext cx="8446500" cy="22185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Antes de hablar de “Mobile-First”, debemos hacer una referencia al llamado diseño responsive. </a:t>
            </a: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Se refiere a la idea de que un sitio web debería mostrarse igual de bien en todo tipo de dispositivo,</a:t>
            </a: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 desde monitores de pantalla panorámica hasta teléfonos móviles. </a:t>
            </a:r>
            <a:endParaRPr sz="18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Es un enfoque para el diseño y desarrollo web que elimina la distinción entre la versión amigable para dispositivos móviles de un sitio web, y su contraparte de escritorio. Con un diseño responsive, ambos son lo mismo.</a:t>
            </a:r>
            <a:endParaRPr sz="1800" b="0" i="0" u="none" strike="noStrike" cap="none">
              <a:solidFill>
                <a:schemeClr val="dk1"/>
              </a:solidFill>
              <a:highlight>
                <a:srgbClr val="FFFFFF"/>
              </a:highlight>
              <a:latin typeface="Helvetica Neue Light"/>
              <a:ea typeface="Helvetica Neue Light"/>
              <a:cs typeface="Helvetica Neue Light"/>
              <a:sym typeface="Helvetica Neue Light"/>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pic>
        <p:nvPicPr>
          <p:cNvPr id="863" name="Google Shape;863;p112"/>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64" name="Google Shape;864;p112"/>
          <p:cNvSpPr txBox="1"/>
          <p:nvPr/>
        </p:nvSpPr>
        <p:spPr>
          <a:xfrm>
            <a:off x="506250" y="1694825"/>
            <a:ext cx="8131500" cy="2318700"/>
          </a:xfrm>
          <a:prstGeom prst="rect">
            <a:avLst/>
          </a:prstGeom>
          <a:noFill/>
          <a:ln>
            <a:noFill/>
          </a:ln>
        </p:spPr>
        <p:txBody>
          <a:bodyPr spcFirstLastPara="1" wrap="square" lIns="91425" tIns="91425" rIns="91425" bIns="91425" anchor="t" anchorCtr="0">
            <a:noAutofit/>
          </a:bodyPr>
          <a:lstStyle/>
          <a:p>
            <a:pPr marL="0" marR="0" lvl="0" indent="0" algn="ctr" rtl="0">
              <a:lnSpc>
                <a:spcPct val="135714"/>
              </a:lnSpc>
              <a:spcBef>
                <a:spcPts val="1400"/>
              </a:spcBef>
              <a:spcAft>
                <a:spcPts val="0"/>
              </a:spcAft>
              <a:buClr>
                <a:srgbClr val="000000"/>
              </a:buClr>
              <a:buSzPts val="1800"/>
              <a:buFont typeface="Arial"/>
              <a:buNone/>
            </a:pP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Mobile First significa </a:t>
            </a:r>
            <a:r>
              <a:rPr lang="en-GB" sz="1800" b="0" i="0" u="none" strike="noStrike" cap="none">
                <a:solidFill>
                  <a:schemeClr val="dk1"/>
                </a:solidFill>
                <a:highlight>
                  <a:srgbClr val="E0FF00"/>
                </a:highlight>
                <a:latin typeface="Helvetica Neue Light"/>
                <a:ea typeface="Helvetica Neue Light"/>
                <a:cs typeface="Helvetica Neue Light"/>
                <a:sym typeface="Helvetica Neue Light"/>
              </a:rPr>
              <a:t>crear el código primero para los dispositivos más pequeños</a:t>
            </a:r>
            <a:r>
              <a:rPr lang="en-GB" sz="1800" b="1" i="0" u="none" strike="noStrike" cap="none">
                <a:solidFill>
                  <a:schemeClr val="dk1"/>
                </a:solidFill>
                <a:highlight>
                  <a:srgbClr val="FFFFFF"/>
                </a:highlight>
                <a:latin typeface="Helvetica Neue"/>
                <a:ea typeface="Helvetica Neue"/>
                <a:cs typeface="Helvetica Neue"/>
                <a:sym typeface="Helvetica Neue"/>
              </a:rPr>
              <a:t> </a:t>
            </a: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que los usuarios probablemente tengan, como teléfonos o tabletas. Implica trabajar en el dispositivo más pequeño, y luego acumular desde allí todo en el mismo código y el mismo proyecto, en lugar de hacer uno nuevo para cada tamaño de pantalla. </a:t>
            </a:r>
            <a:endParaRPr sz="1800" b="0" i="0" u="none" strike="noStrike" cap="none">
              <a:solidFill>
                <a:schemeClr val="dk1"/>
              </a:solidFill>
              <a:highlight>
                <a:srgbClr val="FFFFFF"/>
              </a:highlight>
              <a:latin typeface="Helvetica Neue Light"/>
              <a:ea typeface="Helvetica Neue Light"/>
              <a:cs typeface="Helvetica Neue Light"/>
              <a:sym typeface="Helvetica Neue Light"/>
            </a:endParaRPr>
          </a:p>
        </p:txBody>
      </p:sp>
      <p:sp>
        <p:nvSpPr>
          <p:cNvPr id="865" name="Google Shape;865;p112"/>
          <p:cNvSpPr txBox="1"/>
          <p:nvPr/>
        </p:nvSpPr>
        <p:spPr>
          <a:xfrm>
            <a:off x="1009200" y="3212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MOBILE FIRST</a:t>
            </a:r>
            <a:endParaRPr sz="4000" b="0" i="1" u="none" strike="noStrike" cap="none">
              <a:solidFill>
                <a:srgbClr val="000000"/>
              </a:solidFill>
              <a:latin typeface="Anton"/>
              <a:ea typeface="Anton"/>
              <a:cs typeface="Anton"/>
              <a:sym typeface="Anto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pic>
        <p:nvPicPr>
          <p:cNvPr id="870" name="Google Shape;870;p113"/>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71" name="Google Shape;871;p113"/>
          <p:cNvSpPr txBox="1"/>
          <p:nvPr/>
        </p:nvSpPr>
        <p:spPr>
          <a:xfrm>
            <a:off x="833700" y="1659625"/>
            <a:ext cx="7476600" cy="3000000"/>
          </a:xfrm>
          <a:prstGeom prst="rect">
            <a:avLst/>
          </a:prstGeom>
          <a:noFill/>
          <a:ln>
            <a:noFill/>
          </a:ln>
        </p:spPr>
        <p:txBody>
          <a:bodyPr spcFirstLastPara="1" wrap="square" lIns="91425" tIns="91425" rIns="91425" bIns="91425" anchor="t" anchorCtr="0">
            <a:noAutofit/>
          </a:bodyPr>
          <a:lstStyle/>
          <a:p>
            <a:pPr marL="0" marR="0" lvl="0" indent="0" algn="ctr" rtl="0">
              <a:lnSpc>
                <a:spcPct val="135714"/>
              </a:lnSpc>
              <a:spcBef>
                <a:spcPts val="1400"/>
              </a:spcBef>
              <a:spcAft>
                <a:spcPts val="0"/>
              </a:spcAft>
              <a:buClr>
                <a:srgbClr val="000000"/>
              </a:buClr>
              <a:buSzPts val="2000"/>
              <a:buFont typeface="Arial"/>
              <a:buNone/>
            </a:pP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Se recomienda:</a:t>
            </a: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457200" marR="0" lvl="0" indent="-355600" algn="just" rtl="0">
              <a:lnSpc>
                <a:spcPct val="135714"/>
              </a:lnSpc>
              <a:spcBef>
                <a:spcPts val="1400"/>
              </a:spcBef>
              <a:spcAft>
                <a:spcPts val="0"/>
              </a:spcAft>
              <a:buClr>
                <a:srgbClr val="3DFFBC"/>
              </a:buClr>
              <a:buSzPts val="2000"/>
              <a:buFont typeface="Helvetica Neue Light"/>
              <a:buChar char="●"/>
            </a:pP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En primer lugar,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trabajar el código</a:t>
            </a: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 para que se reproduzca perfectamente en un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teléfono</a:t>
            </a: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a:t>
            </a: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457200" marR="0" lvl="0" indent="-355600" algn="just" rtl="0">
              <a:lnSpc>
                <a:spcPct val="135714"/>
              </a:lnSpc>
              <a:spcBef>
                <a:spcPts val="0"/>
              </a:spcBef>
              <a:spcAft>
                <a:spcPts val="0"/>
              </a:spcAft>
              <a:buClr>
                <a:srgbClr val="3DFFBC"/>
              </a:buClr>
              <a:buSzPts val="2000"/>
              <a:buFont typeface="Helvetica Neue Light"/>
              <a:buChar char="●"/>
            </a:pP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Luego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ajustar </a:t>
            </a: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para que se ejecute en una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tableta</a:t>
            </a: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a:t>
            </a: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457200" marR="0" lvl="0" indent="-355600" algn="just" rtl="0">
              <a:lnSpc>
                <a:spcPct val="135714"/>
              </a:lnSpc>
              <a:spcBef>
                <a:spcPts val="0"/>
              </a:spcBef>
              <a:spcAft>
                <a:spcPts val="0"/>
              </a:spcAft>
              <a:buClr>
                <a:srgbClr val="3DFFBC"/>
              </a:buClr>
              <a:buSzPts val="2000"/>
              <a:buFont typeface="Helvetica Neue Light"/>
              <a:buChar char="●"/>
            </a:pP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Por último, en un </a:t>
            </a:r>
            <a:r>
              <a:rPr lang="en-GB" sz="2000" b="0" i="0" u="none" strike="noStrike" cap="none">
                <a:solidFill>
                  <a:schemeClr val="dk1"/>
                </a:solidFill>
                <a:highlight>
                  <a:srgbClr val="E0FF00"/>
                </a:highlight>
                <a:latin typeface="Helvetica Neue Light"/>
                <a:ea typeface="Helvetica Neue Light"/>
                <a:cs typeface="Helvetica Neue Light"/>
                <a:sym typeface="Helvetica Neue Light"/>
              </a:rPr>
              <a:t>dispositivo de escritorio</a:t>
            </a: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a:t>
            </a: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sp>
        <p:nvSpPr>
          <p:cNvPr id="872" name="Google Shape;872;p113"/>
          <p:cNvSpPr txBox="1"/>
          <p:nvPr/>
        </p:nvSpPr>
        <p:spPr>
          <a:xfrm>
            <a:off x="1009200" y="3212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MOBILE FIRST</a:t>
            </a:r>
            <a:endParaRPr sz="4000" b="0" i="1" u="none" strike="noStrike" cap="none">
              <a:solidFill>
                <a:srgbClr val="000000"/>
              </a:solidFill>
              <a:latin typeface="Anton"/>
              <a:ea typeface="Anton"/>
              <a:cs typeface="Anton"/>
              <a:sym typeface="Anto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pic>
        <p:nvPicPr>
          <p:cNvPr id="877" name="Google Shape;877;p114"/>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78" name="Google Shape;878;p114"/>
          <p:cNvSpPr txBox="1"/>
          <p:nvPr/>
        </p:nvSpPr>
        <p:spPr>
          <a:xfrm>
            <a:off x="421150" y="1548500"/>
            <a:ext cx="4122000" cy="2880300"/>
          </a:xfrm>
          <a:prstGeom prst="rect">
            <a:avLst/>
          </a:prstGeom>
          <a:noFill/>
          <a:ln>
            <a:noFill/>
          </a:ln>
        </p:spPr>
        <p:txBody>
          <a:bodyPr spcFirstLastPara="1" wrap="square" lIns="91425" tIns="91425" rIns="91425" bIns="91425" anchor="ctr" anchorCtr="0">
            <a:noAutofit/>
          </a:bodyPr>
          <a:lstStyle/>
          <a:p>
            <a:pPr marL="0" marR="0" lvl="0" indent="0" algn="l" rtl="0">
              <a:lnSpc>
                <a:spcPct val="135714"/>
              </a:lnSpc>
              <a:spcBef>
                <a:spcPts val="1400"/>
              </a:spcBef>
              <a:spcAft>
                <a:spcPts val="0"/>
              </a:spcAft>
              <a:buClr>
                <a:srgbClr val="000000"/>
              </a:buClr>
              <a:buSzPts val="1800"/>
              <a:buFont typeface="Arial"/>
              <a:buNone/>
            </a:pPr>
            <a:r>
              <a:rPr lang="en-GB" sz="1800" b="0" i="0" u="none" strike="noStrike" cap="none">
                <a:solidFill>
                  <a:srgbClr val="000000"/>
                </a:solidFill>
                <a:highlight>
                  <a:srgbClr val="FFFFFF"/>
                </a:highlight>
                <a:latin typeface="Helvetica Neue Light"/>
                <a:ea typeface="Helvetica Neue Light"/>
                <a:cs typeface="Helvetica Neue Light"/>
                <a:sym typeface="Helvetica Neue Light"/>
              </a:rPr>
              <a:t>Cualquier estilo dentro del siguiente Media Querie se ejecutará cuando el tamaño de la pantalla sea de al menos 768px de ancho (tablet portrait iPad Mini), pero no cuando el tamaño de la pantalla sea menor:</a:t>
            </a:r>
            <a:endParaRPr sz="1800" b="0" i="0" u="none" strike="noStrike" cap="none">
              <a:solidFill>
                <a:srgbClr val="000000"/>
              </a:solidFill>
              <a:highlight>
                <a:srgbClr val="FFFFFF"/>
              </a:highlight>
              <a:latin typeface="Helvetica Neue Light"/>
              <a:ea typeface="Helvetica Neue Light"/>
              <a:cs typeface="Helvetica Neue Light"/>
              <a:sym typeface="Helvetica Neue Light"/>
            </a:endParaRPr>
          </a:p>
        </p:txBody>
      </p:sp>
      <p:sp>
        <p:nvSpPr>
          <p:cNvPr id="879" name="Google Shape;879;p114"/>
          <p:cNvSpPr txBox="1"/>
          <p:nvPr/>
        </p:nvSpPr>
        <p:spPr>
          <a:xfrm>
            <a:off x="4757175" y="2021000"/>
            <a:ext cx="3899100" cy="2008500"/>
          </a:xfrm>
          <a:prstGeom prst="rect">
            <a:avLst/>
          </a:prstGeom>
          <a:solidFill>
            <a:srgbClr val="F3F3F3"/>
          </a:solidFill>
          <a:ln>
            <a:noFill/>
          </a:ln>
        </p:spPr>
        <p:txBody>
          <a:bodyPr spcFirstLastPara="1" wrap="square" lIns="91425" tIns="91425" rIns="91425" bIns="91425" anchor="t" anchorCtr="0">
            <a:noAutofit/>
          </a:bodyPr>
          <a:lstStyle/>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F92672"/>
                </a:solidFill>
                <a:latin typeface="Didact Gothic"/>
                <a:ea typeface="Didact Gothic"/>
                <a:cs typeface="Didact Gothic"/>
                <a:sym typeface="Didact Gothic"/>
              </a:rPr>
              <a:t>@</a:t>
            </a:r>
            <a:r>
              <a:rPr lang="en-GB" sz="1600" b="1" i="0" u="none" strike="noStrike" cap="none">
                <a:solidFill>
                  <a:srgbClr val="F92672"/>
                </a:solidFill>
                <a:latin typeface="Didact Gothic"/>
                <a:ea typeface="Didact Gothic"/>
                <a:cs typeface="Didact Gothic"/>
                <a:sym typeface="Didact Gothic"/>
              </a:rPr>
              <a:t>media</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92672"/>
                </a:solidFill>
                <a:latin typeface="Didact Gothic"/>
                <a:ea typeface="Didact Gothic"/>
                <a:cs typeface="Didact Gothic"/>
                <a:sym typeface="Didact Gothic"/>
              </a:rPr>
              <a:t>only</a:t>
            </a:r>
            <a:r>
              <a:rPr lang="en-GB" sz="1600" b="0" i="0" u="none" strike="noStrike" cap="none">
                <a:solidFill>
                  <a:srgbClr val="000000"/>
                </a:solidFill>
                <a:latin typeface="Didact Gothic"/>
                <a:ea typeface="Didact Gothic"/>
                <a:cs typeface="Didact Gothic"/>
                <a:sym typeface="Didact Gothic"/>
              </a:rPr>
              <a:t> screen </a:t>
            </a:r>
            <a:r>
              <a:rPr lang="en-GB" sz="1600" b="0" i="0" u="none" strike="noStrike" cap="none">
                <a:solidFill>
                  <a:srgbClr val="F92672"/>
                </a:solidFill>
                <a:latin typeface="Didact Gothic"/>
                <a:ea typeface="Didact Gothic"/>
                <a:cs typeface="Didact Gothic"/>
                <a:sym typeface="Didact Gothic"/>
              </a:rPr>
              <a:t>and</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min-width</a:t>
            </a:r>
            <a:r>
              <a:rPr lang="en-GB" sz="1600" b="0" i="0" u="none" strike="noStrike" cap="none">
                <a:solidFill>
                  <a:srgbClr val="000000"/>
                </a:solidFill>
                <a:latin typeface="Didact Gothic"/>
                <a:ea typeface="Didact Gothic"/>
                <a:cs typeface="Didact Gothic"/>
                <a:sym typeface="Didact Gothic"/>
              </a:rPr>
              <a:t>: 768px)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body</a:t>
            </a: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background-color</a:t>
            </a:r>
            <a:r>
              <a:rPr lang="en-GB" sz="1600" b="0" i="0" u="none" strike="noStrike" cap="none">
                <a:solidFill>
                  <a:schemeClr val="dk1"/>
                </a:solidFill>
                <a:latin typeface="Didact Gothic"/>
                <a:ea typeface="Didact Gothic"/>
                <a:cs typeface="Didact Gothic"/>
                <a:sym typeface="Didact Gothic"/>
              </a:rPr>
              <a:t>: </a:t>
            </a:r>
            <a:r>
              <a:rPr lang="en-GB" sz="1600" b="0" i="0" u="none" strike="noStrike" cap="none">
                <a:solidFill>
                  <a:srgbClr val="0000FF"/>
                </a:solidFill>
                <a:latin typeface="Didact Gothic"/>
                <a:ea typeface="Didact Gothic"/>
                <a:cs typeface="Didact Gothic"/>
                <a:sym typeface="Didact Gothic"/>
              </a:rPr>
              <a:t>#000000</a:t>
            </a:r>
            <a:r>
              <a:rPr lang="en-GB" sz="1600" b="0" i="0" u="none" strike="noStrike" cap="none">
                <a:solidFill>
                  <a:schemeClr val="dk1"/>
                </a:solidFill>
                <a:latin typeface="Didact Gothic"/>
                <a:ea typeface="Didact Gothic"/>
                <a:cs typeface="Didact Gothic"/>
                <a:sym typeface="Didact Gothic"/>
              </a:rPr>
              <a:t>;</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br>
              <a:rPr lang="en-GB" sz="1600" b="0" i="0" u="none" strike="noStrike" cap="none">
                <a:solidFill>
                  <a:srgbClr val="000000"/>
                </a:solidFill>
                <a:latin typeface="Didact Gothic"/>
                <a:ea typeface="Didact Gothic"/>
                <a:cs typeface="Didact Gothic"/>
                <a:sym typeface="Didact Gothic"/>
              </a:rPr>
            </a:br>
            <a:r>
              <a:rPr lang="en-GB" sz="1600" b="0" i="0" u="none" strike="noStrike" cap="none">
                <a:solidFill>
                  <a:srgbClr val="000000"/>
                </a:solidFill>
                <a:latin typeface="Didact Gothic"/>
                <a:ea typeface="Didact Gothic"/>
                <a:cs typeface="Didact Gothic"/>
                <a:sym typeface="Didact Gothic"/>
              </a:rPr>
              <a:t>}</a:t>
            </a:r>
            <a:endParaRPr sz="1200" b="0" i="0" u="none" strike="noStrike" cap="none">
              <a:solidFill>
                <a:srgbClr val="000000"/>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100"/>
              <a:buFont typeface="Arial"/>
              <a:buNone/>
            </a:pPr>
            <a:endParaRPr sz="1100" b="0" i="0" u="none" strike="noStrike" cap="none">
              <a:solidFill>
                <a:srgbClr val="800000"/>
              </a:solidFill>
              <a:latin typeface="Consolas"/>
              <a:ea typeface="Consolas"/>
              <a:cs typeface="Consolas"/>
              <a:sym typeface="Consolas"/>
            </a:endParaRPr>
          </a:p>
        </p:txBody>
      </p:sp>
      <p:sp>
        <p:nvSpPr>
          <p:cNvPr id="880" name="Google Shape;880;p114"/>
          <p:cNvSpPr txBox="1"/>
          <p:nvPr/>
        </p:nvSpPr>
        <p:spPr>
          <a:xfrm>
            <a:off x="1009200" y="3212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MOBILE FIRST</a:t>
            </a:r>
            <a:endParaRPr sz="4000" b="0" i="1" u="none" strike="noStrike" cap="none">
              <a:solidFill>
                <a:srgbClr val="000000"/>
              </a:solidFill>
              <a:latin typeface="Anton"/>
              <a:ea typeface="Anton"/>
              <a:cs typeface="Anton"/>
              <a:sym typeface="Anto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3CEFAB"/>
        </a:solidFill>
        <a:effectLst/>
      </p:bgPr>
    </p:bg>
    <p:spTree>
      <p:nvGrpSpPr>
        <p:cNvPr id="1" name="Shape 884"/>
        <p:cNvGrpSpPr/>
        <p:nvPr/>
      </p:nvGrpSpPr>
      <p:grpSpPr>
        <a:xfrm>
          <a:off x="0" y="0"/>
          <a:ext cx="0" cy="0"/>
          <a:chOff x="0" y="0"/>
          <a:chExt cx="0" cy="0"/>
        </a:xfrm>
      </p:grpSpPr>
      <p:pic>
        <p:nvPicPr>
          <p:cNvPr id="885" name="Google Shape;885;p115"/>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86" name="Google Shape;886;p115"/>
          <p:cNvSpPr txBox="1"/>
          <p:nvPr/>
        </p:nvSpPr>
        <p:spPr>
          <a:xfrm>
            <a:off x="1516950" y="1891125"/>
            <a:ext cx="6560100" cy="2157900"/>
          </a:xfrm>
          <a:prstGeom prst="rect">
            <a:avLst/>
          </a:prstGeom>
          <a:noFill/>
          <a:ln>
            <a:noFill/>
          </a:ln>
        </p:spPr>
        <p:txBody>
          <a:bodyPr spcFirstLastPara="1" wrap="square" lIns="91425" tIns="91425" rIns="91425" bIns="91425" anchor="t" anchorCtr="0">
            <a:noAutofit/>
          </a:bodyPr>
          <a:lstStyle/>
          <a:p>
            <a:pPr marL="0" marR="0" lvl="0" indent="457200" algn="ctr" rtl="0">
              <a:lnSpc>
                <a:spcPct val="115000"/>
              </a:lnSpc>
              <a:spcBef>
                <a:spcPts val="0"/>
              </a:spcBef>
              <a:spcAft>
                <a:spcPts val="0"/>
              </a:spcAft>
              <a:buClr>
                <a:schemeClr val="dk1"/>
              </a:buClr>
              <a:buSzPts val="1100"/>
              <a:buFont typeface="Arial"/>
              <a:buNone/>
            </a:pPr>
            <a:r>
              <a:rPr lang="en-GB" sz="1800" b="0" i="0" u="none" strike="noStrike" cap="none">
                <a:solidFill>
                  <a:schemeClr val="dk1"/>
                </a:solidFill>
                <a:latin typeface="Helvetica Neue Light"/>
                <a:ea typeface="Helvetica Neue Light"/>
                <a:cs typeface="Helvetica Neue Light"/>
                <a:sym typeface="Helvetica Neue Light"/>
              </a:rPr>
              <a:t>El diseño responsive se logra a través de "Media Queries" de CSS. Pensemos en las Media Queries como una forma de aplicar condicionales a las reglas de CSS. Estas últimas le indican al navegador qué reglas debe ignorar o aplicar, dependiendo del dispositivo del usuario.</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endParaRPr sz="1800" b="1" i="0" u="none" strike="noStrike" cap="none">
              <a:solidFill>
                <a:schemeClr val="dk1"/>
              </a:solidFill>
              <a:latin typeface="Didact Gothic"/>
              <a:ea typeface="Didact Gothic"/>
              <a:cs typeface="Didact Gothic"/>
              <a:sym typeface="Didact Gothic"/>
            </a:endParaRPr>
          </a:p>
        </p:txBody>
      </p:sp>
      <p:sp>
        <p:nvSpPr>
          <p:cNvPr id="887" name="Google Shape;887;p115"/>
          <p:cNvSpPr txBox="1"/>
          <p:nvPr/>
        </p:nvSpPr>
        <p:spPr>
          <a:xfrm>
            <a:off x="2912250" y="626800"/>
            <a:ext cx="3663900" cy="10785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18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MEDIA QUERIES</a:t>
            </a:r>
            <a:endParaRPr sz="4000" b="0" i="0" u="none" strike="noStrike" cap="none">
              <a:solidFill>
                <a:srgbClr val="000000"/>
              </a:solidFill>
              <a:latin typeface="Anton"/>
              <a:ea typeface="Anton"/>
              <a:cs typeface="Anton"/>
              <a:sym typeface="Anto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pic>
        <p:nvPicPr>
          <p:cNvPr id="892" name="Google Shape;892;p116"/>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893" name="Google Shape;893;p116"/>
          <p:cNvSpPr txBox="1"/>
          <p:nvPr/>
        </p:nvSpPr>
        <p:spPr>
          <a:xfrm>
            <a:off x="1009200" y="8915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1" u="none" strike="noStrike" cap="none">
                <a:solidFill>
                  <a:srgbClr val="000000"/>
                </a:solidFill>
                <a:latin typeface="Anton"/>
                <a:ea typeface="Anton"/>
                <a:cs typeface="Anton"/>
                <a:sym typeface="Anton"/>
              </a:rPr>
              <a:t>BREAK POINTS</a:t>
            </a:r>
            <a:endParaRPr sz="4000" b="0" i="1" u="none" strike="noStrike" cap="none">
              <a:solidFill>
                <a:srgbClr val="000000"/>
              </a:solidFill>
              <a:latin typeface="Anton"/>
              <a:ea typeface="Anton"/>
              <a:cs typeface="Anton"/>
              <a:sym typeface="Anton"/>
            </a:endParaRPr>
          </a:p>
        </p:txBody>
      </p:sp>
      <p:graphicFrame>
        <p:nvGraphicFramePr>
          <p:cNvPr id="894" name="Google Shape;894;p116"/>
          <p:cNvGraphicFramePr/>
          <p:nvPr/>
        </p:nvGraphicFramePr>
        <p:xfrm>
          <a:off x="564075" y="1196750"/>
          <a:ext cx="3000000" cy="3000000"/>
        </p:xfrm>
        <a:graphic>
          <a:graphicData uri="http://schemas.openxmlformats.org/drawingml/2006/table">
            <a:tbl>
              <a:tblPr>
                <a:noFill/>
                <a:tableStyleId>{DCF4F18A-EF1C-43F8-B6D9-6A3DD1FAA965}</a:tableStyleId>
              </a:tblPr>
              <a:tblGrid>
                <a:gridCol w="1726525"/>
                <a:gridCol w="6289325"/>
              </a:tblGrid>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b="1" u="none" strike="noStrike" cap="none">
                          <a:latin typeface="Helvetica Neue"/>
                          <a:ea typeface="Helvetica Neue"/>
                          <a:cs typeface="Helvetica Neue"/>
                          <a:sym typeface="Helvetica Neue"/>
                        </a:rPr>
                        <a:t>Tamaño</a:t>
                      </a:r>
                      <a:endParaRPr sz="1300" b="1" u="none" strike="noStrike" cap="none">
                        <a:latin typeface="Helvetica Neue"/>
                        <a:ea typeface="Helvetica Neue"/>
                        <a:cs typeface="Helvetica Neue"/>
                        <a:sym typeface="Helvetica Neue"/>
                      </a:endParaRPr>
                    </a:p>
                  </a:txBody>
                  <a:tcPr marL="63500" marR="63500" marT="63500" marB="63500">
                    <a:solidFill>
                      <a:srgbClr val="D9D9D9"/>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1300" b="1" u="none" strike="noStrike" cap="none">
                          <a:latin typeface="Helvetica Neue"/>
                          <a:ea typeface="Helvetica Neue"/>
                          <a:cs typeface="Helvetica Neue"/>
                          <a:sym typeface="Helvetica Neue"/>
                        </a:rPr>
                        <a:t>Dispositivo</a:t>
                      </a:r>
                      <a:endParaRPr sz="1300" b="1" u="none" strike="noStrike" cap="none">
                        <a:latin typeface="Helvetica Neue"/>
                        <a:ea typeface="Helvetica Neue"/>
                        <a:cs typeface="Helvetica Neue"/>
                        <a:sym typeface="Helvetica Neue"/>
                      </a:endParaRPr>
                    </a:p>
                  </a:txBody>
                  <a:tcPr marL="63500" marR="63500" marT="63500" marB="63500">
                    <a:solidFill>
                      <a:srgbClr val="D9D9D9"/>
                    </a:solidFill>
                  </a:tcPr>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320px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35714"/>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Para dispositivos con pantallas pequeñas, como los teléfonos en modo vertical</a:t>
                      </a:r>
                      <a:endParaRPr sz="13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300"/>
                        <a:buFont typeface="Arial"/>
                        <a:buNone/>
                      </a:pPr>
                      <a:endParaRPr sz="13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480px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35714"/>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Para dispositivos con pantallas pequeñas, como los teléfonos, en modo horizontal</a:t>
                      </a:r>
                      <a:endParaRPr sz="13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600px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35714"/>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Tabletas pequeñas, como el Amazon Kindle (600×800) y Barnes &amp; Noble Nook (600×1024), en modo vertical</a:t>
                      </a:r>
                      <a:endParaRPr sz="13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768px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35714"/>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Tabletas de diez pulgadas como el iPad (768×1024), en modo vertical</a:t>
                      </a:r>
                      <a:endParaRPr sz="13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1024px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35714"/>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Tabletas como el iPad (1024×768), en modo horizontal, así como algunas pantallas de ordenador portátil, netbook, y de escritorio</a:t>
                      </a:r>
                      <a:endParaRPr sz="1300" u="none" strike="noStrike" cap="none">
                        <a:latin typeface="Helvetica Neue Light"/>
                        <a:ea typeface="Helvetica Neue Light"/>
                        <a:cs typeface="Helvetica Neue Light"/>
                        <a:sym typeface="Helvetica Neue Light"/>
                      </a:endParaRPr>
                    </a:p>
                  </a:txBody>
                  <a:tcPr marL="63500" marR="63500" marT="63500" marB="63500"/>
                </a:tc>
              </a:tr>
              <a:tr h="0">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1200px</a:t>
                      </a:r>
                      <a:endParaRPr sz="1300" u="none" strike="noStrike" cap="none">
                        <a:latin typeface="Helvetica Neue Light"/>
                        <a:ea typeface="Helvetica Neue Light"/>
                        <a:cs typeface="Helvetica Neue Light"/>
                        <a:sym typeface="Helvetica Neue Light"/>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300"/>
                        <a:buFont typeface="Arial"/>
                        <a:buNone/>
                      </a:pPr>
                      <a:r>
                        <a:rPr lang="en-GB" sz="1300" u="none" strike="noStrike" cap="none">
                          <a:latin typeface="Helvetica Neue Light"/>
                          <a:ea typeface="Helvetica Neue Light"/>
                          <a:cs typeface="Helvetica Neue Light"/>
                          <a:sym typeface="Helvetica Neue Light"/>
                        </a:rPr>
                        <a:t>Para pantallas panorámicas, principalmente portátiles y de escritorio</a:t>
                      </a:r>
                      <a:endParaRPr sz="1300" u="none" strike="noStrike" cap="none">
                        <a:latin typeface="Helvetica Neue Light"/>
                        <a:ea typeface="Helvetica Neue Light"/>
                        <a:cs typeface="Helvetica Neue Light"/>
                        <a:sym typeface="Helvetica Neue Light"/>
                      </a:endParaRPr>
                    </a:p>
                  </a:txBody>
                  <a:tcPr marL="63500" marR="63500" marT="63500" marB="63500"/>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cxnSp>
        <p:nvCxnSpPr>
          <p:cNvPr id="899" name="Google Shape;899;p117"/>
          <p:cNvCxnSpPr/>
          <p:nvPr/>
        </p:nvCxnSpPr>
        <p:spPr>
          <a:xfrm>
            <a:off x="3483450" y="2271200"/>
            <a:ext cx="4787400" cy="9600"/>
          </a:xfrm>
          <a:prstGeom prst="straightConnector1">
            <a:avLst/>
          </a:prstGeom>
          <a:noFill/>
          <a:ln w="9525" cap="flat" cmpd="sng">
            <a:solidFill>
              <a:srgbClr val="3CEFAB"/>
            </a:solidFill>
            <a:prstDash val="solid"/>
            <a:round/>
            <a:headEnd type="none" w="sm" len="sm"/>
            <a:tailEnd type="none" w="sm" len="sm"/>
          </a:ln>
        </p:spPr>
      </p:cxnSp>
      <p:cxnSp>
        <p:nvCxnSpPr>
          <p:cNvPr id="900" name="Google Shape;900;p117"/>
          <p:cNvCxnSpPr/>
          <p:nvPr/>
        </p:nvCxnSpPr>
        <p:spPr>
          <a:xfrm>
            <a:off x="693100" y="2271200"/>
            <a:ext cx="4787400" cy="9600"/>
          </a:xfrm>
          <a:prstGeom prst="straightConnector1">
            <a:avLst/>
          </a:prstGeom>
          <a:noFill/>
          <a:ln w="9525" cap="flat" cmpd="sng">
            <a:solidFill>
              <a:srgbClr val="3CEFAB"/>
            </a:solidFill>
            <a:prstDash val="solid"/>
            <a:round/>
            <a:headEnd type="none" w="sm" len="sm"/>
            <a:tailEnd type="none" w="sm" len="sm"/>
          </a:ln>
        </p:spPr>
      </p:cxnSp>
      <p:cxnSp>
        <p:nvCxnSpPr>
          <p:cNvPr id="901" name="Google Shape;901;p117"/>
          <p:cNvCxnSpPr/>
          <p:nvPr/>
        </p:nvCxnSpPr>
        <p:spPr>
          <a:xfrm>
            <a:off x="2476425" y="2271200"/>
            <a:ext cx="4787400" cy="9600"/>
          </a:xfrm>
          <a:prstGeom prst="straightConnector1">
            <a:avLst/>
          </a:prstGeom>
          <a:noFill/>
          <a:ln w="9525" cap="flat" cmpd="sng">
            <a:solidFill>
              <a:srgbClr val="3CEFAB"/>
            </a:solidFill>
            <a:prstDash val="solid"/>
            <a:round/>
            <a:headEnd type="none" w="sm" len="sm"/>
            <a:tailEnd type="none" w="sm" len="sm"/>
          </a:ln>
        </p:spPr>
      </p:cxnSp>
      <p:sp>
        <p:nvSpPr>
          <p:cNvPr id="902" name="Google Shape;902;p117"/>
          <p:cNvSpPr/>
          <p:nvPr/>
        </p:nvSpPr>
        <p:spPr>
          <a:xfrm>
            <a:off x="4298430" y="1968950"/>
            <a:ext cx="614100" cy="614100"/>
          </a:xfrm>
          <a:prstGeom prst="ellipse">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0FF00"/>
              </a:solidFill>
              <a:latin typeface="Arial"/>
              <a:ea typeface="Arial"/>
              <a:cs typeface="Arial"/>
              <a:sym typeface="Arial"/>
            </a:endParaRPr>
          </a:p>
        </p:txBody>
      </p:sp>
      <p:sp>
        <p:nvSpPr>
          <p:cNvPr id="903" name="Google Shape;903;p117"/>
          <p:cNvSpPr/>
          <p:nvPr/>
        </p:nvSpPr>
        <p:spPr>
          <a:xfrm>
            <a:off x="6259159" y="1968950"/>
            <a:ext cx="614100" cy="614100"/>
          </a:xfrm>
          <a:prstGeom prst="ellipse">
            <a:avLst/>
          </a:prstGeom>
          <a:solidFill>
            <a:srgbClr val="3CEFA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0FF00"/>
              </a:solidFill>
              <a:latin typeface="Arial"/>
              <a:ea typeface="Arial"/>
              <a:cs typeface="Arial"/>
              <a:sym typeface="Arial"/>
            </a:endParaRPr>
          </a:p>
        </p:txBody>
      </p:sp>
      <p:sp>
        <p:nvSpPr>
          <p:cNvPr id="904" name="Google Shape;904;p117"/>
          <p:cNvSpPr txBox="1"/>
          <p:nvPr/>
        </p:nvSpPr>
        <p:spPr>
          <a:xfrm>
            <a:off x="105175" y="2583050"/>
            <a:ext cx="1208100" cy="10656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400" b="0" i="0" u="none" strike="noStrike" cap="none">
                <a:solidFill>
                  <a:schemeClr val="dk1"/>
                </a:solidFill>
                <a:highlight>
                  <a:schemeClr val="lt1"/>
                </a:highlight>
                <a:latin typeface="Helvetica Neue Light"/>
                <a:ea typeface="Helvetica Neue Light"/>
                <a:cs typeface="Helvetica Neue Light"/>
                <a:sym typeface="Helvetica Neue Light"/>
              </a:rPr>
              <a:t>Estructura HTML.</a:t>
            </a: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905" name="Google Shape;905;p117"/>
          <p:cNvSpPr txBox="1"/>
          <p:nvPr/>
        </p:nvSpPr>
        <p:spPr>
          <a:xfrm>
            <a:off x="3570925" y="2955175"/>
            <a:ext cx="2069100" cy="10656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400" b="0" i="0" u="none" strike="noStrike" cap="none">
                <a:solidFill>
                  <a:schemeClr val="dk1"/>
                </a:solidFill>
                <a:highlight>
                  <a:schemeClr val="lt1"/>
                </a:highlight>
                <a:latin typeface="Helvetica Neue Light"/>
                <a:ea typeface="Helvetica Neue Light"/>
                <a:cs typeface="Helvetica Neue Light"/>
                <a:sym typeface="Helvetica Neue Light"/>
              </a:rPr>
              <a:t>Luego asigna el número de columnas y filas que tendrá tu grilla, así como un espacio de separación.</a:t>
            </a: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906" name="Google Shape;906;p117"/>
          <p:cNvSpPr txBox="1"/>
          <p:nvPr/>
        </p:nvSpPr>
        <p:spPr>
          <a:xfrm>
            <a:off x="4436862" y="1995889"/>
            <a:ext cx="270300" cy="36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3</a:t>
            </a:r>
            <a:endParaRPr sz="2400" b="0" i="0" u="none" strike="noStrike" cap="none">
              <a:solidFill>
                <a:srgbClr val="000000"/>
              </a:solidFill>
              <a:latin typeface="Helvetica Neue Light"/>
              <a:ea typeface="Helvetica Neue Light"/>
              <a:cs typeface="Helvetica Neue Light"/>
              <a:sym typeface="Helvetica Neue Light"/>
            </a:endParaRPr>
          </a:p>
        </p:txBody>
      </p:sp>
      <p:sp>
        <p:nvSpPr>
          <p:cNvPr id="907" name="Google Shape;907;p117"/>
          <p:cNvSpPr txBox="1"/>
          <p:nvPr/>
        </p:nvSpPr>
        <p:spPr>
          <a:xfrm>
            <a:off x="6391907" y="2023645"/>
            <a:ext cx="270300" cy="312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4</a:t>
            </a:r>
            <a:endParaRPr sz="2400" b="0" i="0" u="none" strike="noStrike" cap="none">
              <a:solidFill>
                <a:srgbClr val="000000"/>
              </a:solidFill>
              <a:latin typeface="Helvetica Neue Light"/>
              <a:ea typeface="Helvetica Neue Light"/>
              <a:cs typeface="Helvetica Neue Light"/>
              <a:sym typeface="Helvetica Neue Light"/>
            </a:endParaRPr>
          </a:p>
        </p:txBody>
      </p:sp>
      <p:pic>
        <p:nvPicPr>
          <p:cNvPr id="908" name="Google Shape;908;p117"/>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909" name="Google Shape;909;p117"/>
          <p:cNvSpPr txBox="1"/>
          <p:nvPr/>
        </p:nvSpPr>
        <p:spPr>
          <a:xfrm>
            <a:off x="1311600" y="349725"/>
            <a:ext cx="6520800" cy="989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0"/>
              </a:spcAft>
              <a:buClr>
                <a:schemeClr val="dk1"/>
              </a:buClr>
              <a:buSzPts val="1100"/>
              <a:buFont typeface="Arial"/>
              <a:buNone/>
            </a:pPr>
            <a:r>
              <a:rPr lang="en-GB" sz="4000" b="0" i="0" u="none" strike="noStrike" cap="none">
                <a:solidFill>
                  <a:schemeClr val="dk1"/>
                </a:solidFill>
                <a:latin typeface="Anton"/>
                <a:ea typeface="Anton"/>
                <a:cs typeface="Anton"/>
                <a:sym typeface="Anton"/>
              </a:rPr>
              <a:t>GRIDS MOBILE FIRST</a:t>
            </a:r>
            <a:endParaRPr sz="4000" b="0" i="1" u="none" strike="noStrike" cap="none">
              <a:solidFill>
                <a:schemeClr val="dk1"/>
              </a:solidFill>
              <a:latin typeface="Anton"/>
              <a:ea typeface="Anton"/>
              <a:cs typeface="Anton"/>
              <a:sym typeface="Anton"/>
            </a:endParaRPr>
          </a:p>
          <a:p>
            <a:pPr marL="0" marR="0" lvl="0" indent="0" algn="ctr" rtl="0">
              <a:lnSpc>
                <a:spcPct val="100000"/>
              </a:lnSpc>
              <a:spcBef>
                <a:spcPts val="600"/>
              </a:spcBef>
              <a:spcAft>
                <a:spcPts val="0"/>
              </a:spcAft>
              <a:buClr>
                <a:srgbClr val="000000"/>
              </a:buClr>
              <a:buSzPts val="3600"/>
              <a:buFont typeface="Arial"/>
              <a:buNone/>
            </a:pPr>
            <a:endParaRPr sz="3600" b="0" i="1" u="none" strike="noStrike" cap="none">
              <a:solidFill>
                <a:schemeClr val="dk1"/>
              </a:solidFill>
              <a:latin typeface="Anton"/>
              <a:ea typeface="Anton"/>
              <a:cs typeface="Anton"/>
              <a:sym typeface="Anton"/>
            </a:endParaRPr>
          </a:p>
        </p:txBody>
      </p:sp>
      <p:sp>
        <p:nvSpPr>
          <p:cNvPr id="910" name="Google Shape;910;p117"/>
          <p:cNvSpPr/>
          <p:nvPr/>
        </p:nvSpPr>
        <p:spPr>
          <a:xfrm>
            <a:off x="2270743" y="1968950"/>
            <a:ext cx="614100" cy="614100"/>
          </a:xfrm>
          <a:prstGeom prst="ellipse">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0FF00"/>
              </a:solidFill>
              <a:latin typeface="Arial"/>
              <a:ea typeface="Arial"/>
              <a:cs typeface="Arial"/>
              <a:sym typeface="Arial"/>
            </a:endParaRPr>
          </a:p>
        </p:txBody>
      </p:sp>
      <p:sp>
        <p:nvSpPr>
          <p:cNvPr id="911" name="Google Shape;911;p117"/>
          <p:cNvSpPr txBox="1"/>
          <p:nvPr/>
        </p:nvSpPr>
        <p:spPr>
          <a:xfrm>
            <a:off x="2374888" y="2014973"/>
            <a:ext cx="270300" cy="31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2</a:t>
            </a:r>
            <a:endParaRPr sz="2400" b="0" i="0" u="none" strike="noStrike" cap="none">
              <a:solidFill>
                <a:srgbClr val="000000"/>
              </a:solidFill>
              <a:latin typeface="Helvetica Neue Light"/>
              <a:ea typeface="Helvetica Neue Light"/>
              <a:cs typeface="Helvetica Neue Light"/>
              <a:sym typeface="Helvetica Neue Light"/>
            </a:endParaRPr>
          </a:p>
        </p:txBody>
      </p:sp>
      <p:sp>
        <p:nvSpPr>
          <p:cNvPr id="912" name="Google Shape;912;p117"/>
          <p:cNvSpPr/>
          <p:nvPr/>
        </p:nvSpPr>
        <p:spPr>
          <a:xfrm>
            <a:off x="402180" y="1968950"/>
            <a:ext cx="614100" cy="614100"/>
          </a:xfrm>
          <a:prstGeom prst="ellipse">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0FF00"/>
              </a:solidFill>
              <a:latin typeface="Arial"/>
              <a:ea typeface="Arial"/>
              <a:cs typeface="Arial"/>
              <a:sym typeface="Arial"/>
            </a:endParaRPr>
          </a:p>
        </p:txBody>
      </p:sp>
      <p:sp>
        <p:nvSpPr>
          <p:cNvPr id="913" name="Google Shape;913;p117"/>
          <p:cNvSpPr txBox="1"/>
          <p:nvPr/>
        </p:nvSpPr>
        <p:spPr>
          <a:xfrm>
            <a:off x="518775" y="2023648"/>
            <a:ext cx="270300" cy="31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1</a:t>
            </a:r>
            <a:endParaRPr sz="2400" b="0" i="0" u="none" strike="noStrike" cap="none">
              <a:solidFill>
                <a:srgbClr val="000000"/>
              </a:solidFill>
              <a:latin typeface="Helvetica Neue Light"/>
              <a:ea typeface="Helvetica Neue Light"/>
              <a:cs typeface="Helvetica Neue Light"/>
              <a:sym typeface="Helvetica Neue Light"/>
            </a:endParaRPr>
          </a:p>
        </p:txBody>
      </p:sp>
      <p:sp>
        <p:nvSpPr>
          <p:cNvPr id="914" name="Google Shape;914;p117"/>
          <p:cNvSpPr/>
          <p:nvPr/>
        </p:nvSpPr>
        <p:spPr>
          <a:xfrm>
            <a:off x="8127730" y="1968950"/>
            <a:ext cx="614100" cy="614100"/>
          </a:xfrm>
          <a:prstGeom prst="ellipse">
            <a:avLst/>
          </a:prstGeom>
          <a:solidFill>
            <a:srgbClr val="3CEF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0FF00"/>
              </a:solidFill>
              <a:latin typeface="Arial"/>
              <a:ea typeface="Arial"/>
              <a:cs typeface="Arial"/>
              <a:sym typeface="Arial"/>
            </a:endParaRPr>
          </a:p>
        </p:txBody>
      </p:sp>
      <p:sp>
        <p:nvSpPr>
          <p:cNvPr id="915" name="Google Shape;915;p117"/>
          <p:cNvSpPr txBox="1"/>
          <p:nvPr/>
        </p:nvSpPr>
        <p:spPr>
          <a:xfrm>
            <a:off x="8266162" y="1995889"/>
            <a:ext cx="270300" cy="36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Helvetica Neue Light"/>
                <a:ea typeface="Helvetica Neue Light"/>
                <a:cs typeface="Helvetica Neue Light"/>
                <a:sym typeface="Helvetica Neue Light"/>
              </a:rPr>
              <a:t>5</a:t>
            </a:r>
            <a:endParaRPr sz="2400" b="0" i="0" u="none" strike="noStrike" cap="none">
              <a:solidFill>
                <a:srgbClr val="000000"/>
              </a:solidFill>
              <a:latin typeface="Helvetica Neue Light"/>
              <a:ea typeface="Helvetica Neue Light"/>
              <a:cs typeface="Helvetica Neue Light"/>
              <a:sym typeface="Helvetica Neue Light"/>
            </a:endParaRPr>
          </a:p>
        </p:txBody>
      </p:sp>
      <p:sp>
        <p:nvSpPr>
          <p:cNvPr id="916" name="Google Shape;916;p117"/>
          <p:cNvSpPr txBox="1"/>
          <p:nvPr/>
        </p:nvSpPr>
        <p:spPr>
          <a:xfrm>
            <a:off x="1713538" y="3003125"/>
            <a:ext cx="1593000" cy="10656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500" b="0" i="0" u="none" strike="noStrike" cap="none">
                <a:solidFill>
                  <a:schemeClr val="dk1"/>
                </a:solidFill>
                <a:highlight>
                  <a:schemeClr val="lt1"/>
                </a:highlight>
                <a:latin typeface="Helvetica Neue Light"/>
                <a:ea typeface="Helvetica Neue Light"/>
                <a:cs typeface="Helvetica Neue Light"/>
                <a:sym typeface="Helvetica Neue Light"/>
              </a:rPr>
              <a:t>Asígnale a tu contenedor la propiedad de </a:t>
            </a:r>
            <a:r>
              <a:rPr lang="en-GB" sz="1500" b="1" i="0" u="none" strike="noStrike" cap="none">
                <a:solidFill>
                  <a:schemeClr val="dk1"/>
                </a:solidFill>
                <a:highlight>
                  <a:schemeClr val="lt1"/>
                </a:highlight>
                <a:latin typeface="Helvetica Neue"/>
                <a:ea typeface="Helvetica Neue"/>
                <a:cs typeface="Helvetica Neue"/>
                <a:sym typeface="Helvetica Neue"/>
              </a:rPr>
              <a:t>display: grid;</a:t>
            </a:r>
            <a:endParaRPr sz="1500" b="1" i="0" u="none" strike="noStrike" cap="none">
              <a:solidFill>
                <a:schemeClr val="dk1"/>
              </a:solidFill>
              <a:highlight>
                <a:schemeClr val="lt1"/>
              </a:highlight>
              <a:latin typeface="Helvetica Neue"/>
              <a:ea typeface="Helvetica Neue"/>
              <a:cs typeface="Helvetica Neue"/>
              <a:sym typeface="Helvetica Neue"/>
            </a:endParaRPr>
          </a:p>
          <a:p>
            <a:pPr marL="0" marR="0" lvl="0" indent="0" algn="ctr" rtl="0">
              <a:lnSpc>
                <a:spcPct val="115000"/>
              </a:lnSpc>
              <a:spcBef>
                <a:spcPts val="0"/>
              </a:spcBef>
              <a:spcAft>
                <a:spcPts val="0"/>
              </a:spcAft>
              <a:buClr>
                <a:srgbClr val="000000"/>
              </a:buClr>
              <a:buSzPts val="1800"/>
              <a:buFont typeface="Arial"/>
              <a:buNone/>
            </a:pPr>
            <a:endParaRPr sz="15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sp>
        <p:nvSpPr>
          <p:cNvPr id="917" name="Google Shape;917;p117"/>
          <p:cNvSpPr txBox="1"/>
          <p:nvPr/>
        </p:nvSpPr>
        <p:spPr>
          <a:xfrm>
            <a:off x="5531650" y="2934941"/>
            <a:ext cx="2069100" cy="13728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400" b="0" i="0" u="none" strike="noStrike" cap="none">
                <a:solidFill>
                  <a:schemeClr val="dk1"/>
                </a:solidFill>
                <a:highlight>
                  <a:schemeClr val="lt1"/>
                </a:highlight>
                <a:latin typeface="Helvetica Neue Light"/>
                <a:ea typeface="Helvetica Neue Light"/>
                <a:cs typeface="Helvetica Neue Light"/>
                <a:sym typeface="Helvetica Neue Light"/>
              </a:rPr>
              <a:t>Define el área que ocupará cada caja de tu contenedor. Asígnales un nombre y un color característico.</a:t>
            </a:r>
            <a:endParaRPr sz="14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endParaRPr sz="14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sp>
        <p:nvSpPr>
          <p:cNvPr id="918" name="Google Shape;918;p117"/>
          <p:cNvSpPr txBox="1"/>
          <p:nvPr/>
        </p:nvSpPr>
        <p:spPr>
          <a:xfrm>
            <a:off x="7654300" y="3067650"/>
            <a:ext cx="1494000" cy="13728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GB" sz="1400" b="0" i="0" u="none" strike="noStrike" cap="none">
                <a:solidFill>
                  <a:schemeClr val="dk1"/>
                </a:solidFill>
                <a:highlight>
                  <a:schemeClr val="lt1"/>
                </a:highlight>
                <a:latin typeface="Helvetica Neue Light"/>
                <a:ea typeface="Helvetica Neue Light"/>
                <a:cs typeface="Helvetica Neue Light"/>
                <a:sym typeface="Helvetica Neue Light"/>
              </a:rPr>
              <a:t>Determina cómo quieres que cada área sea acomodada en tu layout.</a:t>
            </a:r>
            <a:endParaRPr sz="14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endParaRPr sz="14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1800"/>
              <a:buFont typeface="Arial"/>
              <a:buNone/>
            </a:pPr>
            <a:endParaRPr sz="14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pic>
        <p:nvPicPr>
          <p:cNvPr id="923" name="Google Shape;923;p118"/>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924" name="Google Shape;924;p118"/>
          <p:cNvSpPr txBox="1"/>
          <p:nvPr/>
        </p:nvSpPr>
        <p:spPr>
          <a:xfrm>
            <a:off x="1009200" y="85875"/>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TABLET</a:t>
            </a:r>
            <a:endParaRPr sz="4000" b="0" i="1" u="none" strike="noStrike" cap="none">
              <a:solidFill>
                <a:srgbClr val="000000"/>
              </a:solidFill>
              <a:latin typeface="Anton"/>
              <a:ea typeface="Anton"/>
              <a:cs typeface="Anton"/>
              <a:sym typeface="Anton"/>
            </a:endParaRPr>
          </a:p>
        </p:txBody>
      </p:sp>
      <p:sp>
        <p:nvSpPr>
          <p:cNvPr id="925" name="Google Shape;925;p118"/>
          <p:cNvSpPr txBox="1"/>
          <p:nvPr/>
        </p:nvSpPr>
        <p:spPr>
          <a:xfrm>
            <a:off x="477475" y="1795625"/>
            <a:ext cx="4120200" cy="2411100"/>
          </a:xfrm>
          <a:prstGeom prst="rect">
            <a:avLst/>
          </a:prstGeom>
          <a:noFill/>
          <a:ln>
            <a:noFill/>
          </a:ln>
        </p:spPr>
        <p:txBody>
          <a:bodyPr spcFirstLastPara="1" wrap="square" lIns="91425" tIns="91425" rIns="91425" bIns="91425" anchor="t" anchorCtr="0">
            <a:noAutofit/>
          </a:bodyPr>
          <a:lstStyle/>
          <a:p>
            <a:pPr marL="457200" marR="0" lvl="0" indent="-336550" algn="just" rtl="0">
              <a:lnSpc>
                <a:spcPct val="115000"/>
              </a:lnSpc>
              <a:spcBef>
                <a:spcPts val="0"/>
              </a:spcBef>
              <a:spcAft>
                <a:spcPts val="0"/>
              </a:spcAft>
              <a:buClr>
                <a:srgbClr val="3CEFAB"/>
              </a:buClr>
              <a:buSzPts val="1700"/>
              <a:buFont typeface="Helvetica Neue Light"/>
              <a:buChar char="●"/>
            </a:pPr>
            <a:r>
              <a:rPr lang="en-GB" sz="1700" b="0" i="0" u="none" strike="noStrike" cap="none">
                <a:solidFill>
                  <a:schemeClr val="dk1"/>
                </a:solidFill>
                <a:latin typeface="Helvetica Neue Light"/>
                <a:ea typeface="Helvetica Neue Light"/>
                <a:cs typeface="Helvetica Neue Light"/>
                <a:sym typeface="Helvetica Neue Light"/>
              </a:rPr>
              <a:t>Para la versión tablet, lo primero que haces es cambiar la disposición de las columnas de tu Grid.</a:t>
            </a:r>
            <a:endParaRPr sz="1700" b="0" i="0" u="none" strike="noStrike" cap="none">
              <a:solidFill>
                <a:schemeClr val="dk1"/>
              </a:solidFill>
              <a:latin typeface="Helvetica Neue Light"/>
              <a:ea typeface="Helvetica Neue Light"/>
              <a:cs typeface="Helvetica Neue Light"/>
              <a:sym typeface="Helvetica Neue Light"/>
            </a:endParaRPr>
          </a:p>
          <a:p>
            <a:pPr marL="457200" marR="0" lvl="0" indent="-336550" algn="just" rtl="0">
              <a:lnSpc>
                <a:spcPct val="115000"/>
              </a:lnSpc>
              <a:spcBef>
                <a:spcPts val="0"/>
              </a:spcBef>
              <a:spcAft>
                <a:spcPts val="0"/>
              </a:spcAft>
              <a:buClr>
                <a:srgbClr val="3CEFAB"/>
              </a:buClr>
              <a:buSzPts val="1700"/>
              <a:buFont typeface="Helvetica Neue Light"/>
              <a:buChar char="●"/>
            </a:pPr>
            <a:r>
              <a:rPr lang="en-GB" sz="1700" b="0" i="0" u="none" strike="noStrike" cap="none">
                <a:solidFill>
                  <a:schemeClr val="dk1"/>
                </a:solidFill>
                <a:latin typeface="Helvetica Neue Light"/>
                <a:ea typeface="Helvetica Neue Light"/>
                <a:cs typeface="Helvetica Neue Light"/>
                <a:sym typeface="Helvetica Neue Light"/>
              </a:rPr>
              <a:t>Luego cambia la disposición de los ítems, esta vez usando el recurso de </a:t>
            </a:r>
            <a:r>
              <a:rPr lang="en-GB" sz="1700" b="0" i="1" u="none" strike="noStrike" cap="none">
                <a:solidFill>
                  <a:schemeClr val="dk1"/>
                </a:solidFill>
                <a:latin typeface="Helvetica Neue Light"/>
                <a:ea typeface="Helvetica Neue Light"/>
                <a:cs typeface="Helvetica Neue Light"/>
                <a:sym typeface="Helvetica Neue Light"/>
              </a:rPr>
              <a:t>grid-row</a:t>
            </a:r>
            <a:r>
              <a:rPr lang="en-GB" sz="1700" b="0" i="0" u="none" strike="noStrike" cap="none">
                <a:solidFill>
                  <a:schemeClr val="dk1"/>
                </a:solidFill>
                <a:latin typeface="Helvetica Neue Light"/>
                <a:ea typeface="Helvetica Neue Light"/>
                <a:cs typeface="Helvetica Neue Light"/>
                <a:sym typeface="Helvetica Neue Light"/>
              </a:rPr>
              <a:t> y </a:t>
            </a:r>
            <a:r>
              <a:rPr lang="en-GB" sz="1700" b="0" i="1" u="none" strike="noStrike" cap="none">
                <a:solidFill>
                  <a:schemeClr val="dk1"/>
                </a:solidFill>
                <a:latin typeface="Helvetica Neue Light"/>
                <a:ea typeface="Helvetica Neue Light"/>
                <a:cs typeface="Helvetica Neue Light"/>
                <a:sym typeface="Helvetica Neue Light"/>
              </a:rPr>
              <a:t>grid-column,</a:t>
            </a:r>
            <a:r>
              <a:rPr lang="en-GB" sz="1700" b="0" i="0" u="none" strike="noStrike" cap="none">
                <a:solidFill>
                  <a:schemeClr val="dk1"/>
                </a:solidFill>
                <a:latin typeface="Helvetica Neue Light"/>
                <a:ea typeface="Helvetica Neue Light"/>
                <a:cs typeface="Helvetica Neue Light"/>
                <a:sym typeface="Helvetica Neue Light"/>
              </a:rPr>
              <a:t> que es el método corto de</a:t>
            </a:r>
            <a:r>
              <a:rPr lang="en-GB" sz="1700" b="0" i="1" u="none" strike="noStrike" cap="none">
                <a:solidFill>
                  <a:schemeClr val="dk1"/>
                </a:solidFill>
                <a:latin typeface="Helvetica Neue Light"/>
                <a:ea typeface="Helvetica Neue Light"/>
                <a:cs typeface="Helvetica Neue Light"/>
                <a:sym typeface="Helvetica Neue Light"/>
              </a:rPr>
              <a:t> grid-row-start/end grid-column-start/end.</a:t>
            </a:r>
            <a:endParaRPr sz="1700" b="0" i="0" u="none" strike="noStrike" cap="none">
              <a:solidFill>
                <a:schemeClr val="dk1"/>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700"/>
              <a:buFont typeface="Arial"/>
              <a:buNone/>
            </a:pPr>
            <a:endParaRPr sz="1700" b="0" i="0" u="none" strike="noStrike" cap="none">
              <a:solidFill>
                <a:schemeClr val="dk1"/>
              </a:solidFill>
              <a:latin typeface="Didact Gothic"/>
              <a:ea typeface="Didact Gothic"/>
              <a:cs typeface="Didact Gothic"/>
              <a:sym typeface="Didact Gothic"/>
            </a:endParaRPr>
          </a:p>
          <a:p>
            <a:pPr marL="0" marR="0" lvl="0" indent="0" algn="just" rtl="0">
              <a:lnSpc>
                <a:spcPct val="115000"/>
              </a:lnSpc>
              <a:spcBef>
                <a:spcPts val="0"/>
              </a:spcBef>
              <a:spcAft>
                <a:spcPts val="0"/>
              </a:spcAft>
              <a:buClr>
                <a:srgbClr val="000000"/>
              </a:buClr>
              <a:buSzPts val="1700"/>
              <a:buFont typeface="Arial"/>
              <a:buNone/>
            </a:pPr>
            <a:endParaRPr sz="1700" b="0" i="0" u="none" strike="noStrike" cap="none">
              <a:solidFill>
                <a:schemeClr val="dk1"/>
              </a:solidFill>
              <a:latin typeface="Didact Gothic"/>
              <a:ea typeface="Didact Gothic"/>
              <a:cs typeface="Didact Gothic"/>
              <a:sym typeface="Didact Gothic"/>
            </a:endParaRPr>
          </a:p>
        </p:txBody>
      </p:sp>
      <p:sp>
        <p:nvSpPr>
          <p:cNvPr id="926" name="Google Shape;926;p118"/>
          <p:cNvSpPr txBox="1"/>
          <p:nvPr/>
        </p:nvSpPr>
        <p:spPr>
          <a:xfrm>
            <a:off x="904650" y="940025"/>
            <a:ext cx="7334700" cy="855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GB" sz="2000" b="0" i="0" u="none" strike="noStrike" cap="none">
                <a:solidFill>
                  <a:srgbClr val="000000"/>
                </a:solidFill>
                <a:latin typeface="Helvetica Neue Light"/>
                <a:ea typeface="Helvetica Neue Light"/>
                <a:cs typeface="Helvetica Neue Light"/>
                <a:sym typeface="Helvetica Neue Light"/>
              </a:rPr>
              <a:t>Siguiendo el ejemplo de las grillas por áreas:</a:t>
            </a:r>
            <a:endParaRPr sz="2000" b="0" i="0" u="none" strike="noStrike" cap="none">
              <a:solidFill>
                <a:srgbClr val="000000"/>
              </a:solidFill>
              <a:latin typeface="Helvetica Neue Light"/>
              <a:ea typeface="Helvetica Neue Light"/>
              <a:cs typeface="Helvetica Neue Light"/>
              <a:sym typeface="Helvetica Neue Light"/>
            </a:endParaRPr>
          </a:p>
        </p:txBody>
      </p:sp>
      <p:sp>
        <p:nvSpPr>
          <p:cNvPr id="927" name="Google Shape;927;p118"/>
          <p:cNvSpPr txBox="1"/>
          <p:nvPr/>
        </p:nvSpPr>
        <p:spPr>
          <a:xfrm>
            <a:off x="4764850" y="1434025"/>
            <a:ext cx="3899100" cy="3225600"/>
          </a:xfrm>
          <a:prstGeom prst="rect">
            <a:avLst/>
          </a:prstGeom>
          <a:solidFill>
            <a:srgbClr val="F3F3F3"/>
          </a:solidFill>
          <a:ln>
            <a:noFill/>
          </a:ln>
        </p:spPr>
        <p:txBody>
          <a:bodyPr spcFirstLastPara="1" wrap="square" lIns="91425" tIns="91425" rIns="91425" bIns="91425" anchor="t" anchorCtr="0">
            <a:noAutofit/>
          </a:bodyPr>
          <a:lstStyle/>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F92672"/>
                </a:solidFill>
                <a:latin typeface="Didact Gothic"/>
                <a:ea typeface="Didact Gothic"/>
                <a:cs typeface="Didact Gothic"/>
                <a:sym typeface="Didact Gothic"/>
              </a:rPr>
              <a:t>@</a:t>
            </a:r>
            <a:r>
              <a:rPr lang="en-GB" sz="1600" b="1" i="0" u="none" strike="noStrike" cap="none">
                <a:solidFill>
                  <a:srgbClr val="F92672"/>
                </a:solidFill>
                <a:latin typeface="Didact Gothic"/>
                <a:ea typeface="Didact Gothic"/>
                <a:cs typeface="Didact Gothic"/>
                <a:sym typeface="Didact Gothic"/>
              </a:rPr>
              <a:t>media</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92672"/>
                </a:solidFill>
                <a:latin typeface="Didact Gothic"/>
                <a:ea typeface="Didact Gothic"/>
                <a:cs typeface="Didact Gothic"/>
                <a:sym typeface="Didact Gothic"/>
              </a:rPr>
              <a:t>only</a:t>
            </a:r>
            <a:r>
              <a:rPr lang="en-GB" sz="1600" b="0" i="0" u="none" strike="noStrike" cap="none">
                <a:solidFill>
                  <a:srgbClr val="000000"/>
                </a:solidFill>
                <a:latin typeface="Didact Gothic"/>
                <a:ea typeface="Didact Gothic"/>
                <a:cs typeface="Didact Gothic"/>
                <a:sym typeface="Didact Gothic"/>
              </a:rPr>
              <a:t> screen </a:t>
            </a:r>
            <a:r>
              <a:rPr lang="en-GB" sz="1600" b="0" i="0" u="none" strike="noStrike" cap="none">
                <a:solidFill>
                  <a:srgbClr val="F92672"/>
                </a:solidFill>
                <a:latin typeface="Didact Gothic"/>
                <a:ea typeface="Didact Gothic"/>
                <a:cs typeface="Didact Gothic"/>
                <a:sym typeface="Didact Gothic"/>
              </a:rPr>
              <a:t>and</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min-width</a:t>
            </a:r>
            <a:r>
              <a:rPr lang="en-GB" sz="1600" b="0" i="0" u="none" strike="noStrike" cap="none">
                <a:solidFill>
                  <a:srgbClr val="000000"/>
                </a:solidFill>
                <a:latin typeface="Didact Gothic"/>
                <a:ea typeface="Didact Gothic"/>
                <a:cs typeface="Didact Gothic"/>
                <a:sym typeface="Didact Gothic"/>
              </a:rPr>
              <a:t>: 768px)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#grilla</a:t>
            </a: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grid-template-columns</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0000FF"/>
                </a:solidFill>
                <a:latin typeface="Didact Gothic"/>
                <a:ea typeface="Didact Gothic"/>
                <a:cs typeface="Didact Gothic"/>
                <a:sym typeface="Didact Gothic"/>
              </a:rPr>
              <a:t>repeat</a:t>
            </a:r>
            <a:r>
              <a:rPr lang="en-GB" sz="1600" b="0" i="0" u="none" strike="noStrike" cap="none">
                <a:solidFill>
                  <a:srgbClr val="000000"/>
                </a:solidFill>
                <a:latin typeface="Didact Gothic"/>
                <a:ea typeface="Didact Gothic"/>
                <a:cs typeface="Didact Gothic"/>
                <a:sym typeface="Didact Gothic"/>
              </a:rPr>
              <a:t>(4, 1fr);</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border</a:t>
            </a: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border</a:t>
            </a:r>
            <a:r>
              <a:rPr lang="en-GB" sz="1600" b="0" i="0" u="none" strike="noStrike" cap="none">
                <a:solidFill>
                  <a:srgbClr val="000000"/>
                </a:solidFill>
                <a:latin typeface="Didact Gothic"/>
                <a:ea typeface="Didact Gothic"/>
                <a:cs typeface="Didact Gothic"/>
                <a:sym typeface="Didact Gothic"/>
              </a:rPr>
              <a:t>: 4px solid black;</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background-color</a:t>
            </a:r>
            <a:r>
              <a:rPr lang="en-GB" sz="1600" b="0" i="0" u="none" strike="noStrike" cap="none">
                <a:solidFill>
                  <a:srgbClr val="000000"/>
                </a:solidFill>
                <a:latin typeface="Didact Gothic"/>
                <a:ea typeface="Didact Gothic"/>
                <a:cs typeface="Didact Gothic"/>
                <a:sym typeface="Didact Gothic"/>
              </a:rPr>
              <a:t>: blue;</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br>
              <a:rPr lang="en-GB" sz="1600" b="0" i="0" u="none" strike="noStrike" cap="none">
                <a:solidFill>
                  <a:srgbClr val="000000"/>
                </a:solidFill>
                <a:latin typeface="Didact Gothic"/>
                <a:ea typeface="Didact Gothic"/>
                <a:cs typeface="Didact Gothic"/>
                <a:sym typeface="Didact Gothic"/>
              </a:rPr>
            </a:br>
            <a:r>
              <a:rPr lang="en-GB" sz="1600" b="0" i="0" u="none" strike="noStrike" cap="none">
                <a:solidFill>
                  <a:srgbClr val="000000"/>
                </a:solidFill>
                <a:latin typeface="Didact Gothic"/>
                <a:ea typeface="Didact Gothic"/>
                <a:cs typeface="Didact Gothic"/>
                <a:sym typeface="Didact Gothic"/>
              </a:rPr>
              <a:t>}</a:t>
            </a:r>
            <a:endParaRPr sz="1200" b="0" i="0" u="none" strike="noStrike" cap="none">
              <a:solidFill>
                <a:srgbClr val="000000"/>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100"/>
              <a:buFont typeface="Arial"/>
              <a:buNone/>
            </a:pPr>
            <a:endParaRPr sz="1100" b="0" i="0" u="none" strike="noStrike" cap="none">
              <a:solidFill>
                <a:srgbClr val="800000"/>
              </a:solidFill>
              <a:latin typeface="Consolas"/>
              <a:ea typeface="Consolas"/>
              <a:cs typeface="Consolas"/>
              <a:sym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pic>
        <p:nvPicPr>
          <p:cNvPr id="932" name="Google Shape;932;p119"/>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933" name="Google Shape;933;p119"/>
          <p:cNvSpPr txBox="1"/>
          <p:nvPr/>
        </p:nvSpPr>
        <p:spPr>
          <a:xfrm>
            <a:off x="1009200" y="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chemeClr val="dk1"/>
              </a:buClr>
              <a:buSzPts val="1100"/>
              <a:buFont typeface="Arial"/>
              <a:buNone/>
            </a:pPr>
            <a:r>
              <a:rPr lang="en-GB" sz="4000" b="0" i="0" u="none" strike="noStrike" cap="none">
                <a:solidFill>
                  <a:schemeClr val="dk1"/>
                </a:solidFill>
                <a:latin typeface="Anton"/>
                <a:ea typeface="Anton"/>
                <a:cs typeface="Anton"/>
                <a:sym typeface="Anton"/>
              </a:rPr>
              <a:t>DESKTOP</a:t>
            </a:r>
            <a:endParaRPr sz="4000" b="0" i="1" u="none" strike="noStrike" cap="none">
              <a:solidFill>
                <a:srgbClr val="000000"/>
              </a:solidFill>
              <a:latin typeface="Anton"/>
              <a:ea typeface="Anton"/>
              <a:cs typeface="Anton"/>
              <a:sym typeface="Anton"/>
            </a:endParaRPr>
          </a:p>
        </p:txBody>
      </p:sp>
      <p:sp>
        <p:nvSpPr>
          <p:cNvPr id="934" name="Google Shape;934;p119"/>
          <p:cNvSpPr txBox="1"/>
          <p:nvPr/>
        </p:nvSpPr>
        <p:spPr>
          <a:xfrm>
            <a:off x="477475" y="1795625"/>
            <a:ext cx="4120200" cy="24111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3CEFAB"/>
              </a:buClr>
              <a:buSzPts val="1800"/>
              <a:buFont typeface="Helvetica Neue Light"/>
              <a:buChar char="●"/>
            </a:pPr>
            <a:r>
              <a:rPr lang="en-GB" sz="1800" b="0" i="0" u="none" strike="noStrike" cap="none">
                <a:solidFill>
                  <a:schemeClr val="dk1"/>
                </a:solidFill>
                <a:latin typeface="Helvetica Neue Light"/>
                <a:ea typeface="Helvetica Neue Light"/>
                <a:cs typeface="Helvetica Neue Light"/>
                <a:sym typeface="Helvetica Neue Light"/>
              </a:rPr>
              <a:t>Cambia la disposición de la grilla.</a:t>
            </a:r>
            <a:endParaRPr sz="1800" b="0" i="0" u="none" strike="noStrike" cap="none">
              <a:solidFill>
                <a:schemeClr val="dk1"/>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Helvetica Neue Light"/>
              <a:ea typeface="Helvetica Neue Light"/>
              <a:cs typeface="Helvetica Neue Light"/>
              <a:sym typeface="Helvetica Neue Light"/>
            </a:endParaRPr>
          </a:p>
          <a:p>
            <a:pPr marL="457200" marR="0" lvl="0" indent="-342900" algn="just" rtl="0">
              <a:lnSpc>
                <a:spcPct val="115000"/>
              </a:lnSpc>
              <a:spcBef>
                <a:spcPts val="0"/>
              </a:spcBef>
              <a:spcAft>
                <a:spcPts val="0"/>
              </a:spcAft>
              <a:buClr>
                <a:srgbClr val="3CEFAB"/>
              </a:buClr>
              <a:buSzPts val="1800"/>
              <a:buFont typeface="Helvetica Neue Light"/>
              <a:buChar char="●"/>
            </a:pPr>
            <a:r>
              <a:rPr lang="en-GB" sz="1800" b="0" i="0" u="none" strike="noStrike" cap="none">
                <a:solidFill>
                  <a:schemeClr val="dk1"/>
                </a:solidFill>
                <a:latin typeface="Helvetica Neue Light"/>
                <a:ea typeface="Helvetica Neue Light"/>
                <a:cs typeface="Helvetica Neue Light"/>
                <a:sym typeface="Helvetica Neue Light"/>
              </a:rPr>
              <a:t>Una vez más, cambia la disposición de los ítems. </a:t>
            </a:r>
            <a:endParaRPr sz="1600" b="0" i="0" u="none" strike="noStrike" cap="none">
              <a:solidFill>
                <a:schemeClr val="dk1"/>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Helvetica Neue Light"/>
              <a:ea typeface="Helvetica Neue Light"/>
              <a:cs typeface="Helvetica Neue Light"/>
              <a:sym typeface="Helvetica Neue Light"/>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Helvetica Neue Light"/>
              <a:ea typeface="Helvetica Neue Light"/>
              <a:cs typeface="Helvetica Neue Light"/>
              <a:sym typeface="Helvetica Neue Light"/>
            </a:endParaRPr>
          </a:p>
        </p:txBody>
      </p:sp>
      <p:sp>
        <p:nvSpPr>
          <p:cNvPr id="935" name="Google Shape;935;p119"/>
          <p:cNvSpPr txBox="1"/>
          <p:nvPr/>
        </p:nvSpPr>
        <p:spPr>
          <a:xfrm>
            <a:off x="1903050" y="878150"/>
            <a:ext cx="5337900" cy="855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Helvetica Neue Light"/>
                <a:ea typeface="Helvetica Neue Light"/>
                <a:cs typeface="Helvetica Neue Light"/>
                <a:sym typeface="Helvetica Neue Light"/>
              </a:rPr>
              <a:t>Siguiendo el ejemplo de las grillas por áreas:</a:t>
            </a:r>
            <a:endParaRPr sz="1800" b="0" i="0" u="none" strike="noStrike" cap="none">
              <a:solidFill>
                <a:srgbClr val="000000"/>
              </a:solidFill>
              <a:latin typeface="Helvetica Neue Light"/>
              <a:ea typeface="Helvetica Neue Light"/>
              <a:cs typeface="Helvetica Neue Light"/>
              <a:sym typeface="Helvetica Neue Light"/>
            </a:endParaRPr>
          </a:p>
        </p:txBody>
      </p:sp>
      <p:sp>
        <p:nvSpPr>
          <p:cNvPr id="936" name="Google Shape;936;p119"/>
          <p:cNvSpPr txBox="1"/>
          <p:nvPr/>
        </p:nvSpPr>
        <p:spPr>
          <a:xfrm>
            <a:off x="4764850" y="1434025"/>
            <a:ext cx="3899100" cy="3225600"/>
          </a:xfrm>
          <a:prstGeom prst="rect">
            <a:avLst/>
          </a:prstGeom>
          <a:solidFill>
            <a:srgbClr val="F3F3F3"/>
          </a:solidFill>
          <a:ln>
            <a:noFill/>
          </a:ln>
        </p:spPr>
        <p:txBody>
          <a:bodyPr spcFirstLastPara="1" wrap="square" lIns="91425" tIns="91425" rIns="91425" bIns="91425" anchor="t" anchorCtr="0">
            <a:noAutofit/>
          </a:bodyPr>
          <a:lstStyle/>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F92672"/>
                </a:solidFill>
                <a:latin typeface="Didact Gothic"/>
                <a:ea typeface="Didact Gothic"/>
                <a:cs typeface="Didact Gothic"/>
                <a:sym typeface="Didact Gothic"/>
              </a:rPr>
              <a:t>@</a:t>
            </a:r>
            <a:r>
              <a:rPr lang="en-GB" sz="1600" b="1" i="0" u="none" strike="noStrike" cap="none">
                <a:solidFill>
                  <a:srgbClr val="F92672"/>
                </a:solidFill>
                <a:latin typeface="Didact Gothic"/>
                <a:ea typeface="Didact Gothic"/>
                <a:cs typeface="Didact Gothic"/>
                <a:sym typeface="Didact Gothic"/>
              </a:rPr>
              <a:t>media</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92672"/>
                </a:solidFill>
                <a:latin typeface="Didact Gothic"/>
                <a:ea typeface="Didact Gothic"/>
                <a:cs typeface="Didact Gothic"/>
                <a:sym typeface="Didact Gothic"/>
              </a:rPr>
              <a:t>only</a:t>
            </a:r>
            <a:r>
              <a:rPr lang="en-GB" sz="1600" b="0" i="0" u="none" strike="noStrike" cap="none">
                <a:solidFill>
                  <a:srgbClr val="000000"/>
                </a:solidFill>
                <a:latin typeface="Didact Gothic"/>
                <a:ea typeface="Didact Gothic"/>
                <a:cs typeface="Didact Gothic"/>
                <a:sym typeface="Didact Gothic"/>
              </a:rPr>
              <a:t> screen </a:t>
            </a:r>
            <a:r>
              <a:rPr lang="en-GB" sz="1600" b="0" i="0" u="none" strike="noStrike" cap="none">
                <a:solidFill>
                  <a:srgbClr val="F92672"/>
                </a:solidFill>
                <a:latin typeface="Didact Gothic"/>
                <a:ea typeface="Didact Gothic"/>
                <a:cs typeface="Didact Gothic"/>
                <a:sym typeface="Didact Gothic"/>
              </a:rPr>
              <a:t>and</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min-width</a:t>
            </a:r>
            <a:r>
              <a:rPr lang="en-GB" sz="1600" b="0" i="0" u="none" strike="noStrike" cap="none">
                <a:solidFill>
                  <a:srgbClr val="000000"/>
                </a:solidFill>
                <a:latin typeface="Didact Gothic"/>
                <a:ea typeface="Didact Gothic"/>
                <a:cs typeface="Didact Gothic"/>
                <a:sym typeface="Didact Gothic"/>
              </a:rPr>
              <a:t>: 1024px)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#grilla</a:t>
            </a: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grid-template-columns</a:t>
            </a: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rgbClr val="0000FF"/>
                </a:solidFill>
                <a:latin typeface="Didact Gothic"/>
                <a:ea typeface="Didact Gothic"/>
                <a:cs typeface="Didact Gothic"/>
                <a:sym typeface="Didact Gothic"/>
              </a:rPr>
              <a:t>repeat</a:t>
            </a:r>
            <a:r>
              <a:rPr lang="en-GB" sz="1600" b="0" i="0" u="none" strike="noStrike" cap="none">
                <a:solidFill>
                  <a:srgbClr val="000000"/>
                </a:solidFill>
                <a:latin typeface="Didact Gothic"/>
                <a:ea typeface="Didact Gothic"/>
                <a:cs typeface="Didact Gothic"/>
                <a:sym typeface="Didact Gothic"/>
              </a:rPr>
              <a:t>(3, 1fr);</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endParaRPr sz="1600" b="0" i="0" u="none" strike="noStrike" cap="none">
              <a:solidFill>
                <a:srgbClr val="000000"/>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rgbClr val="000000"/>
                </a:solidFill>
                <a:latin typeface="Didact Gothic"/>
                <a:ea typeface="Didact Gothic"/>
                <a:cs typeface="Didact Gothic"/>
                <a:sym typeface="Didact Gothic"/>
              </a:rPr>
              <a:t>      </a:t>
            </a:r>
            <a:r>
              <a:rPr lang="en-GB" sz="1600" b="0" i="0" u="none" strike="noStrike" cap="none">
                <a:solidFill>
                  <a:schemeClr val="dk1"/>
                </a:solidFill>
                <a:latin typeface="Didact Gothic"/>
                <a:ea typeface="Didact Gothic"/>
                <a:cs typeface="Didact Gothic"/>
                <a:sym typeface="Didact Gothic"/>
              </a:rPr>
              <a:t>.</a:t>
            </a:r>
            <a:r>
              <a:rPr lang="en-GB" sz="1600" b="0" i="0" u="none" strike="noStrike" cap="none">
                <a:solidFill>
                  <a:srgbClr val="FF0000"/>
                </a:solidFill>
                <a:latin typeface="Didact Gothic"/>
                <a:ea typeface="Didact Gothic"/>
                <a:cs typeface="Didact Gothic"/>
                <a:sym typeface="Didact Gothic"/>
              </a:rPr>
              <a:t>border</a:t>
            </a:r>
            <a:r>
              <a:rPr lang="en-GB" sz="1600" b="0" i="0" u="none" strike="noStrike" cap="none">
                <a:solidFill>
                  <a:schemeClr val="dk1"/>
                </a:solidFill>
                <a:latin typeface="Didact Gothic"/>
                <a:ea typeface="Didact Gothic"/>
                <a:cs typeface="Didact Gothic"/>
                <a:sym typeface="Didact Gothic"/>
              </a:rPr>
              <a:t> {</a:t>
            </a:r>
            <a:endParaRPr sz="1600" b="0" i="0" u="none" strike="noStrike" cap="none">
              <a:solidFill>
                <a:schemeClr val="dk1"/>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chemeClr val="dk1"/>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border</a:t>
            </a:r>
            <a:r>
              <a:rPr lang="en-GB" sz="1600" b="0" i="0" u="none" strike="noStrike" cap="none">
                <a:solidFill>
                  <a:schemeClr val="dk1"/>
                </a:solidFill>
                <a:latin typeface="Didact Gothic"/>
                <a:ea typeface="Didact Gothic"/>
                <a:cs typeface="Didact Gothic"/>
                <a:sym typeface="Didact Gothic"/>
              </a:rPr>
              <a:t>: 4px solid black;</a:t>
            </a:r>
            <a:endParaRPr sz="1600" b="0" i="0" u="none" strike="noStrike" cap="none">
              <a:solidFill>
                <a:schemeClr val="dk1"/>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chemeClr val="dk1"/>
                </a:solidFill>
                <a:latin typeface="Didact Gothic"/>
                <a:ea typeface="Didact Gothic"/>
                <a:cs typeface="Didact Gothic"/>
                <a:sym typeface="Didact Gothic"/>
              </a:rPr>
              <a:t>    	</a:t>
            </a:r>
            <a:r>
              <a:rPr lang="en-GB" sz="1600" b="0" i="0" u="none" strike="noStrike" cap="none">
                <a:solidFill>
                  <a:srgbClr val="FF0000"/>
                </a:solidFill>
                <a:latin typeface="Didact Gothic"/>
                <a:ea typeface="Didact Gothic"/>
                <a:cs typeface="Didact Gothic"/>
                <a:sym typeface="Didact Gothic"/>
              </a:rPr>
              <a:t>background-color</a:t>
            </a:r>
            <a:r>
              <a:rPr lang="en-GB" sz="1600" b="0" i="0" u="none" strike="noStrike" cap="none">
                <a:solidFill>
                  <a:schemeClr val="dk1"/>
                </a:solidFill>
                <a:latin typeface="Didact Gothic"/>
                <a:ea typeface="Didact Gothic"/>
                <a:cs typeface="Didact Gothic"/>
                <a:sym typeface="Didact Gothic"/>
              </a:rPr>
              <a:t>: green;</a:t>
            </a:r>
            <a:endParaRPr sz="1600" b="0" i="0" u="none" strike="noStrike" cap="none">
              <a:solidFill>
                <a:schemeClr val="dk1"/>
              </a:solidFill>
              <a:latin typeface="Didact Gothic"/>
              <a:ea typeface="Didact Gothic"/>
              <a:cs typeface="Didact Gothic"/>
              <a:sym typeface="Didact Gothic"/>
            </a:endParaRPr>
          </a:p>
          <a:p>
            <a:pPr marL="0" marR="0" lvl="0" indent="0" algn="just" rtl="0">
              <a:lnSpc>
                <a:spcPct val="135714"/>
              </a:lnSpc>
              <a:spcBef>
                <a:spcPts val="0"/>
              </a:spcBef>
              <a:spcAft>
                <a:spcPts val="0"/>
              </a:spcAft>
              <a:buClr>
                <a:schemeClr val="dk1"/>
              </a:buClr>
              <a:buSzPts val="1100"/>
              <a:buFont typeface="Arial"/>
              <a:buNone/>
            </a:pPr>
            <a:r>
              <a:rPr lang="en-GB" sz="1600" b="0" i="0" u="none" strike="noStrike" cap="none">
                <a:solidFill>
                  <a:schemeClr val="dk1"/>
                </a:solidFill>
                <a:latin typeface="Didact Gothic"/>
                <a:ea typeface="Didact Gothic"/>
                <a:cs typeface="Didact Gothic"/>
                <a:sym typeface="Didact Gothic"/>
              </a:rPr>
              <a:t>     }</a:t>
            </a:r>
            <a:r>
              <a:rPr lang="en-GB" sz="1600" b="0" i="0" u="none" strike="noStrike" cap="none">
                <a:solidFill>
                  <a:srgbClr val="000000"/>
                </a:solidFill>
                <a:latin typeface="Didact Gothic"/>
                <a:ea typeface="Didact Gothic"/>
                <a:cs typeface="Didact Gothic"/>
                <a:sym typeface="Didact Gothic"/>
              </a:rPr>
              <a:t/>
            </a:r>
            <a:br>
              <a:rPr lang="en-GB" sz="1600" b="0" i="0" u="none" strike="noStrike" cap="none">
                <a:solidFill>
                  <a:srgbClr val="000000"/>
                </a:solidFill>
                <a:latin typeface="Didact Gothic"/>
                <a:ea typeface="Didact Gothic"/>
                <a:cs typeface="Didact Gothic"/>
                <a:sym typeface="Didact Gothic"/>
              </a:rPr>
            </a:br>
            <a:r>
              <a:rPr lang="en-GB" sz="1600" b="0" i="0" u="none" strike="noStrike" cap="none">
                <a:solidFill>
                  <a:srgbClr val="000000"/>
                </a:solidFill>
                <a:latin typeface="Didact Gothic"/>
                <a:ea typeface="Didact Gothic"/>
                <a:cs typeface="Didact Gothic"/>
                <a:sym typeface="Didact Gothic"/>
              </a:rPr>
              <a:t>}</a:t>
            </a:r>
            <a:endParaRPr sz="1200" b="0" i="0" u="none" strike="noStrike" cap="none">
              <a:solidFill>
                <a:srgbClr val="000000"/>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100"/>
              <a:buFont typeface="Arial"/>
              <a:buNone/>
            </a:pPr>
            <a:endParaRPr sz="1100" b="0" i="0" u="none" strike="noStrike" cap="none">
              <a:solidFill>
                <a:srgbClr val="800000"/>
              </a:solidFill>
              <a:latin typeface="Consolas"/>
              <a:ea typeface="Consolas"/>
              <a:cs typeface="Consolas"/>
              <a:sym typeface="Consola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pic>
        <p:nvPicPr>
          <p:cNvPr id="941" name="Google Shape;941;p120"/>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942" name="Google Shape;942;p120"/>
          <p:cNvSpPr txBox="1"/>
          <p:nvPr/>
        </p:nvSpPr>
        <p:spPr>
          <a:xfrm>
            <a:off x="1009200" y="29360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0" u="none" strike="noStrike" cap="none">
                <a:solidFill>
                  <a:schemeClr val="dk1"/>
                </a:solidFill>
                <a:latin typeface="Anton"/>
                <a:ea typeface="Anton"/>
                <a:cs typeface="Anton"/>
                <a:sym typeface="Anton"/>
              </a:rPr>
              <a:t>RESULTADO</a:t>
            </a:r>
            <a:endParaRPr sz="4000" b="0" i="1" u="none" strike="noStrike" cap="none">
              <a:solidFill>
                <a:srgbClr val="000000"/>
              </a:solidFill>
              <a:latin typeface="Anton"/>
              <a:ea typeface="Anton"/>
              <a:cs typeface="Anton"/>
              <a:sym typeface="Anton"/>
            </a:endParaRPr>
          </a:p>
        </p:txBody>
      </p:sp>
      <p:pic>
        <p:nvPicPr>
          <p:cNvPr id="943" name="Google Shape;943;p120"/>
          <p:cNvPicPr preferRelativeResize="0"/>
          <p:nvPr/>
        </p:nvPicPr>
        <p:blipFill rotWithShape="1">
          <a:blip r:embed="rId4">
            <a:alphaModFix/>
          </a:blip>
          <a:srcRect/>
          <a:stretch/>
        </p:blipFill>
        <p:spPr>
          <a:xfrm>
            <a:off x="1245213" y="1358890"/>
            <a:ext cx="6653582" cy="339538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948" name="Google Shape;948;p121"/>
          <p:cNvPicPr preferRelativeResize="0"/>
          <p:nvPr/>
        </p:nvPicPr>
        <p:blipFill rotWithShape="1">
          <a:blip r:embed="rId3">
            <a:alphaModFix/>
          </a:blip>
          <a:srcRect/>
          <a:stretch/>
        </p:blipFill>
        <p:spPr>
          <a:xfrm>
            <a:off x="7567925" y="4659625"/>
            <a:ext cx="1186526" cy="330675"/>
          </a:xfrm>
          <a:prstGeom prst="rect">
            <a:avLst/>
          </a:prstGeom>
          <a:noFill/>
          <a:ln>
            <a:noFill/>
          </a:ln>
        </p:spPr>
      </p:pic>
      <p:sp>
        <p:nvSpPr>
          <p:cNvPr id="949" name="Google Shape;949;p121"/>
          <p:cNvSpPr txBox="1"/>
          <p:nvPr/>
        </p:nvSpPr>
        <p:spPr>
          <a:xfrm>
            <a:off x="1009200" y="36735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1" u="none" strike="noStrike" cap="none">
                <a:solidFill>
                  <a:srgbClr val="000000"/>
                </a:solidFill>
                <a:latin typeface="Anton"/>
                <a:ea typeface="Anton"/>
                <a:cs typeface="Anton"/>
                <a:sym typeface="Anton"/>
              </a:rPr>
              <a:t>META VIEWPORT</a:t>
            </a:r>
            <a:endParaRPr sz="4000" b="0" i="1" u="none" strike="noStrike" cap="none">
              <a:solidFill>
                <a:srgbClr val="000000"/>
              </a:solidFill>
              <a:latin typeface="Anton"/>
              <a:ea typeface="Anton"/>
              <a:cs typeface="Anton"/>
              <a:sym typeface="Anton"/>
            </a:endParaRPr>
          </a:p>
        </p:txBody>
      </p:sp>
      <p:sp>
        <p:nvSpPr>
          <p:cNvPr id="950" name="Google Shape;950;p121"/>
          <p:cNvSpPr txBox="1"/>
          <p:nvPr/>
        </p:nvSpPr>
        <p:spPr>
          <a:xfrm>
            <a:off x="348750" y="1530575"/>
            <a:ext cx="8446500" cy="3330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600"/>
              <a:buFont typeface="Arial"/>
              <a:buNone/>
            </a:pPr>
            <a:r>
              <a:rPr lang="en-GB" sz="1600" b="0" i="0" u="none" strike="noStrike" cap="none">
                <a:solidFill>
                  <a:schemeClr val="dk1"/>
                </a:solidFill>
                <a:latin typeface="Helvetica Neue Light"/>
                <a:ea typeface="Helvetica Neue Light"/>
                <a:cs typeface="Helvetica Neue Light"/>
                <a:sym typeface="Helvetica Neue Light"/>
              </a:rPr>
              <a:t>Las páginas optimizadas para diferentes dispositivos deben incluir la etiqueta </a:t>
            </a:r>
            <a:r>
              <a:rPr lang="en-GB" sz="1600" b="1" i="0" u="none" strike="noStrike" cap="none">
                <a:solidFill>
                  <a:schemeClr val="dk1"/>
                </a:solidFill>
                <a:latin typeface="Helvetica Neue"/>
                <a:ea typeface="Helvetica Neue"/>
                <a:cs typeface="Helvetica Neue"/>
                <a:sym typeface="Helvetica Neue"/>
              </a:rPr>
              <a:t>&lt;meta&gt; </a:t>
            </a:r>
            <a:r>
              <a:rPr lang="en-GB" sz="1600" b="0" i="1" u="none" strike="noStrike" cap="none">
                <a:solidFill>
                  <a:schemeClr val="dk1"/>
                </a:solidFill>
                <a:highlight>
                  <a:srgbClr val="E0FF00"/>
                </a:highlight>
                <a:latin typeface="Helvetica Neue Light"/>
                <a:ea typeface="Helvetica Neue Light"/>
                <a:cs typeface="Helvetica Neue Light"/>
                <a:sym typeface="Helvetica Neue Light"/>
              </a:rPr>
              <a:t>viewport,</a:t>
            </a:r>
            <a:r>
              <a:rPr lang="en-GB" sz="1600" b="0" i="1" u="none" strike="noStrike" cap="none">
                <a:solidFill>
                  <a:schemeClr val="dk1"/>
                </a:solidFill>
                <a:latin typeface="Helvetica Neue Light"/>
                <a:ea typeface="Helvetica Neue Light"/>
                <a:cs typeface="Helvetica Neue Light"/>
                <a:sym typeface="Helvetica Neue Light"/>
              </a:rPr>
              <a:t> </a:t>
            </a:r>
            <a:r>
              <a:rPr lang="en-GB" sz="1600" b="0" i="0" u="none" strike="noStrike" cap="none">
                <a:solidFill>
                  <a:schemeClr val="dk1"/>
                </a:solidFill>
                <a:latin typeface="Helvetica Neue Light"/>
                <a:ea typeface="Helvetica Neue Light"/>
                <a:cs typeface="Helvetica Neue Light"/>
                <a:sym typeface="Helvetica Neue Light"/>
              </a:rPr>
              <a:t>en el encabezado del documento HTML. Una etiqueta </a:t>
            </a:r>
            <a:r>
              <a:rPr lang="en-GB" sz="1600" b="1" i="0" u="none" strike="noStrike" cap="none">
                <a:solidFill>
                  <a:schemeClr val="dk1"/>
                </a:solidFill>
                <a:latin typeface="Helvetica Neue"/>
                <a:ea typeface="Helvetica Neue"/>
                <a:cs typeface="Helvetica Neue"/>
                <a:sym typeface="Helvetica Neue"/>
              </a:rPr>
              <a:t>&lt;meta&gt;</a:t>
            </a:r>
            <a:r>
              <a:rPr lang="en-GB" sz="1600" b="0" i="0" u="none" strike="noStrike" cap="none">
                <a:solidFill>
                  <a:schemeClr val="dk1"/>
                </a:solidFill>
                <a:latin typeface="Helvetica Neue Light"/>
                <a:ea typeface="Helvetica Neue Light"/>
                <a:cs typeface="Helvetica Neue Light"/>
                <a:sym typeface="Helvetica Neue Light"/>
              </a:rPr>
              <a:t> </a:t>
            </a:r>
            <a:r>
              <a:rPr lang="en-GB" sz="1600" b="0" i="1" u="none" strike="noStrike" cap="none">
                <a:solidFill>
                  <a:schemeClr val="dk1"/>
                </a:solidFill>
                <a:highlight>
                  <a:srgbClr val="E0FF00"/>
                </a:highlight>
                <a:latin typeface="Helvetica Neue Light"/>
                <a:ea typeface="Helvetica Neue Light"/>
                <a:cs typeface="Helvetica Neue Light"/>
                <a:sym typeface="Helvetica Neue Light"/>
              </a:rPr>
              <a:t>viewport </a:t>
            </a:r>
            <a:r>
              <a:rPr lang="en-GB" sz="1600" b="0" i="0" u="none" strike="noStrike" cap="none">
                <a:solidFill>
                  <a:schemeClr val="dk1"/>
                </a:solidFill>
                <a:latin typeface="Helvetica Neue Light"/>
                <a:ea typeface="Helvetica Neue Light"/>
                <a:cs typeface="Helvetica Neue Light"/>
                <a:sym typeface="Helvetica Neue Light"/>
              </a:rPr>
              <a:t>da al navegador las instrucciones sobre cómo controlar las dimensiones, y el ajuste a escala de la página.</a:t>
            </a:r>
            <a:endParaRPr sz="1600" b="0" i="0" u="none" strike="noStrike" cap="none">
              <a:solidFill>
                <a:schemeClr val="dk1"/>
              </a:solidFill>
              <a:latin typeface="Helvetica Neue Light"/>
              <a:ea typeface="Helvetica Neue Light"/>
              <a:cs typeface="Helvetica Neue Light"/>
              <a:sym typeface="Helvetica Neue Light"/>
            </a:endParaRPr>
          </a:p>
          <a:p>
            <a:pPr marL="457200" marR="0" lvl="0" indent="-330200" algn="just" rtl="0">
              <a:lnSpc>
                <a:spcPct val="135714"/>
              </a:lnSpc>
              <a:spcBef>
                <a:spcPts val="600"/>
              </a:spcBef>
              <a:spcAft>
                <a:spcPts val="0"/>
              </a:spcAft>
              <a:buClr>
                <a:srgbClr val="3CEFAB"/>
              </a:buClr>
              <a:buSzPts val="1600"/>
              <a:buFont typeface="Lato"/>
              <a:buChar char="●"/>
            </a:pP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Usa la etiqueta</a:t>
            </a:r>
            <a:r>
              <a:rPr lang="en-GB" sz="1600" b="1" i="0" u="none" strike="noStrike" cap="none">
                <a:solidFill>
                  <a:schemeClr val="dk1"/>
                </a:solidFill>
                <a:highlight>
                  <a:srgbClr val="FFFFFF"/>
                </a:highlight>
                <a:latin typeface="Helvetica Neue"/>
                <a:ea typeface="Helvetica Neue"/>
                <a:cs typeface="Helvetica Neue"/>
                <a:sym typeface="Helvetica Neue"/>
              </a:rPr>
              <a:t> &lt;meta&gt;</a:t>
            </a: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 </a:t>
            </a:r>
            <a:r>
              <a:rPr lang="en-GB" sz="1600" b="0" i="1" u="none" strike="noStrike" cap="none">
                <a:solidFill>
                  <a:schemeClr val="dk1"/>
                </a:solidFill>
                <a:highlight>
                  <a:srgbClr val="E0FF00"/>
                </a:highlight>
                <a:latin typeface="Helvetica Neue Light"/>
                <a:ea typeface="Helvetica Neue Light"/>
                <a:cs typeface="Helvetica Neue Light"/>
                <a:sym typeface="Helvetica Neue Light"/>
              </a:rPr>
              <a:t>viewport </a:t>
            </a: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para controlar el ancho y el ajuste de la ventana de visualización del navegador.</a:t>
            </a:r>
            <a:endParaRPr sz="16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457200" marR="0" lvl="0" indent="-330200" algn="just" rtl="0">
              <a:lnSpc>
                <a:spcPct val="135714"/>
              </a:lnSpc>
              <a:spcBef>
                <a:spcPts val="0"/>
              </a:spcBef>
              <a:spcAft>
                <a:spcPts val="0"/>
              </a:spcAft>
              <a:buClr>
                <a:srgbClr val="3CEFAB"/>
              </a:buClr>
              <a:buSzPts val="1600"/>
              <a:buFont typeface="Helvetica Neue Light"/>
              <a:buChar char="●"/>
            </a:pP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Incluye </a:t>
            </a:r>
            <a:r>
              <a:rPr lang="en-GB" sz="1600" b="0" i="1" u="none" strike="noStrike" cap="none">
                <a:solidFill>
                  <a:schemeClr val="dk1"/>
                </a:solidFill>
                <a:highlight>
                  <a:srgbClr val="E0FF00"/>
                </a:highlight>
                <a:latin typeface="Helvetica Neue Light"/>
                <a:ea typeface="Helvetica Neue Light"/>
                <a:cs typeface="Helvetica Neue Light"/>
                <a:sym typeface="Helvetica Neue Light"/>
              </a:rPr>
              <a:t>width=device-width</a:t>
            </a: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 para hacer coincidir el ancho de la pantalla en píxeles independientes del dispositivo.</a:t>
            </a:r>
            <a:endParaRPr sz="1600" b="0" i="0" u="none" strike="noStrike" cap="none">
              <a:solidFill>
                <a:schemeClr val="dk1"/>
              </a:solidFill>
              <a:highlight>
                <a:srgbClr val="FFFFFF"/>
              </a:highlight>
              <a:latin typeface="Helvetica Neue Light"/>
              <a:ea typeface="Helvetica Neue Light"/>
              <a:cs typeface="Helvetica Neue Light"/>
              <a:sym typeface="Helvetica Neue Light"/>
            </a:endParaRPr>
          </a:p>
          <a:p>
            <a:pPr marL="457200" marR="0" lvl="0" indent="-330200" algn="just" rtl="0">
              <a:lnSpc>
                <a:spcPct val="135714"/>
              </a:lnSpc>
              <a:spcBef>
                <a:spcPts val="0"/>
              </a:spcBef>
              <a:spcAft>
                <a:spcPts val="0"/>
              </a:spcAft>
              <a:buClr>
                <a:srgbClr val="3CEFAB"/>
              </a:buClr>
              <a:buSzPts val="1600"/>
              <a:buFont typeface="Helvetica Neue Light"/>
              <a:buChar char="●"/>
            </a:pP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Incluye</a:t>
            </a:r>
            <a:r>
              <a:rPr lang="en-GB" sz="1600" b="0" i="1" u="none" strike="noStrike" cap="none">
                <a:solidFill>
                  <a:schemeClr val="dk1"/>
                </a:solidFill>
                <a:highlight>
                  <a:srgbClr val="FFFFFF"/>
                </a:highlight>
                <a:latin typeface="Helvetica Neue Light"/>
                <a:ea typeface="Helvetica Neue Light"/>
                <a:cs typeface="Helvetica Neue Light"/>
                <a:sym typeface="Helvetica Neue Light"/>
              </a:rPr>
              <a:t> </a:t>
            </a:r>
            <a:r>
              <a:rPr lang="en-GB" sz="1600" b="0" i="1" u="none" strike="noStrike" cap="none">
                <a:solidFill>
                  <a:schemeClr val="dk1"/>
                </a:solidFill>
                <a:highlight>
                  <a:srgbClr val="E0FF00"/>
                </a:highlight>
                <a:latin typeface="Helvetica Neue Light"/>
                <a:ea typeface="Helvetica Neue Light"/>
                <a:cs typeface="Helvetica Neue Light"/>
                <a:sym typeface="Helvetica Neue Light"/>
              </a:rPr>
              <a:t>initial-scale=1</a:t>
            </a:r>
            <a:r>
              <a:rPr lang="en-GB" sz="1600" b="0" i="0" u="none" strike="noStrike" cap="none">
                <a:solidFill>
                  <a:schemeClr val="dk1"/>
                </a:solidFill>
                <a:highlight>
                  <a:srgbClr val="FFFFFF"/>
                </a:highlight>
                <a:latin typeface="Helvetica Neue Light"/>
                <a:ea typeface="Helvetica Neue Light"/>
                <a:cs typeface="Helvetica Neue Light"/>
                <a:sym typeface="Helvetica Neue Light"/>
              </a:rPr>
              <a:t> para establecer una relación de 1:1 entre los píxeles CSS, y los píxeles independientes del dispositivo.</a:t>
            </a:r>
            <a:endParaRPr sz="16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pic>
        <p:nvPicPr>
          <p:cNvPr id="955" name="Google Shape;955;p122"/>
          <p:cNvPicPr preferRelativeResize="0"/>
          <p:nvPr/>
        </p:nvPicPr>
        <p:blipFill rotWithShape="1">
          <a:blip r:embed="rId3">
            <a:alphaModFix/>
          </a:blip>
          <a:srcRect/>
          <a:stretch/>
        </p:blipFill>
        <p:spPr>
          <a:xfrm>
            <a:off x="7567925" y="4659625"/>
            <a:ext cx="1186526" cy="330675"/>
          </a:xfrm>
          <a:prstGeom prst="rect">
            <a:avLst/>
          </a:prstGeom>
          <a:noFill/>
          <a:ln>
            <a:noFill/>
          </a:ln>
        </p:spPr>
      </p:pic>
      <p:graphicFrame>
        <p:nvGraphicFramePr>
          <p:cNvPr id="956" name="Google Shape;956;p122"/>
          <p:cNvGraphicFramePr/>
          <p:nvPr/>
        </p:nvGraphicFramePr>
        <p:xfrm>
          <a:off x="1005900" y="1885350"/>
          <a:ext cx="3000000" cy="3000000"/>
        </p:xfrm>
        <a:graphic>
          <a:graphicData uri="http://schemas.openxmlformats.org/drawingml/2006/table">
            <a:tbl>
              <a:tblPr>
                <a:noFill/>
                <a:tableStyleId>{65DF0AC2-A3B4-41DC-B7AA-F0F7B89356A6}</a:tableStyleId>
              </a:tblPr>
              <a:tblGrid>
                <a:gridCol w="7554525"/>
              </a:tblGrid>
              <a:tr h="0">
                <a:tc>
                  <a:txBody>
                    <a:bodyPr/>
                    <a:lstStyle/>
                    <a:p>
                      <a:pPr marL="0" marR="0" lvl="0" indent="0" algn="just" rtl="0">
                        <a:lnSpc>
                          <a:spcPct val="135714"/>
                        </a:lnSpc>
                        <a:spcBef>
                          <a:spcPts val="0"/>
                        </a:spcBef>
                        <a:spcAft>
                          <a:spcPts val="0"/>
                        </a:spcAft>
                        <a:buClr>
                          <a:srgbClr val="000000"/>
                        </a:buClr>
                        <a:buSzPts val="1800"/>
                        <a:buFont typeface="Arial"/>
                        <a:buNone/>
                      </a:pPr>
                      <a:r>
                        <a:rPr lang="en-GB" sz="1800" u="none" strike="noStrike" cap="none">
                          <a:solidFill>
                            <a:srgbClr val="808080"/>
                          </a:solidFill>
                          <a:latin typeface="Didact Gothic"/>
                          <a:ea typeface="Didact Gothic"/>
                          <a:cs typeface="Didact Gothic"/>
                          <a:sym typeface="Didact Gothic"/>
                        </a:rPr>
                        <a:t>&lt;</a:t>
                      </a:r>
                      <a:r>
                        <a:rPr lang="en-GB" sz="1800" u="none" strike="noStrike" cap="none">
                          <a:solidFill>
                            <a:srgbClr val="569CD6"/>
                          </a:solidFill>
                          <a:latin typeface="Didact Gothic"/>
                          <a:ea typeface="Didact Gothic"/>
                          <a:cs typeface="Didact Gothic"/>
                          <a:sym typeface="Didact Gothic"/>
                        </a:rPr>
                        <a:t>meta</a:t>
                      </a:r>
                      <a:r>
                        <a:rPr lang="en-GB" sz="1800" u="none" strike="noStrike" cap="none">
                          <a:solidFill>
                            <a:srgbClr val="D4D4D4"/>
                          </a:solidFill>
                          <a:latin typeface="Didact Gothic"/>
                          <a:ea typeface="Didact Gothic"/>
                          <a:cs typeface="Didact Gothic"/>
                          <a:sym typeface="Didact Gothic"/>
                        </a:rPr>
                        <a:t> </a:t>
                      </a:r>
                      <a:r>
                        <a:rPr lang="en-GB" sz="1800" u="none" strike="noStrike" cap="none">
                          <a:solidFill>
                            <a:srgbClr val="9CDCFE"/>
                          </a:solidFill>
                          <a:latin typeface="Didact Gothic"/>
                          <a:ea typeface="Didact Gothic"/>
                          <a:cs typeface="Didact Gothic"/>
                          <a:sym typeface="Didact Gothic"/>
                        </a:rPr>
                        <a:t>name</a:t>
                      </a:r>
                      <a:r>
                        <a:rPr lang="en-GB" sz="1800" u="none" strike="noStrike" cap="none">
                          <a:solidFill>
                            <a:srgbClr val="D4D4D4"/>
                          </a:solidFill>
                          <a:latin typeface="Didact Gothic"/>
                          <a:ea typeface="Didact Gothic"/>
                          <a:cs typeface="Didact Gothic"/>
                          <a:sym typeface="Didact Gothic"/>
                        </a:rPr>
                        <a:t>=</a:t>
                      </a:r>
                      <a:r>
                        <a:rPr lang="en-GB" sz="1800" u="none" strike="noStrike" cap="none">
                          <a:solidFill>
                            <a:srgbClr val="CE9178"/>
                          </a:solidFill>
                          <a:latin typeface="Didact Gothic"/>
                          <a:ea typeface="Didact Gothic"/>
                          <a:cs typeface="Didact Gothic"/>
                          <a:sym typeface="Didact Gothic"/>
                        </a:rPr>
                        <a:t>"viewport"</a:t>
                      </a:r>
                      <a:r>
                        <a:rPr lang="en-GB" sz="1800" u="none" strike="noStrike" cap="none">
                          <a:solidFill>
                            <a:srgbClr val="D4D4D4"/>
                          </a:solidFill>
                          <a:latin typeface="Didact Gothic"/>
                          <a:ea typeface="Didact Gothic"/>
                          <a:cs typeface="Didact Gothic"/>
                          <a:sym typeface="Didact Gothic"/>
                        </a:rPr>
                        <a:t> </a:t>
                      </a:r>
                      <a:r>
                        <a:rPr lang="en-GB" sz="1800" u="none" strike="noStrike" cap="none">
                          <a:solidFill>
                            <a:srgbClr val="9CDCFE"/>
                          </a:solidFill>
                          <a:latin typeface="Didact Gothic"/>
                          <a:ea typeface="Didact Gothic"/>
                          <a:cs typeface="Didact Gothic"/>
                          <a:sym typeface="Didact Gothic"/>
                        </a:rPr>
                        <a:t>content</a:t>
                      </a:r>
                      <a:r>
                        <a:rPr lang="en-GB" sz="1800" u="none" strike="noStrike" cap="none">
                          <a:solidFill>
                            <a:srgbClr val="D4D4D4"/>
                          </a:solidFill>
                          <a:latin typeface="Didact Gothic"/>
                          <a:ea typeface="Didact Gothic"/>
                          <a:cs typeface="Didact Gothic"/>
                          <a:sym typeface="Didact Gothic"/>
                        </a:rPr>
                        <a:t>=</a:t>
                      </a:r>
                      <a:r>
                        <a:rPr lang="en-GB" sz="1800" u="none" strike="noStrike" cap="none">
                          <a:solidFill>
                            <a:srgbClr val="CE9178"/>
                          </a:solidFill>
                          <a:latin typeface="Didact Gothic"/>
                          <a:ea typeface="Didact Gothic"/>
                          <a:cs typeface="Didact Gothic"/>
                          <a:sym typeface="Didact Gothic"/>
                        </a:rPr>
                        <a:t>"width=device-width, initial-scale=1.0"</a:t>
                      </a:r>
                      <a:r>
                        <a:rPr lang="en-GB" sz="1800" u="none" strike="noStrike" cap="none">
                          <a:solidFill>
                            <a:srgbClr val="808080"/>
                          </a:solidFill>
                          <a:latin typeface="Didact Gothic"/>
                          <a:ea typeface="Didact Gothic"/>
                          <a:cs typeface="Didact Gothic"/>
                          <a:sym typeface="Didact Gothic"/>
                        </a:rPr>
                        <a:t>/&gt;</a:t>
                      </a:r>
                      <a:endParaRPr sz="1800" u="none" strike="noStrike" cap="none">
                        <a:solidFill>
                          <a:srgbClr val="808080"/>
                        </a:solidFill>
                        <a:latin typeface="Didact Gothic"/>
                        <a:ea typeface="Didact Gothic"/>
                        <a:cs typeface="Didact Gothic"/>
                        <a:sym typeface="Didact Gothic"/>
                      </a:endParaRPr>
                    </a:p>
                  </a:txBody>
                  <a:tcPr marL="63500" marR="63500" marT="63500" marB="63500">
                    <a:solidFill>
                      <a:srgbClr val="0C343D"/>
                    </a:solidFill>
                  </a:tcPr>
                </a:tc>
              </a:tr>
              <a:tr h="330200">
                <a:tc>
                  <a:txBody>
                    <a:bodyPr/>
                    <a:lstStyle/>
                    <a:p>
                      <a:endParaRPr lang="es-AR"/>
                    </a:p>
                  </a:txBody>
                  <a:tcPr/>
                </a:tc>
              </a:tr>
            </a:tbl>
          </a:graphicData>
        </a:graphic>
      </p:graphicFrame>
      <p:sp>
        <p:nvSpPr>
          <p:cNvPr id="957" name="Google Shape;957;p122"/>
          <p:cNvSpPr txBox="1"/>
          <p:nvPr/>
        </p:nvSpPr>
        <p:spPr>
          <a:xfrm>
            <a:off x="1009200" y="281665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35714"/>
              </a:lnSpc>
              <a:spcBef>
                <a:spcPts val="0"/>
              </a:spcBef>
              <a:spcAft>
                <a:spcPts val="1100"/>
              </a:spcAft>
              <a:buClr>
                <a:srgbClr val="000000"/>
              </a:buClr>
              <a:buSzPts val="1800"/>
              <a:buFont typeface="Arial"/>
              <a:buNone/>
            </a:pP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El uso del valor de </a:t>
            </a:r>
            <a:r>
              <a:rPr lang="en-GB" sz="1800" b="0" i="1" u="none" strike="noStrike" cap="none">
                <a:solidFill>
                  <a:schemeClr val="dk1"/>
                </a:solidFill>
                <a:highlight>
                  <a:srgbClr val="E0FF00"/>
                </a:highlight>
                <a:latin typeface="Helvetica Neue Light"/>
                <a:ea typeface="Helvetica Neue Light"/>
                <a:cs typeface="Helvetica Neue Light"/>
                <a:sym typeface="Helvetica Neue Light"/>
              </a:rPr>
              <a:t>width=device-width </a:t>
            </a:r>
            <a:r>
              <a:rPr lang="en-GB" sz="1800" b="0" i="0" u="none" strike="noStrike" cap="none">
                <a:solidFill>
                  <a:schemeClr val="dk1"/>
                </a:solidFill>
                <a:highlight>
                  <a:srgbClr val="FFFFFF"/>
                </a:highlight>
                <a:latin typeface="Helvetica Neue Light"/>
                <a:ea typeface="Helvetica Neue Light"/>
                <a:cs typeface="Helvetica Neue Light"/>
                <a:sym typeface="Helvetica Neue Light"/>
              </a:rPr>
              <a:t>indica a la página que debe hacer coincidir el ancho de la pantalla en píxeles independientes del dispositivo. Esto permite que la página realice el reprocesamiento del contenido para adaptarlo a diferentes tamaños de pantalla.</a:t>
            </a:r>
            <a:endParaRPr sz="1800" b="0" i="0" u="none" strike="noStrike" cap="none">
              <a:solidFill>
                <a:srgbClr val="000000"/>
              </a:solidFill>
              <a:latin typeface="Helvetica Neue Light"/>
              <a:ea typeface="Helvetica Neue Light"/>
              <a:cs typeface="Helvetica Neue Light"/>
              <a:sym typeface="Helvetica Neue Light"/>
            </a:endParaRPr>
          </a:p>
        </p:txBody>
      </p:sp>
      <p:sp>
        <p:nvSpPr>
          <p:cNvPr id="958" name="Google Shape;958;p122"/>
          <p:cNvSpPr txBox="1"/>
          <p:nvPr/>
        </p:nvSpPr>
        <p:spPr>
          <a:xfrm>
            <a:off x="1009200" y="36735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1" u="none" strike="noStrike" cap="none">
                <a:solidFill>
                  <a:srgbClr val="000000"/>
                </a:solidFill>
                <a:latin typeface="Anton"/>
                <a:ea typeface="Anton"/>
                <a:cs typeface="Anton"/>
                <a:sym typeface="Anton"/>
              </a:rPr>
              <a:t>META VIEWPORT</a:t>
            </a:r>
            <a:endParaRPr sz="4000" b="0" i="1" u="none" strike="noStrike" cap="none">
              <a:solidFill>
                <a:srgbClr val="000000"/>
              </a:solidFill>
              <a:latin typeface="Anton"/>
              <a:ea typeface="Anton"/>
              <a:cs typeface="Anton"/>
              <a:sym typeface="Anto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pic>
        <p:nvPicPr>
          <p:cNvPr id="963" name="Google Shape;963;p123"/>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964" name="Google Shape;964;p123"/>
          <p:cNvPicPr preferRelativeResize="0"/>
          <p:nvPr/>
        </p:nvPicPr>
        <p:blipFill rotWithShape="1">
          <a:blip r:embed="rId4">
            <a:alphaModFix/>
          </a:blip>
          <a:srcRect/>
          <a:stretch/>
        </p:blipFill>
        <p:spPr>
          <a:xfrm>
            <a:off x="1967575" y="1549375"/>
            <a:ext cx="2211335" cy="3234625"/>
          </a:xfrm>
          <a:prstGeom prst="rect">
            <a:avLst/>
          </a:prstGeom>
          <a:noFill/>
          <a:ln>
            <a:noFill/>
          </a:ln>
        </p:spPr>
      </p:pic>
      <p:pic>
        <p:nvPicPr>
          <p:cNvPr id="965" name="Google Shape;965;p123"/>
          <p:cNvPicPr preferRelativeResize="0"/>
          <p:nvPr/>
        </p:nvPicPr>
        <p:blipFill rotWithShape="1">
          <a:blip r:embed="rId5">
            <a:alphaModFix/>
          </a:blip>
          <a:srcRect/>
          <a:stretch/>
        </p:blipFill>
        <p:spPr>
          <a:xfrm>
            <a:off x="4564940" y="1549375"/>
            <a:ext cx="2211335" cy="3234625"/>
          </a:xfrm>
          <a:prstGeom prst="rect">
            <a:avLst/>
          </a:prstGeom>
          <a:noFill/>
          <a:ln>
            <a:noFill/>
          </a:ln>
        </p:spPr>
      </p:pic>
      <p:sp>
        <p:nvSpPr>
          <p:cNvPr id="966" name="Google Shape;966;p123"/>
          <p:cNvSpPr txBox="1"/>
          <p:nvPr/>
        </p:nvSpPr>
        <p:spPr>
          <a:xfrm>
            <a:off x="1009200" y="367350"/>
            <a:ext cx="7125600" cy="697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2000"/>
              </a:spcBef>
              <a:spcAft>
                <a:spcPts val="600"/>
              </a:spcAft>
              <a:buClr>
                <a:srgbClr val="000000"/>
              </a:buClr>
              <a:buSzPts val="4000"/>
              <a:buFont typeface="Arial"/>
              <a:buNone/>
            </a:pPr>
            <a:r>
              <a:rPr lang="en-GB" sz="4000" b="0" i="1" u="none" strike="noStrike" cap="none">
                <a:solidFill>
                  <a:srgbClr val="000000"/>
                </a:solidFill>
                <a:latin typeface="Anton"/>
                <a:ea typeface="Anton"/>
                <a:cs typeface="Anton"/>
                <a:sym typeface="Anton"/>
              </a:rPr>
              <a:t>META VIEWPORT</a:t>
            </a:r>
            <a:endParaRPr sz="4000" b="0" i="1" u="none" strike="noStrike" cap="none">
              <a:solidFill>
                <a:srgbClr val="000000"/>
              </a:solidFill>
              <a:latin typeface="Anton"/>
              <a:ea typeface="Anton"/>
              <a:cs typeface="Anton"/>
              <a:sym typeface="Anto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124"/>
          <p:cNvSpPr txBox="1"/>
          <p:nvPr/>
        </p:nvSpPr>
        <p:spPr>
          <a:xfrm>
            <a:off x="1443000" y="2520825"/>
            <a:ext cx="6258000" cy="989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GB" sz="4000" b="0" i="1" u="none" strike="noStrike" cap="none">
                <a:solidFill>
                  <a:srgbClr val="000000"/>
                </a:solidFill>
                <a:latin typeface="Anton"/>
                <a:ea typeface="Anton"/>
                <a:cs typeface="Anton"/>
                <a:sym typeface="Anton"/>
              </a:rPr>
              <a:t>APLICANDO GRIDS</a:t>
            </a:r>
            <a:endParaRPr sz="4000" b="0" i="1" u="none" strike="noStrike" cap="none">
              <a:solidFill>
                <a:srgbClr val="000000"/>
              </a:solidFill>
              <a:latin typeface="Anton"/>
              <a:ea typeface="Anton"/>
              <a:cs typeface="Anton"/>
              <a:sym typeface="Anton"/>
            </a:endParaRPr>
          </a:p>
        </p:txBody>
      </p:sp>
      <p:sp>
        <p:nvSpPr>
          <p:cNvPr id="972" name="Google Shape;972;p124"/>
          <p:cNvSpPr txBox="1"/>
          <p:nvPr/>
        </p:nvSpPr>
        <p:spPr>
          <a:xfrm>
            <a:off x="938100" y="3509925"/>
            <a:ext cx="7267800" cy="884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GB" sz="2000" b="0" i="0" u="none" strike="noStrike" cap="none">
                <a:solidFill>
                  <a:schemeClr val="dk1"/>
                </a:solidFill>
                <a:highlight>
                  <a:schemeClr val="lt1"/>
                </a:highlight>
                <a:latin typeface="Helvetica Neue Light"/>
                <a:ea typeface="Helvetica Neue Light"/>
                <a:cs typeface="Helvetica Neue Light"/>
                <a:sym typeface="Helvetica Neue Light"/>
              </a:rPr>
              <a:t>Aplica GRIDS en uno o más HTML que tengas.</a:t>
            </a: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rgbClr val="000000"/>
              </a:buClr>
              <a:buSzPts val="2000"/>
              <a:buFont typeface="Arial"/>
              <a:buNone/>
            </a:pPr>
            <a:endParaRPr sz="20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pic>
        <p:nvPicPr>
          <p:cNvPr id="973" name="Google Shape;973;p124"/>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974" name="Google Shape;974;p124"/>
          <p:cNvPicPr preferRelativeResize="0"/>
          <p:nvPr/>
        </p:nvPicPr>
        <p:blipFill rotWithShape="1">
          <a:blip r:embed="rId4">
            <a:alphaModFix/>
          </a:blip>
          <a:srcRect/>
          <a:stretch/>
        </p:blipFill>
        <p:spPr>
          <a:xfrm>
            <a:off x="3882275" y="886224"/>
            <a:ext cx="1379450" cy="137945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graphicFrame>
        <p:nvGraphicFramePr>
          <p:cNvPr id="979" name="Google Shape;979;p125"/>
          <p:cNvGraphicFramePr/>
          <p:nvPr/>
        </p:nvGraphicFramePr>
        <p:xfrm>
          <a:off x="153263" y="344100"/>
          <a:ext cx="3000000" cy="3000000"/>
        </p:xfrm>
        <a:graphic>
          <a:graphicData uri="http://schemas.openxmlformats.org/drawingml/2006/table">
            <a:tbl>
              <a:tblPr>
                <a:noFill/>
                <a:tableStyleId>{B16850B3-2374-45B4-9FE3-4A422C0ACE20}</a:tableStyleId>
              </a:tblPr>
              <a:tblGrid>
                <a:gridCol w="2945825"/>
                <a:gridCol w="3822275"/>
                <a:gridCol w="2069375"/>
              </a:tblGrid>
              <a:tr h="734725">
                <a:tc gridSpan="3">
                  <a:txBody>
                    <a:bodyPr/>
                    <a:lstStyle/>
                    <a:p>
                      <a:pPr marL="0" marR="0" lvl="0" indent="0" algn="l" rtl="0">
                        <a:lnSpc>
                          <a:spcPct val="100000"/>
                        </a:lnSpc>
                        <a:spcBef>
                          <a:spcPts val="0"/>
                        </a:spcBef>
                        <a:spcAft>
                          <a:spcPts val="0"/>
                        </a:spcAft>
                        <a:buClr>
                          <a:srgbClr val="000000"/>
                        </a:buClr>
                        <a:buSzPts val="2400"/>
                        <a:buFont typeface="Arial"/>
                        <a:buNone/>
                      </a:pPr>
                      <a:r>
                        <a:rPr lang="en-GB" sz="2400" i="1" u="none" strike="noStrike" cap="none">
                          <a:solidFill>
                            <a:schemeClr val="dk1"/>
                          </a:solidFill>
                          <a:latin typeface="Anton"/>
                          <a:ea typeface="Anton"/>
                          <a:cs typeface="Anton"/>
                          <a:sym typeface="Anton"/>
                        </a:rPr>
                        <a:t>APLICANDO GRIDS</a:t>
                      </a:r>
                      <a:endParaRPr sz="2400" i="1" u="none" strike="noStrike" cap="none">
                        <a:solidFill>
                          <a:schemeClr val="dk1"/>
                        </a:solidFill>
                        <a:latin typeface="Anton"/>
                        <a:ea typeface="Anton"/>
                        <a:cs typeface="Anton"/>
                        <a:sym typeface="Anton"/>
                      </a:endParaRPr>
                    </a:p>
                  </a:txBody>
                  <a:tcPr marL="91425" marR="91425" marT="162000"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3CEFAB"/>
                    </a:solidFill>
                  </a:tcPr>
                </a:tc>
                <a:tc hMerge="1">
                  <a:txBody>
                    <a:bodyPr/>
                    <a:lstStyle/>
                    <a:p>
                      <a:endParaRPr lang="es-AR"/>
                    </a:p>
                  </a:txBody>
                  <a:tcPr/>
                </a:tc>
                <a:tc hMerge="1">
                  <a:txBody>
                    <a:bodyPr/>
                    <a:lstStyle/>
                    <a:p>
                      <a:endParaRPr lang="es-AR"/>
                    </a:p>
                  </a:txBody>
                  <a:tcPr/>
                </a:tc>
              </a:tr>
              <a:tr h="825350">
                <a:tc gridSpan="2">
                  <a:txBody>
                    <a:bodyPr/>
                    <a:lstStyle/>
                    <a:p>
                      <a:pPr marL="0" lvl="0" indent="0" algn="l" rtl="0">
                        <a:spcBef>
                          <a:spcPts val="0"/>
                        </a:spcBef>
                        <a:spcAft>
                          <a:spcPts val="0"/>
                        </a:spcAft>
                        <a:buClr>
                          <a:schemeClr val="dk1"/>
                        </a:buClr>
                        <a:buSzPts val="1100"/>
                        <a:buFont typeface="Arial"/>
                        <a:buNone/>
                      </a:pPr>
                      <a:r>
                        <a:rPr lang="en-GB" sz="1600" b="1">
                          <a:solidFill>
                            <a:schemeClr val="dk1"/>
                          </a:solidFill>
                          <a:latin typeface="Helvetica Neue"/>
                          <a:ea typeface="Helvetica Neue"/>
                          <a:cs typeface="Helvetica Neue"/>
                          <a:sym typeface="Helvetica Neue"/>
                        </a:rPr>
                        <a:t>Formato: </a:t>
                      </a:r>
                      <a:r>
                        <a:rPr lang="en-GB" sz="1600">
                          <a:solidFill>
                            <a:schemeClr val="dk1"/>
                          </a:solidFill>
                          <a:latin typeface="Helvetica Neue"/>
                          <a:ea typeface="Helvetica Neue"/>
                          <a:cs typeface="Helvetica Neue"/>
                          <a:sym typeface="Helvetica Neue"/>
                        </a:rPr>
                        <a:t>Archivo html y css</a:t>
                      </a:r>
                      <a:endParaRPr sz="1600">
                        <a:solidFill>
                          <a:schemeClr val="dk1"/>
                        </a:solidFill>
                        <a:latin typeface="Helvetica Neue"/>
                        <a:ea typeface="Helvetica Neue"/>
                        <a:cs typeface="Helvetica Neue"/>
                        <a:sym typeface="Helvetica Neue"/>
                      </a:endParaRPr>
                    </a:p>
                    <a:p>
                      <a:pPr marL="0" lvl="0" indent="0" algn="l" rtl="0">
                        <a:spcBef>
                          <a:spcPts val="0"/>
                        </a:spcBef>
                        <a:spcAft>
                          <a:spcPts val="0"/>
                        </a:spcAft>
                        <a:buClr>
                          <a:schemeClr val="dk1"/>
                        </a:buClr>
                        <a:buSzPts val="1100"/>
                        <a:buFont typeface="Arial"/>
                        <a:buNone/>
                      </a:pPr>
                      <a:r>
                        <a:rPr lang="en-GB" sz="1600" b="1">
                          <a:solidFill>
                            <a:schemeClr val="dk1"/>
                          </a:solidFill>
                          <a:latin typeface="Helvetica Neue"/>
                          <a:ea typeface="Helvetica Neue"/>
                          <a:cs typeface="Helvetica Neue"/>
                          <a:sym typeface="Helvetica Neue"/>
                        </a:rPr>
                        <a:t>Sugerencia: </a:t>
                      </a:r>
                      <a:r>
                        <a:rPr lang="en-GB" sz="1600">
                          <a:solidFill>
                            <a:schemeClr val="dk1"/>
                          </a:solidFill>
                          <a:latin typeface="Helvetica Neue"/>
                          <a:ea typeface="Helvetica Neue"/>
                          <a:cs typeface="Helvetica Neue"/>
                          <a:sym typeface="Helvetica Neue"/>
                        </a:rPr>
                        <a:t>carpeta en formato zip o rar con el/los archivos html y css.</a:t>
                      </a:r>
                      <a:endParaRPr sz="1600" b="1">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Helvetica Neue Light"/>
                        <a:ea typeface="Helvetica Neue Light"/>
                        <a:cs typeface="Helvetica Neue Light"/>
                        <a:sym typeface="Helvetica Neue Light"/>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s-AR"/>
                    </a:p>
                  </a:txBody>
                  <a:tcPr/>
                </a:tc>
                <a:tc>
                  <a:txBody>
                    <a:bodyPr/>
                    <a:lstStyle/>
                    <a:p>
                      <a:pPr marL="0" marR="0" lvl="0" indent="0" algn="ctr" rtl="0">
                        <a:lnSpc>
                          <a:spcPct val="100000"/>
                        </a:lnSpc>
                        <a:spcBef>
                          <a:spcPts val="0"/>
                        </a:spcBef>
                        <a:spcAft>
                          <a:spcPts val="0"/>
                        </a:spcAft>
                        <a:buClr>
                          <a:srgbClr val="000000"/>
                        </a:buClr>
                        <a:buSzPts val="1500"/>
                        <a:buFont typeface="Arial"/>
                        <a:buNone/>
                      </a:pPr>
                      <a:endParaRPr sz="1500" u="none" strike="noStrike" cap="none">
                        <a:latin typeface="Helvetica Neue"/>
                        <a:ea typeface="Helvetica Neue"/>
                        <a:cs typeface="Helvetica Neue"/>
                        <a:sym typeface="Helvetica Neue"/>
                      </a:endParaRPr>
                    </a:p>
                  </a:txBody>
                  <a:tcPr marL="91425" marR="91425" marT="91425" marB="91425">
                    <a:lnL w="9525" cap="flat" cmpd="sng">
                      <a:solidFill>
                        <a:srgbClr val="000000"/>
                      </a:solidFill>
                      <a:prstDash val="solid"/>
                      <a:round/>
                      <a:headEnd type="none" w="sm" len="sm"/>
                      <a:tailEnd type="none" w="sm" len="sm"/>
                    </a:lnL>
                    <a:lnR w="9525" cap="flat" cmpd="sng">
                      <a:solidFill>
                        <a:srgbClr val="EFEFE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r>
              <a:tr h="2411750">
                <a:tc gridSpan="3">
                  <a:txBody>
                    <a:bodyPr/>
                    <a:lstStyle/>
                    <a:p>
                      <a:pPr marL="0" marR="0" lvl="0" indent="0" algn="l" rtl="0">
                        <a:lnSpc>
                          <a:spcPct val="100000"/>
                        </a:lnSpc>
                        <a:spcBef>
                          <a:spcPts val="0"/>
                        </a:spcBef>
                        <a:spcAft>
                          <a:spcPts val="0"/>
                        </a:spcAft>
                        <a:buClr>
                          <a:srgbClr val="000000"/>
                        </a:buClr>
                        <a:buSzPts val="200"/>
                        <a:buFont typeface="Arial"/>
                        <a:buNone/>
                      </a:pPr>
                      <a:r>
                        <a:rPr lang="en-GB" sz="200" b="1" u="none" strike="noStrike" cap="none">
                          <a:solidFill>
                            <a:srgbClr val="4D5156"/>
                          </a:solidFill>
                        </a:rPr>
                        <a:t/>
                      </a:r>
                      <a:br>
                        <a:rPr lang="en-GB" sz="200" b="1" u="none" strike="noStrike" cap="none">
                          <a:solidFill>
                            <a:srgbClr val="4D5156"/>
                          </a:solidFill>
                        </a:rPr>
                      </a:br>
                      <a:endParaRPr sz="200" b="1" u="none" strike="noStrike" cap="none">
                        <a:solidFill>
                          <a:srgbClr val="4D5156"/>
                        </a:solidFill>
                      </a:endParaRPr>
                    </a:p>
                    <a:p>
                      <a:pPr marL="0" marR="0" lvl="0" indent="0" algn="l" rtl="0">
                        <a:lnSpc>
                          <a:spcPct val="100000"/>
                        </a:lnSpc>
                        <a:spcBef>
                          <a:spcPts val="0"/>
                        </a:spcBef>
                        <a:spcAft>
                          <a:spcPts val="0"/>
                        </a:spcAft>
                        <a:buClr>
                          <a:srgbClr val="000000"/>
                        </a:buClr>
                        <a:buSzPts val="200"/>
                        <a:buFont typeface="Arial"/>
                        <a:buNone/>
                      </a:pPr>
                      <a:r>
                        <a:rPr lang="en-GB" sz="1700" b="1" u="none" strike="noStrike" cap="none"/>
                        <a:t>&gt;&gt;</a:t>
                      </a:r>
                      <a:r>
                        <a:rPr lang="en-GB" sz="1700" b="1" u="none" strike="noStrike" cap="none">
                          <a:solidFill>
                            <a:srgbClr val="4D5156"/>
                          </a:solidFill>
                        </a:rPr>
                        <a:t> </a:t>
                      </a:r>
                      <a:r>
                        <a:rPr lang="en-GB" sz="1700" b="1" u="none" strike="noStrike" cap="none">
                          <a:latin typeface="Helvetica Neue"/>
                          <a:ea typeface="Helvetica Neue"/>
                          <a:cs typeface="Helvetica Neue"/>
                          <a:sym typeface="Helvetica Neue"/>
                        </a:rPr>
                        <a:t>Consigna:</a:t>
                      </a:r>
                      <a:endParaRPr sz="1700" b="1" u="none" strike="noStrike" cap="none">
                        <a:latin typeface="Helvetica Neue"/>
                        <a:ea typeface="Helvetica Neue"/>
                        <a:cs typeface="Helvetica Neue"/>
                        <a:sym typeface="Helvetica Neue"/>
                      </a:endParaRPr>
                    </a:p>
                    <a:p>
                      <a:pPr marL="457200" marR="0" lvl="0" indent="-330200" algn="l" rtl="0">
                        <a:lnSpc>
                          <a:spcPct val="100000"/>
                        </a:lnSpc>
                        <a:spcBef>
                          <a:spcPts val="0"/>
                        </a:spcBef>
                        <a:spcAft>
                          <a:spcPts val="0"/>
                        </a:spcAft>
                        <a:buClr>
                          <a:schemeClr val="dk1"/>
                        </a:buClr>
                        <a:buSzPts val="1600"/>
                        <a:buFont typeface="Helvetica Neue Light"/>
                        <a:buAutoNum type="arabicPeriod"/>
                      </a:pPr>
                      <a:r>
                        <a:rPr lang="en-GB" sz="1600">
                          <a:solidFill>
                            <a:schemeClr val="dk1"/>
                          </a:solidFill>
                          <a:latin typeface="Helvetica Neue Light"/>
                          <a:ea typeface="Helvetica Neue Light"/>
                          <a:cs typeface="Helvetica Neue Light"/>
                          <a:sym typeface="Helvetica Neue Light"/>
                        </a:rPr>
                        <a:t>Aplicar GRIDS en uno o más HTML que tengas (por ej: integrantes.html) </a:t>
                      </a:r>
                      <a:endParaRPr sz="1600">
                        <a:solidFill>
                          <a:schemeClr val="dk1"/>
                        </a:solidFill>
                        <a:latin typeface="Helvetica Neue Light"/>
                        <a:ea typeface="Helvetica Neue Light"/>
                        <a:cs typeface="Helvetica Neue Light"/>
                        <a:sym typeface="Helvetica Neue Light"/>
                      </a:endParaRPr>
                    </a:p>
                    <a:p>
                      <a:pPr marL="457200" marR="0" lvl="0" indent="-317500" algn="l" rtl="0">
                        <a:lnSpc>
                          <a:spcPct val="100000"/>
                        </a:lnSpc>
                        <a:spcBef>
                          <a:spcPts val="0"/>
                        </a:spcBef>
                        <a:spcAft>
                          <a:spcPts val="0"/>
                        </a:spcAft>
                        <a:buClr>
                          <a:schemeClr val="dk1"/>
                        </a:buClr>
                        <a:buSzPts val="1400"/>
                        <a:buFont typeface="Helvetica Neue Light"/>
                        <a:buAutoNum type="arabicPeriod"/>
                      </a:pPr>
                      <a:r>
                        <a:rPr lang="en-GB" sz="1600">
                          <a:solidFill>
                            <a:schemeClr val="dk1"/>
                          </a:solidFill>
                          <a:latin typeface="Helvetica Neue Light"/>
                          <a:ea typeface="Helvetica Neue Light"/>
                          <a:cs typeface="Helvetica Neue Light"/>
                          <a:sym typeface="Helvetica Neue Light"/>
                        </a:rPr>
                        <a:t>Aplicar Mobile First en el Home de tu proyecto para que sea responsive en tres dispositivos. </a:t>
                      </a:r>
                      <a:r>
                        <a:rPr lang="en-GB" sz="1700" u="none" strike="noStrike" cap="none">
                          <a:solidFill>
                            <a:schemeClr val="dk1"/>
                          </a:solidFill>
                          <a:latin typeface="Helvetica Neue Light"/>
                          <a:ea typeface="Helvetica Neue Light"/>
                          <a:cs typeface="Helvetica Neue Light"/>
                          <a:sym typeface="Helvetica Neue Light"/>
                        </a:rPr>
                        <a:t> </a:t>
                      </a:r>
                      <a:endParaRPr sz="1700" u="none" strike="noStrike" cap="none">
                        <a:solidFill>
                          <a:schemeClr val="dk1"/>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500"/>
                        <a:buFont typeface="Arial"/>
                        <a:buNone/>
                      </a:pPr>
                      <a:endParaRPr sz="5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700"/>
                        <a:buFont typeface="Arial"/>
                        <a:buNone/>
                      </a:pPr>
                      <a:endParaRPr sz="1600" b="1">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chemeClr val="dk1"/>
                        </a:buClr>
                        <a:buSzPts val="1100"/>
                        <a:buFont typeface="Arial"/>
                        <a:buNone/>
                      </a:pPr>
                      <a:endParaRPr sz="1600" u="none" strike="noStrike" cap="none">
                        <a:latin typeface="Helvetica Neue Light"/>
                        <a:ea typeface="Helvetica Neue Light"/>
                        <a:cs typeface="Helvetica Neue Light"/>
                        <a:sym typeface="Helvetica Neue Light"/>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s-AR"/>
                    </a:p>
                  </a:txBody>
                  <a:tcPr/>
                </a:tc>
                <a:tc hMerge="1">
                  <a:txBody>
                    <a:bodyPr/>
                    <a:lstStyle/>
                    <a:p>
                      <a:endParaRPr lang="es-AR"/>
                    </a:p>
                  </a:txBody>
                  <a:tcPr/>
                </a:tc>
              </a:tr>
            </a:tbl>
          </a:graphicData>
        </a:graphic>
      </p:graphicFrame>
      <p:pic>
        <p:nvPicPr>
          <p:cNvPr id="980" name="Google Shape;980;p125"/>
          <p:cNvPicPr preferRelativeResize="0"/>
          <p:nvPr/>
        </p:nvPicPr>
        <p:blipFill rotWithShape="1">
          <a:blip r:embed="rId3">
            <a:alphaModFix/>
          </a:blip>
          <a:srcRect/>
          <a:stretch/>
        </p:blipFill>
        <p:spPr>
          <a:xfrm>
            <a:off x="7567925" y="4659625"/>
            <a:ext cx="1186526" cy="330675"/>
          </a:xfrm>
          <a:prstGeom prst="rect">
            <a:avLst/>
          </a:prstGeom>
          <a:noFill/>
          <a:ln>
            <a:noFill/>
          </a:ln>
        </p:spPr>
      </p:pic>
      <p:pic>
        <p:nvPicPr>
          <p:cNvPr id="981" name="Google Shape;981;p125"/>
          <p:cNvPicPr preferRelativeResize="0"/>
          <p:nvPr/>
        </p:nvPicPr>
        <p:blipFill rotWithShape="1">
          <a:blip r:embed="rId4">
            <a:alphaModFix/>
          </a:blip>
          <a:srcRect/>
          <a:stretch/>
        </p:blipFill>
        <p:spPr>
          <a:xfrm>
            <a:off x="7173537" y="1259000"/>
            <a:ext cx="1634174" cy="6398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5"/>
        <p:cNvGrpSpPr/>
        <p:nvPr/>
      </p:nvGrpSpPr>
      <p:grpSpPr>
        <a:xfrm>
          <a:off x="0" y="0"/>
          <a:ext cx="0" cy="0"/>
          <a:chOff x="0" y="0"/>
          <a:chExt cx="0" cy="0"/>
        </a:xfrm>
      </p:grpSpPr>
      <p:sp>
        <p:nvSpPr>
          <p:cNvPr id="986" name="Google Shape;986;p126"/>
          <p:cNvSpPr txBox="1"/>
          <p:nvPr/>
        </p:nvSpPr>
        <p:spPr>
          <a:xfrm>
            <a:off x="2776738" y="1880500"/>
            <a:ext cx="2804700" cy="1129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0" i="1" u="none" strike="noStrike" cap="none">
                <a:solidFill>
                  <a:srgbClr val="E0FF00"/>
                </a:solidFill>
                <a:latin typeface="Anton"/>
                <a:ea typeface="Anton"/>
                <a:cs typeface="Anton"/>
                <a:sym typeface="Anton"/>
              </a:rPr>
              <a:t>¿PREGUNTAS?</a:t>
            </a:r>
            <a:endParaRPr sz="4000" b="0" i="1" u="none" strike="noStrike" cap="none">
              <a:solidFill>
                <a:srgbClr val="E0FF00"/>
              </a:solidFill>
              <a:latin typeface="Anton"/>
              <a:ea typeface="Anton"/>
              <a:cs typeface="Anton"/>
              <a:sym typeface="Anton"/>
            </a:endParaRPr>
          </a:p>
        </p:txBody>
      </p:sp>
      <p:pic>
        <p:nvPicPr>
          <p:cNvPr id="987" name="Google Shape;987;p126" descr="Tiger Face on Apple iOS 12.2"/>
          <p:cNvPicPr preferRelativeResize="0"/>
          <p:nvPr/>
        </p:nvPicPr>
        <p:blipFill rotWithShape="1">
          <a:blip r:embed="rId4">
            <a:alphaModFix/>
          </a:blip>
          <a:srcRect/>
          <a:stretch/>
        </p:blipFill>
        <p:spPr>
          <a:xfrm>
            <a:off x="5655188" y="2089063"/>
            <a:ext cx="712075" cy="71207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1"/>
        <p:cNvGrpSpPr/>
        <p:nvPr/>
      </p:nvGrpSpPr>
      <p:grpSpPr>
        <a:xfrm>
          <a:off x="0" y="0"/>
          <a:ext cx="0" cy="0"/>
          <a:chOff x="0" y="0"/>
          <a:chExt cx="0" cy="0"/>
        </a:xfrm>
      </p:grpSpPr>
      <p:sp>
        <p:nvSpPr>
          <p:cNvPr id="992" name="Google Shape;992;p127"/>
          <p:cNvSpPr txBox="1"/>
          <p:nvPr/>
        </p:nvSpPr>
        <p:spPr>
          <a:xfrm>
            <a:off x="1956450" y="1634075"/>
            <a:ext cx="5231100" cy="989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800"/>
              <a:buFont typeface="Arial"/>
              <a:buNone/>
            </a:pPr>
            <a:r>
              <a:rPr lang="en-GB" sz="4800" b="0" i="1" u="none" strike="noStrike" cap="none">
                <a:solidFill>
                  <a:srgbClr val="E0FF00"/>
                </a:solidFill>
                <a:latin typeface="Anton"/>
                <a:ea typeface="Anton"/>
                <a:cs typeface="Anton"/>
                <a:sym typeface="Anton"/>
              </a:rPr>
              <a:t>¡MUCHAS GRACIAS!</a:t>
            </a:r>
            <a:endParaRPr sz="4800" b="0" i="1" u="none" strike="noStrike" cap="none">
              <a:solidFill>
                <a:srgbClr val="E0FF00"/>
              </a:solidFill>
              <a:latin typeface="Anton"/>
              <a:ea typeface="Anton"/>
              <a:cs typeface="Anton"/>
              <a:sym typeface="Anton"/>
            </a:endParaRPr>
          </a:p>
        </p:txBody>
      </p:sp>
      <p:sp>
        <p:nvSpPr>
          <p:cNvPr id="993" name="Google Shape;993;p127"/>
          <p:cNvSpPr txBox="1"/>
          <p:nvPr/>
        </p:nvSpPr>
        <p:spPr>
          <a:xfrm>
            <a:off x="2180400" y="2623175"/>
            <a:ext cx="4783200" cy="4080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GB" sz="2200" b="0" i="0" u="none" strike="noStrike" cap="none">
                <a:solidFill>
                  <a:srgbClr val="E0FF00"/>
                </a:solidFill>
                <a:latin typeface="Helvetica Neue Light"/>
                <a:ea typeface="Helvetica Neue Light"/>
                <a:cs typeface="Helvetica Neue Light"/>
                <a:sym typeface="Helvetica Neue Light"/>
              </a:rPr>
              <a:t>Resumen de lo visto en clase hoy: </a:t>
            </a:r>
            <a:endParaRPr sz="2200" b="0" i="0" u="none" strike="noStrike" cap="none">
              <a:solidFill>
                <a:srgbClr val="E0FF00"/>
              </a:solidFill>
              <a:latin typeface="Helvetica Neue Light"/>
              <a:ea typeface="Helvetica Neue Light"/>
              <a:cs typeface="Helvetica Neue Light"/>
              <a:sym typeface="Helvetica Neue Light"/>
            </a:endParaRPr>
          </a:p>
          <a:p>
            <a:pPr marL="457200" marR="0" lvl="0" indent="-368300" algn="ctr" rtl="0">
              <a:lnSpc>
                <a:spcPct val="115000"/>
              </a:lnSpc>
              <a:spcBef>
                <a:spcPts val="0"/>
              </a:spcBef>
              <a:spcAft>
                <a:spcPts val="0"/>
              </a:spcAft>
              <a:buClr>
                <a:srgbClr val="E0FF00"/>
              </a:buClr>
              <a:buSzPts val="2200"/>
              <a:buFont typeface="Helvetica Neue Light"/>
              <a:buChar char="-"/>
            </a:pPr>
            <a:r>
              <a:rPr lang="en-GB" sz="2200" b="0" i="0" u="none" strike="noStrike" cap="none">
                <a:solidFill>
                  <a:srgbClr val="E0FF00"/>
                </a:solidFill>
                <a:latin typeface="Helvetica Neue Light"/>
                <a:ea typeface="Helvetica Neue Light"/>
                <a:cs typeface="Helvetica Neue Light"/>
                <a:sym typeface="Helvetica Neue Light"/>
              </a:rPr>
              <a:t>Grids. </a:t>
            </a:r>
            <a:endParaRPr sz="2200" b="0" i="0" u="none" strike="noStrike" cap="none">
              <a:solidFill>
                <a:srgbClr val="E0FF00"/>
              </a:solidFill>
              <a:latin typeface="Helvetica Neue Light"/>
              <a:ea typeface="Helvetica Neue Light"/>
              <a:cs typeface="Helvetica Neue Light"/>
              <a:sym typeface="Helvetica Neue Light"/>
            </a:endParaRPr>
          </a:p>
          <a:p>
            <a:pPr marL="457200" marR="0" lvl="0" indent="-368300" algn="ctr" rtl="0">
              <a:lnSpc>
                <a:spcPct val="115000"/>
              </a:lnSpc>
              <a:spcBef>
                <a:spcPts val="0"/>
              </a:spcBef>
              <a:spcAft>
                <a:spcPts val="0"/>
              </a:spcAft>
              <a:buClr>
                <a:srgbClr val="E0FF00"/>
              </a:buClr>
              <a:buSzPts val="2200"/>
              <a:buFont typeface="Helvetica Neue Light"/>
              <a:buChar char="-"/>
            </a:pPr>
            <a:r>
              <a:rPr lang="en-GB" sz="2200" b="0" i="0" u="none" strike="noStrike" cap="none">
                <a:solidFill>
                  <a:srgbClr val="E0FF00"/>
                </a:solidFill>
                <a:latin typeface="Helvetica Neue Light"/>
                <a:ea typeface="Helvetica Neue Light"/>
                <a:cs typeface="Helvetica Neue Light"/>
                <a:sym typeface="Helvetica Neue Light"/>
              </a:rPr>
              <a:t>Nuevas formas de modelar Grids. </a:t>
            </a:r>
            <a:endParaRPr sz="2200" b="0" i="0" u="none" strike="noStrike" cap="none">
              <a:solidFill>
                <a:srgbClr val="E0FF00"/>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2200"/>
              <a:buFont typeface="Arial"/>
              <a:buNone/>
            </a:pPr>
            <a:endParaRPr sz="2200" b="0" i="0" u="none" strike="noStrike" cap="none">
              <a:solidFill>
                <a:srgbClr val="E0FF00"/>
              </a:solidFill>
              <a:latin typeface="Helvetica Neue Light"/>
              <a:ea typeface="Helvetica Neue Light"/>
              <a:cs typeface="Helvetica Neue Light"/>
              <a:sym typeface="Helvetica Neue Light"/>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7"/>
        <p:cNvGrpSpPr/>
        <p:nvPr/>
      </p:nvGrpSpPr>
      <p:grpSpPr>
        <a:xfrm>
          <a:off x="0" y="0"/>
          <a:ext cx="0" cy="0"/>
          <a:chOff x="0" y="0"/>
          <a:chExt cx="0" cy="0"/>
        </a:xfrm>
      </p:grpSpPr>
      <p:sp>
        <p:nvSpPr>
          <p:cNvPr id="998" name="Google Shape;998;p128"/>
          <p:cNvSpPr txBox="1"/>
          <p:nvPr/>
        </p:nvSpPr>
        <p:spPr>
          <a:xfrm>
            <a:off x="2110051" y="2409500"/>
            <a:ext cx="4923900" cy="1129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GB" sz="3600" b="0" i="1" u="none" strike="noStrike" cap="none">
                <a:solidFill>
                  <a:srgbClr val="E0FF00"/>
                </a:solidFill>
                <a:latin typeface="Anton"/>
                <a:ea typeface="Anton"/>
                <a:cs typeface="Anton"/>
                <a:sym typeface="Anton"/>
              </a:rPr>
              <a:t>OPINA Y VALORA ESTA CLASE</a:t>
            </a:r>
            <a:endParaRPr sz="3600" b="0" i="1" u="none" strike="noStrike" cap="none">
              <a:solidFill>
                <a:srgbClr val="E0FF00"/>
              </a:solidFill>
              <a:latin typeface="Anton"/>
              <a:ea typeface="Anton"/>
              <a:cs typeface="Anton"/>
              <a:sym typeface="Anton"/>
            </a:endParaRPr>
          </a:p>
        </p:txBody>
      </p:sp>
      <p:pic>
        <p:nvPicPr>
          <p:cNvPr id="999" name="Google Shape;999;p128" descr="Dizzy on Apple iOS 12.2"/>
          <p:cNvPicPr preferRelativeResize="0"/>
          <p:nvPr/>
        </p:nvPicPr>
        <p:blipFill rotWithShape="1">
          <a:blip r:embed="rId4">
            <a:alphaModFix/>
          </a:blip>
          <a:srcRect/>
          <a:stretch/>
        </p:blipFill>
        <p:spPr>
          <a:xfrm>
            <a:off x="4168425" y="1602350"/>
            <a:ext cx="807150" cy="8071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5182</Words>
  <Application>Microsoft Office PowerPoint</Application>
  <PresentationFormat>Presentación en pantalla (16:9)</PresentationFormat>
  <Paragraphs>640</Paragraphs>
  <Slides>104</Slides>
  <Notes>104</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104</vt:i4>
      </vt:variant>
    </vt:vector>
  </HeadingPairs>
  <TitlesOfParts>
    <vt:vector size="113" baseType="lpstr">
      <vt:lpstr>Arial</vt:lpstr>
      <vt:lpstr>Lato</vt:lpstr>
      <vt:lpstr>Helvetica Neue</vt:lpstr>
      <vt:lpstr>Anton</vt:lpstr>
      <vt:lpstr>Didact Gothic</vt:lpstr>
      <vt:lpstr>Consolas</vt:lpstr>
      <vt:lpstr>Helvetica Neue Light</vt:lpstr>
      <vt:lpstr>Simple Light</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MAPA DE CONCEPTOS CLASE 7</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mariela</cp:lastModifiedBy>
  <cp:revision>1</cp:revision>
  <dcterms:modified xsi:type="dcterms:W3CDTF">2021-04-20T20:21:53Z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